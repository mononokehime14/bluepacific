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封面。建议先把「两条主线」讲清楚:第一条线是 Embedding 模型的技术演进(表征能力),第二条线是 RAG 的架构演进(控制流)。两条线交汇点就是:更好的 embedding 让检索更准,更强的 agent 让检索更「会挑时机、会改问题、会自我纠正」。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注意踩点:每个技巧都问一句「它插在 RAG 流水线的哪一环」。这样听众不会把它们记成一堆名词。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过渡页。一句话定调:embedding 模型的目标从来没有变过——把语义压到一个「距离就有意义」的向量空间。变的是训练目标、规模和评测方式。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重点埋一个伏笔:MLA/MLM 是 token 级任务,所以 BERT 原生输出的是 token 向量,要拿到 sentence embedding 需要额外手段(CLS 或 mean pooling)——这正是后面 SBERT 要解决的问题。可以提一句 BERT 的输入表示:token + segment + position 三种 embedding 相加。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这一页要讲出「为什么这两个任务能学到语义」。MLM 学到的是词汇/句法/常识的分布式表示;NSP 学到句子级连贯性。同时点出局限:NSP 提供的是「句子级」监督但也引入了噪声,而真正的句子语义相似度并没有被直接优化——这是 SBERT 的动机。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关键过渡点:讲清「BERT 微调 ≠ 得到 embedding 模型」。微调后的 BERT 做分类很强,但直接拿 CLS 向量算相似度效果很差(Sentence-BERT 论文里 STS 上 Spearman 只有 0.5x)。这就引出下一节 SBERT。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这一页是全 Part 1 的技术核心。务必讲清 Cross-Encoder 与 Bi-Encoder 的本质区别:「交互发生在哪里」。Cross-Encoder 的交互在中间层,所以精度高但不可预计算;Bi-Encoder 把交互推迟到最后一步(点积/余弦),代价是精度略降,收益是可预计算 → 可上 ANN 索引。表格里的 65 小时 vs 5 秒来自 SBERT 原论文(10k 句子)。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三种 loss 各自适用场景要讲清:</a:t>
            </a:r>
          </a:p>
          <a:p>
            <a:r>
              <a:t>1) Classification objective:u、v、|u-v| 拼接后过 softmax,适合有 NLI 标注的场景(SNLI+MNLI 达 100 万对)。</a:t>
            </a:r>
          </a:p>
          <a:p>
            <a:r>
              <a:t>2) Regression objective:直接对 cosine 相似度做 MSE 回归,适合有 1~5 分相似度标注。</a:t>
            </a:r>
          </a:p>
          <a:p>
            <a:r>
              <a:t>3) Triplet objective:max(||s_a - s_p|| - ||s_a - s_n|| + ε, 0),锚点-正例-负例。</a:t>
            </a:r>
          </a:p>
          <a:p>
            <a:r>
              <a:t>另外强调:in-batch negatives 是让大 batch 生效的关键——同 batch 内其他样本即天然负例。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数据务必标注来源(论文里的具体数值随设置不同会有浮动),现场可以说「数量级」而不是精确值。核心 takeaway:embedding 模型的强弱,很大程度上是训练目标(损失函数 + 数据构造)决定的,而不是只靠更大基座。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为什么需要它:在 MTEB 之前,每个模型都在自己那 1~2 个数据集上报数,不可比。MTEB 的价值是「统一口径」。同时要提醒两个常见误用:</a:t>
            </a:r>
          </a:p>
          <a:p>
            <a:r>
              <a:t>1) 榜单高分 ≠ 你的业务场景效果,一定要用自己的数据做小规模评测;</a:t>
            </a:r>
          </a:p>
          <a:p>
            <a:r>
              <a:t>2) 注意区分「检索榜(Retrieval)」和「STS 榜」,前者更贴近 RAG。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可以顺带提 bge-m3 的三个卖点:多语言(100+)、多粒度(最长 8192 token)、多向量输出(dense + sparse + ColBERT 式 multi-vector),一次编码支持三种检索模式。BGE 也是国内 RAG 项目最常见的中文 embedding 选择。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阶段定位要讲清:三阶段是「预训练打底 → 对比学习对齐 → 有监督微调提精度」的递进关系,每一步都在上一阶段的权重上继续。RetroMAE 属于第一阶段,目标是让基座会「压缩理解」。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这一页的重点是「数据构造」而不是公式。可以强调:对比学习的效果上限很大程度由「正例够不够真、负例够不够难」决定。in-batch negatives 是免费的,hard negatives 是花钱的但收益更大。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把三阶段串成一个故事:先学会「压缩理解」(RetroMAE),再学会「距离有意义」(对比学习),最后用标注数据把「难的边界」抠清楚(微调 + 难负例)。提醒:榜单数字有时效性,建议现场强调趋势而不是绝对分数。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这一页最大的启发:embedding 模型不一定要「双塔 + pooling」的经典形态,一个通用 LLM 加一层聚合就能打到榜一。同时点出趋势:embedding 与 LLM 的边界在模糊化,后面 Qwen3-Embedding 也是同一条路线(用 LLM 基座统一 embedding 与 reranker)。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承接 NV-Embed:继续强调「LLM 基座做 embedding」这条路线。Qwen3-Embedding 的工程价值在于嵌入维度可定制 + 32k 上下文 + 多语言,对中文和代码检索都比较友好,是目前开源自建 RAG 的热门选择。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这一页是全 Part 1 的收束,把「三种 pooling 思路」做个对照:</a:t>
            </a:r>
          </a:p>
          <a:p>
            <a:r>
              <a:t>BERT 用 CLS、SBERT 用 mean pooling、Qwen3 用 EOS(last token)。</a:t>
            </a:r>
          </a:p>
          <a:p>
            <a:r>
              <a:t>可以让听众记住一句话:pooling 的选择取决于基座的注意力结构 —— 双向编码器适合 mean,因果解码器适合取最后一位。</a:t>
            </a:r>
          </a:p>
          <a:p>
            <a:r>
              <a:t>Reranker 用 Yes/No logit 是个很优雅的设计,现场可以演示一下 rerank 前后 top-5 的变化。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过渡页。可以说一句串联的话:Part 1 我们一直在优化「检索得准不准」,Part 2 我们换一个角度——让系统自己决定「什么时候检索、检索什么、检索完信不信」。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 Part 2 的动机页,要讲得痛。建议现场举一个自己踩过的例子:比如用户问「A 方案的报价是多少」,而文档里写的是「该方案预算约 X 万元」,指代 + 措辞双重错位,导致召不回来。</a:t>
            </a:r>
          </a:p>
          <a:p>
            <a:r>
              <a:t>结论句:Native RAG 的问题是「没有反馈回路」,所以后面所有 agentic 技巧本质都是在流水线的某个位置插入一个「决策 / 修正」环节。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这是全场的信息密度最高的一页,建议停 2 分钟。讲法:不要逐个念名词,而是强调「分类逻辑」——四类动作 + 一个总编排。听众带走这张分类框架,比记住 10 个名词更有用。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 Query Rewrite 是「性价比最高」的一个技巧:一次额外 LLM 调用(成本低),但常常能解决多轮对话和口语化查询这两大类失败。</a:t>
            </a:r>
          </a:p>
          <a:p>
            <a:r>
              <a:t>注意风险:重写可能引入幻觉或改变用户意图,建议对关键实体做校验,或者保留原 query 一起检索(融合结果)。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Multi-Query 与 Reranker 是天然的一对:Multi-Query 负责「提高召回」,Reranker 负责「把多路召回的水分挤掉」。现场建议一起讲,因为只用 Multi-Query 不重排,准确率可能反而下降(噪声变多)。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Adaptive RAG 是「编排侧」的代表:它管的不是某一步怎么做,而是整条流程走不走、走多久。</a:t>
            </a:r>
          </a:p>
          <a:p>
            <a:r>
              <a:t>工程上最大的价值是成本与延迟优化——把简单问题从检索路径摘出去,既省 token 又降延迟。现场可以给出自己场景里的路由比例(比如 30% 无需检索)。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必须讲清 GraphRAG 的代价:索引阶段 LLM 调用量极大(要遍历所有 chunk 做抽取 + 社区摘要),成本可能是普通向量索引的 10 倍以上,而且文档更新后重建昂贵。</a:t>
            </a:r>
          </a:p>
          <a:p>
            <a:r>
              <a:t>结论:只在「全局摘要类问题」或「多跳关系类问题」占比高的场景才值得上,不要为了技术时髦而默认上 GraphRAG。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RAPTOR 与 GraphRAG 的对比讲一句:两者都在「知识库侧」加结构,但 GraphRAG 抽的是「实体关系图」,RAPTOR 建的是「摘要层级树」。RAPTOR 更适合「同一主题分散在多段、有的问细节有的问全局」的文档集,索引成本远低于 GraphRAG。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这是最容易见效、也最常被忽视的一环。很多团队把精力花在换 embedding 模型上,但加一个 reranker 的提升往往比换模型更大,而且改动最小。</a:t>
            </a:r>
          </a:p>
          <a:p>
            <a:r>
              <a:t>现场给个数字:常见的 nDCG / Recall@5 提升幅度。注意延迟成本(Cross-Encoder 是逐对计算)。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要点:Self-correction 的收益与代价都很明显——它能把「答错」变成「答不出」,但循环次数失控会导致延迟和成本飙升。必须设上限(最多 N 轮)和预算。</a:t>
            </a:r>
          </a:p>
          <a:p>
            <a:r>
              <a:t>可以引用 Reflexion / Self-RAG 的思路:把 critique 本身也变成模型的输出之一。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CRAG 与 Self-RAG 的差别值得点一句:CRAG 是「外部评估器 + 动作分档」的工程化方案,不要求重新训练模型;Self-RAG 是「训练模型自己吐 reflection token」的方案,效果更强但要重训。</a:t>
            </a:r>
          </a:p>
          <a:p>
            <a:r>
              <a:t>实践建议:先上 CRAG 式的规则/评估器方案,验证有效再考虑 Self-RAG。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收尾页。留出 5~10 分钟 Q&amp;A。可以准备一个「现场演示」作为彩蛋:同一个问题在 Native RAG 与加了 rerank + multi-query 后答案的对比。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定位:这一页放在小结之后,因为它回答的是全场最自然的「下一句」提问 —— 「这些听着工程量不小,那我们用什么搭?」</a:t>
            </a:r>
          </a:p>
          <a:p>
            <a:r>
              <a:t>开场先给框架,别急着念名字:这些框架都只做两件事 —— 决定下一步做什么,以及把状态放在哪。差异在三处:(a) 显式图 vs. 由 Agent 行为涌现;(b) 检索/索引层有多成熟;(c) 跑挂之后 trace 是否可观测、可回放。</a:t>
            </a:r>
          </a:p>
          <a:p>
            <a:r>
              <a:t>给听众的工程建议:先用纯 Python 把 Agentic RAG 原型跑起来,感受到痛点了再引入 LangGraph(管流程)或 LlamaIndex(管检索)。框架锁定是真的成本 —— trace、checkpoint 和 state schema 比 star 数重要得多。</a:t>
            </a:r>
          </a:p>
          <a:p>
            <a:r>
              <a:t>不要在会场上演变成框架之争:如果有人问「哪个最好」,用底部那条决策线回答,而不是给排名。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备用页。如果前面超时,这两页不讲;如果有人追问 Adaptive RAG 里的「检索触发信号」,就直接跳到这两页。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FLARE 的价值在于「按需检索」:一次回答里可能只触发 1~2 次检索,而不是每一步都查。</a:t>
            </a:r>
          </a:p>
          <a:p>
            <a:r>
              <a:t>工程注意:要用 token 概率来算置信度,低概率 token 也可以作为「该查了」的信号;另外频繁触发检索会让延迟不可控,需要设阈值与次数上限。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这是最「重」的方案:需要重训模型 + 用强模型造标注,成本高。</a:t>
            </a:r>
          </a:p>
          <a:p>
            <a:r>
              <a:t>但它把「自我纠正」从外挂流程变成了模型的内在能力,推理时不再需要多次额外 LLM 调用。</a:t>
            </a:r>
          </a:p>
          <a:p>
            <a:r>
              <a:t>现场结论:除非有明确的长期投入,否则先上 CRAG 式的外挂方案验证价值。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致谢页。提醒自己把「参考资料出处」念一遍,尤其是榜单数据要说明评测时间。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31720"/>
          </a:xfrm>
          <a:prstGeom prst="rect">
            <a:avLst/>
          </a:prstGeom>
          <a:solidFill>
            <a:srgbClr val="12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64008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8FB8E8"/>
                </a:solidFill>
                <a:latin typeface="Microsoft YaHei"/>
                <a:ea typeface="Microsoft YaHei"/>
              </a:rPr>
              <a:t>TECH SHARING  ·  LLM RETRIEVAL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87552"/>
            <a:ext cx="10692079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Microsoft YaHei"/>
                <a:ea typeface="Microsoft YaHei"/>
              </a:rPr>
              <a:t>From Embedding Models to Agentic RAG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B8CDE6"/>
                </a:solidFill>
                <a:latin typeface="Microsoft YaHei"/>
                <a:ea typeface="Microsoft YaHei"/>
              </a:rPr>
              <a:t>从 BERT 到 Qwen3-Embedding,从 Native RAG 到 Agentic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743200"/>
            <a:ext cx="11057839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1" i="0">
                <a:solidFill>
                  <a:srgbClr val="1B2533"/>
                </a:solidFill>
                <a:latin typeface="Microsoft YaHei"/>
                <a:ea typeface="Microsoft YaHei"/>
              </a:rPr>
              <a:t>分享人:</a:t>
            </a:r>
            <a:r>
              <a:rPr sz="1300" b="0" i="0">
                <a:solidFill>
                  <a:srgbClr val="334050"/>
                </a:solidFill>
                <a:latin typeface="Microsoft YaHei"/>
                <a:ea typeface="Microsoft YaHei"/>
              </a:rPr>
              <a:t>  ______________     </a:t>
            </a:r>
            <a:r>
              <a:rPr sz="1300" b="1" i="0">
                <a:solidFill>
                  <a:srgbClr val="1B2533"/>
                </a:solidFill>
                <a:latin typeface="Microsoft YaHei"/>
                <a:ea typeface="Microsoft YaHei"/>
              </a:rPr>
              <a:t>日期:</a:t>
            </a:r>
            <a:r>
              <a:rPr sz="1300" b="0" i="0">
                <a:solidFill>
                  <a:srgbClr val="334050"/>
                </a:solidFill>
                <a:latin typeface="Microsoft YaHei"/>
                <a:ea typeface="Microsoft YaHei"/>
              </a:rPr>
              <a:t>  ______ 年 ___ 月 ___ 日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1" i="0">
                <a:solidFill>
                  <a:srgbClr val="1B2533"/>
                </a:solidFill>
                <a:latin typeface="Microsoft YaHei"/>
                <a:ea typeface="Microsoft YaHei"/>
              </a:rPr>
              <a:t>时长:</a:t>
            </a:r>
            <a:r>
              <a:rPr sz="1300" b="0" i="0">
                <a:solidFill>
                  <a:srgbClr val="334050"/>
                </a:solidFill>
                <a:latin typeface="Microsoft YaHei"/>
                <a:ea typeface="Microsoft YaHei"/>
              </a:rPr>
              <a:t>  约 60 min(Embedding 35 min + Agentic RAG 25 min)      </a:t>
            </a:r>
            <a:r>
              <a:rPr sz="1300" b="1" i="0">
                <a:solidFill>
                  <a:srgbClr val="1B2533"/>
                </a:solidFill>
                <a:latin typeface="Microsoft YaHei"/>
                <a:ea typeface="Microsoft YaHei"/>
              </a:rPr>
              <a:t>形式:</a:t>
            </a:r>
            <a:r>
              <a:rPr sz="1300" b="0" i="0">
                <a:solidFill>
                  <a:srgbClr val="334050"/>
                </a:solidFill>
                <a:latin typeface="Microsoft YaHei"/>
                <a:ea typeface="Microsoft YaHei"/>
              </a:rPr>
              <a:t>  线上 / 线下分享会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1B2533"/>
                </a:solidFill>
                <a:latin typeface="Microsoft YaHei"/>
                <a:ea typeface="Microsoft YaHei"/>
              </a:rPr>
              <a:t>配套材料:</a:t>
            </a:r>
            <a:r>
              <a:rPr sz="1300" b="0" i="0">
                <a:solidFill>
                  <a:srgbClr val="334050"/>
                </a:solidFill>
                <a:latin typeface="Microsoft YaHei"/>
                <a:ea typeface="Microsoft YaHei"/>
              </a:rPr>
              <a:t>  RAG and Agentic AI.md(大纲原文)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572000"/>
            <a:ext cx="10874959" cy="137160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BBC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4736592"/>
            <a:ext cx="10436047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50" b="1" i="0">
                <a:solidFill>
                  <a:srgbClr val="1F5CA8"/>
                </a:solidFill>
                <a:latin typeface="Microsoft YaHei"/>
                <a:ea typeface="Microsoft YaHei"/>
              </a:rPr>
              <a:t>开场白占位(30 秒,建议先讲)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 i="0">
                <a:solidFill>
                  <a:srgbClr val="334050"/>
                </a:solidFill>
                <a:latin typeface="Microsoft YaHei"/>
                <a:ea typeface="Microsoft YaHei"/>
              </a:rPr>
              <a:t>· 为什么讲这个:检索质量决定了 RAG 的上限,而 Embedding 决定检索质量。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334050"/>
                </a:solidFill>
                <a:latin typeface="Microsoft YaHei"/>
                <a:ea typeface="Microsoft YaHei"/>
              </a:rPr>
              <a:t>· 目标:听完能回答「我的场景该选哪个 embedding 模型」「我的 RAG 卡在哪一环,该用哪个 agentic 技巧」。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F5CA8"/>
                </a:solidFill>
                <a:latin typeface="Microsoft YaHei"/>
                <a:ea typeface="Microsoft YaHe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1727" y="3108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7A8696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 i="0">
                <a:solidFill>
                  <a:srgbClr val="1B2533"/>
                </a:solidFill>
                <a:latin typeface="Microsoft YaHei"/>
                <a:ea typeface="Microsoft YaHei"/>
              </a:rPr>
              <a:t>今天讲什么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051560" cy="50292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7A8696"/>
                </a:solidFill>
                <a:latin typeface="Microsoft YaHei"/>
                <a:ea typeface="Microsoft YaHei"/>
              </a:rPr>
              <a:t>两条主线:表征能力(Embedding)× 控制流(RAG 架构)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65960"/>
            <a:ext cx="5391759" cy="3931920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76272"/>
            <a:ext cx="4879695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700" b="1" i="0">
                <a:solidFill>
                  <a:srgbClr val="1F5CA8"/>
                </a:solidFill>
                <a:latin typeface="Microsoft YaHei"/>
                <a:ea typeface="Microsoft YaHei"/>
              </a:rPr>
              <a:t>PART 1  ·  Embedding Model 演进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50" b="0" i="0">
                <a:solidFill>
                  <a:srgbClr val="334050"/>
                </a:solidFill>
                <a:latin typeface="Microsoft YaHei"/>
                <a:ea typeface="Microsoft YaHei"/>
              </a:rPr>
              <a:t>▪ BERT — Encoder-only 起点:双向 MLM + NSP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50" b="0" i="0">
                <a:solidFill>
                  <a:srgbClr val="334050"/>
                </a:solidFill>
                <a:latin typeface="Microsoft YaHei"/>
                <a:ea typeface="Microsoft YaHei"/>
              </a:rPr>
              <a:t>▪ SBERT — 用 Siamese 网络解决句子级相似度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50" b="0" i="0">
                <a:solidFill>
                  <a:srgbClr val="334050"/>
                </a:solidFill>
                <a:latin typeface="Microsoft YaHei"/>
                <a:ea typeface="Microsoft YaHei"/>
              </a:rPr>
              <a:t>▪ MTEB — 统一的评测基准(从「炼丹」到「比榜」)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50" b="0" i="0">
                <a:solidFill>
                  <a:srgbClr val="334050"/>
                </a:solidFill>
                <a:latin typeface="Microsoft YaHei"/>
                <a:ea typeface="Microsoft YaHei"/>
              </a:rPr>
              <a:t>▪ BGE — 中文第一梯队:RetroMAE + 对比学习 + 微调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50" b="0" i="0">
                <a:solidFill>
                  <a:srgbClr val="334050"/>
                </a:solidFill>
                <a:latin typeface="Microsoft YaHei"/>
                <a:ea typeface="Microsoft YaHei"/>
              </a:rPr>
              <a:t>▪ NV-Embed — Decoder-only + Latent Attention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50" b="0" i="0">
                <a:solidFill>
                  <a:srgbClr val="334050"/>
                </a:solidFill>
                <a:latin typeface="Microsoft YaHei"/>
                <a:ea typeface="Microsoft YaHei"/>
              </a:rPr>
              <a:t>▪ Qwen3-Embedding — 统一 Embedding / Reranker 双模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965960"/>
            <a:ext cx="5391759" cy="3931920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89039" y="2176272"/>
            <a:ext cx="4879695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700" b="1" i="0">
                <a:solidFill>
                  <a:srgbClr val="C0502A"/>
                </a:solidFill>
                <a:latin typeface="Microsoft YaHei"/>
                <a:ea typeface="Microsoft YaHei"/>
              </a:rPr>
              <a:t>PART 2  ·  From RAG to Agentic RAG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50" b="0" i="0">
                <a:solidFill>
                  <a:srgbClr val="334050"/>
                </a:solidFill>
                <a:latin typeface="Microsoft YaHei"/>
                <a:ea typeface="Microsoft YaHei"/>
              </a:rPr>
              <a:t>▪ Native RAG 的两个结构性弱点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50" b="0" i="0">
                <a:solidFill>
                  <a:srgbClr val="334050"/>
                </a:solidFill>
                <a:latin typeface="Microsoft YaHei"/>
                <a:ea typeface="Microsoft YaHei"/>
              </a:rPr>
              <a:t>▪ ReAct RAG → Agentic RAG 的范式转变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50" b="0" i="0">
                <a:solidFill>
                  <a:srgbClr val="334050"/>
                </a:solidFill>
                <a:latin typeface="Microsoft YaHei"/>
                <a:ea typeface="Microsoft YaHei"/>
              </a:rPr>
              <a:t>▪ 查询侧:Query Rewrite / Multi-Query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50" b="0" i="0">
                <a:solidFill>
                  <a:srgbClr val="334050"/>
                </a:solidFill>
                <a:latin typeface="Microsoft YaHei"/>
                <a:ea typeface="Microsoft YaHei"/>
              </a:rPr>
              <a:t>▪ 知识库侧:Graph RAG / RAPTOR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50" b="0" i="0">
                <a:solidFill>
                  <a:srgbClr val="334050"/>
                </a:solidFill>
                <a:latin typeface="Microsoft YaHei"/>
                <a:ea typeface="Microsoft YaHei"/>
              </a:rPr>
              <a:t>▪ 检索后侧:Reranker / Self-correction / Corrective RAG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50" b="0" i="0">
                <a:solidFill>
                  <a:srgbClr val="334050"/>
                </a:solidFill>
                <a:latin typeface="Microsoft YaHei"/>
                <a:ea typeface="Microsoft YaHei"/>
              </a:rPr>
              <a:t>▪ 编排侧:Adaptive RAG(以及 Backup:FLARE / SELF-RAG)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2011680" cy="82296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063240"/>
            <a:ext cx="11057839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 i="0">
                <a:solidFill>
                  <a:srgbClr val="8FB8E8"/>
                </a:solidFill>
                <a:latin typeface="Microsoft YaHei"/>
                <a:ea typeface="Microsoft YaHei"/>
              </a:rPr>
              <a:t>PART 1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3800" b="1" i="0">
                <a:solidFill>
                  <a:srgbClr val="FFFFFF"/>
                </a:solidFill>
                <a:latin typeface="Microsoft YaHei"/>
                <a:ea typeface="Microsoft YaHei"/>
              </a:rPr>
              <a:t>Embedding Model 演进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B8CDE6"/>
                </a:solidFill>
                <a:latin typeface="Microsoft YaHei"/>
                <a:ea typeface="Microsoft YaHei"/>
              </a:rPr>
              <a:t>BERT → SBERT → MTEB → BGE → NV-Embed → Qwen3-Embedding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1938528"/>
            <a:ext cx="1751533" cy="658368"/>
          </a:xfrm>
          <a:prstGeom prst="roundRect">
            <a:avLst>
              <a:gd name="adj" fmla="val 16000"/>
            </a:avLst>
          </a:prstGeom>
          <a:solidFill>
            <a:srgbClr val="ECF2FA"/>
          </a:solidFill>
          <a:ln w="9525">
            <a:solidFill>
              <a:srgbClr val="BBC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011680"/>
            <a:ext cx="1568653" cy="5120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"/>
              </a:spcAft>
            </a:pPr>
            <a:r>
              <a:rPr sz="1250" b="1" i="0">
                <a:solidFill>
                  <a:srgbClr val="1F5CA8"/>
                </a:solidFill>
                <a:latin typeface="Microsoft YaHei"/>
                <a:ea typeface="Microsoft YaHei"/>
              </a:rPr>
              <a:t>BERT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7A8696"/>
                </a:solidFill>
                <a:latin typeface="Microsoft YaHei"/>
                <a:ea typeface="Microsoft YaHei"/>
              </a:rPr>
              <a:t>Encoder-only,双向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28189" y="1938528"/>
            <a:ext cx="1751533" cy="658368"/>
          </a:xfrm>
          <a:prstGeom prst="roundRect">
            <a:avLst>
              <a:gd name="adj" fmla="val 16000"/>
            </a:avLst>
          </a:prstGeom>
          <a:solidFill>
            <a:srgbClr val="ECF2FA"/>
          </a:solidFill>
          <a:ln w="9525">
            <a:solidFill>
              <a:srgbClr val="BBC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19629" y="2011680"/>
            <a:ext cx="1568653" cy="5120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"/>
              </a:spcAft>
            </a:pPr>
            <a:r>
              <a:rPr sz="1250" b="1" i="0">
                <a:solidFill>
                  <a:srgbClr val="1F5CA8"/>
                </a:solidFill>
                <a:latin typeface="Microsoft YaHei"/>
                <a:ea typeface="Microsoft YaHei"/>
              </a:rPr>
              <a:t>SBERT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7A8696"/>
                </a:solidFill>
                <a:latin typeface="Microsoft YaHei"/>
                <a:ea typeface="Microsoft YaHei"/>
              </a:rPr>
              <a:t>句子级相似度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89450" y="1938528"/>
            <a:ext cx="1751533" cy="658368"/>
          </a:xfrm>
          <a:prstGeom prst="roundRect">
            <a:avLst>
              <a:gd name="adj" fmla="val 16000"/>
            </a:avLst>
          </a:prstGeom>
          <a:solidFill>
            <a:srgbClr val="ECF2FA"/>
          </a:solidFill>
          <a:ln w="9525">
            <a:solidFill>
              <a:srgbClr val="BBC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0890" y="2011680"/>
            <a:ext cx="1568653" cy="5120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"/>
              </a:spcAft>
            </a:pPr>
            <a:r>
              <a:rPr sz="1250" b="1" i="0">
                <a:solidFill>
                  <a:srgbClr val="1F5CA8"/>
                </a:solidFill>
                <a:latin typeface="Microsoft YaHei"/>
                <a:ea typeface="Microsoft YaHei"/>
              </a:rPr>
              <a:t>MTEB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7A8696"/>
                </a:solidFill>
                <a:latin typeface="Microsoft YaHei"/>
                <a:ea typeface="Microsoft YaHei"/>
              </a:rPr>
              <a:t>统一评测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0711" y="1938528"/>
            <a:ext cx="1751533" cy="658368"/>
          </a:xfrm>
          <a:prstGeom prst="roundRect">
            <a:avLst>
              <a:gd name="adj" fmla="val 16000"/>
            </a:avLst>
          </a:prstGeom>
          <a:solidFill>
            <a:srgbClr val="ECF2FA"/>
          </a:solidFill>
          <a:ln w="9525">
            <a:solidFill>
              <a:srgbClr val="BBC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42151" y="2011680"/>
            <a:ext cx="1568653" cy="5120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"/>
              </a:spcAft>
            </a:pPr>
            <a:r>
              <a:rPr sz="1250" b="1" i="0">
                <a:solidFill>
                  <a:srgbClr val="1F5CA8"/>
                </a:solidFill>
                <a:latin typeface="Microsoft YaHei"/>
                <a:ea typeface="Microsoft YaHei"/>
              </a:rPr>
              <a:t>BGE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7A8696"/>
                </a:solidFill>
                <a:latin typeface="Microsoft YaHei"/>
                <a:ea typeface="Microsoft YaHei"/>
              </a:rPr>
              <a:t>中文强,三阶段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1972" y="1938528"/>
            <a:ext cx="1751533" cy="658368"/>
          </a:xfrm>
          <a:prstGeom prst="roundRect">
            <a:avLst>
              <a:gd name="adj" fmla="val 16000"/>
            </a:avLst>
          </a:prstGeom>
          <a:solidFill>
            <a:srgbClr val="ECF2FA"/>
          </a:solidFill>
          <a:ln w="9525">
            <a:solidFill>
              <a:srgbClr val="BBC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03412" y="2011680"/>
            <a:ext cx="1568653" cy="5120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"/>
              </a:spcAft>
            </a:pPr>
            <a:r>
              <a:rPr sz="1250" b="1" i="0">
                <a:solidFill>
                  <a:srgbClr val="1F5CA8"/>
                </a:solidFill>
                <a:latin typeface="Microsoft YaHei"/>
                <a:ea typeface="Microsoft YaHei"/>
              </a:rPr>
              <a:t>NV-Embed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7A8696"/>
                </a:solidFill>
                <a:latin typeface="Microsoft YaHei"/>
                <a:ea typeface="Microsoft YaHei"/>
              </a:rPr>
              <a:t>Decoder-only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3233" y="1938528"/>
            <a:ext cx="1751533" cy="658368"/>
          </a:xfrm>
          <a:prstGeom prst="roundRect">
            <a:avLst>
              <a:gd name="adj" fmla="val 16000"/>
            </a:avLst>
          </a:prstGeom>
          <a:solidFill>
            <a:srgbClr val="ECF2FA"/>
          </a:solidFill>
          <a:ln w="9525">
            <a:solidFill>
              <a:srgbClr val="BBC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4673" y="2011680"/>
            <a:ext cx="1568653" cy="5120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100"/>
              </a:spcAft>
            </a:pPr>
            <a:r>
              <a:rPr sz="1250" b="1" i="0">
                <a:solidFill>
                  <a:srgbClr val="1F5CA8"/>
                </a:solidFill>
                <a:latin typeface="Microsoft YaHei"/>
                <a:ea typeface="Microsoft YaHei"/>
              </a:rPr>
              <a:t>Qwen3-Emb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7A8696"/>
                </a:solidFill>
                <a:latin typeface="Microsoft YaHei"/>
                <a:ea typeface="Microsoft YaHei"/>
              </a:rPr>
              <a:t>双模统一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10896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F5CA8"/>
                </a:solidFill>
                <a:latin typeface="Microsoft YaHei"/>
                <a:ea typeface="Microsoft YaHei"/>
              </a:rPr>
              <a:t>PART 1 · EMBEDDING MODEL: BERT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61727" y="3108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7A8696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 i="0">
                <a:solidFill>
                  <a:srgbClr val="1B2533"/>
                </a:solidFill>
                <a:latin typeface="Microsoft YaHei"/>
                <a:ea typeface="Microsoft YaHei"/>
              </a:rPr>
              <a:t>BERT:Encoder-only 的起点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1371600"/>
            <a:ext cx="1051560" cy="50292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15179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7A8696"/>
                </a:solidFill>
                <a:latin typeface="Microsoft YaHei"/>
                <a:ea typeface="Microsoft YaHei"/>
              </a:rPr>
              <a:t>2018 · 把「预训练 + 微调」范式带入 NLP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2788920"/>
            <a:ext cx="5943600" cy="3108960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2980944"/>
            <a:ext cx="54864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500" b="1" i="0">
                <a:solidFill>
                  <a:srgbClr val="1F5CA8"/>
                </a:solidFill>
                <a:latin typeface="Microsoft YaHei"/>
                <a:ea typeface="Microsoft YaHei"/>
              </a:rPr>
              <a:t>四个关键设计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50" b="0" i="0">
                <a:solidFill>
                  <a:srgbClr val="334050"/>
                </a:solidFill>
                <a:latin typeface="Microsoft YaHei"/>
                <a:ea typeface="Microsoft YaHei"/>
              </a:rPr>
              <a:t>▪ Encoder-only Transformer:只用编码器堆叠,没有自回归解码器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50" b="0" i="0">
                <a:solidFill>
                  <a:srgbClr val="334050"/>
                </a:solidFill>
                <a:latin typeface="Microsoft YaHei"/>
                <a:ea typeface="Microsoft YaHei"/>
              </a:rPr>
              <a:t>▪ Bidirectional:双向 self-attention,每个 token 同时看左右上下文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50" b="0" i="0">
                <a:solidFill>
                  <a:srgbClr val="334050"/>
                </a:solidFill>
                <a:latin typeface="Microsoft YaHei"/>
                <a:ea typeface="Microsoft YaHei"/>
              </a:rPr>
              <a:t>▪ Masked Language Model (MLM):随机 mask 15% token,预测被 mask 的词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50" b="0" i="0">
                <a:solidFill>
                  <a:srgbClr val="334050"/>
                </a:solidFill>
                <a:latin typeface="Microsoft YaHei"/>
                <a:ea typeface="Microsoft YaHei"/>
              </a:rPr>
              <a:t>▪ 输出是「每个 token 一个向量」,不是「一句话一个向量」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76288" y="2788920"/>
            <a:ext cx="4748479" cy="310896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BBC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77456" y="2953512"/>
            <a:ext cx="4346143" cy="2779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F5CA8"/>
                </a:solidFill>
                <a:latin typeface="Microsoft YaHei"/>
                <a:ea typeface="Microsoft YaHei"/>
              </a:rPr>
              <a:t>占位:架构图 / 数据规模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7A8696"/>
                </a:solidFill>
                <a:latin typeface="Microsoft YaHei"/>
                <a:ea typeface="Microsoft YaHei"/>
              </a:rPr>
              <a:t>建议放 BERT-base vs BERT-large 参数表(L=12/24, H=768/1024, A=12/16, ~110M/340M)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F5CA8"/>
                </a:solidFill>
                <a:latin typeface="Microsoft YaHei"/>
                <a:ea typeface="Microsoft YaHei"/>
              </a:rPr>
              <a:t>PART 1 · EMBEDDING MODEL: BERT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1727" y="3108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7A8696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 i="0">
                <a:solidFill>
                  <a:srgbClr val="1B2533"/>
                </a:solidFill>
                <a:latin typeface="Microsoft YaHei"/>
                <a:ea typeface="Microsoft YaHei"/>
              </a:rPr>
              <a:t>BERT 的预训练:两个自监督任务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051560" cy="50292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7A8696"/>
                </a:solidFill>
                <a:latin typeface="Microsoft YaHei"/>
                <a:ea typeface="Microsoft YaHei"/>
              </a:rPr>
              <a:t>How pretraining is done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38528"/>
            <a:ext cx="5943600" cy="3959352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139696"/>
            <a:ext cx="548640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 i="0">
                <a:solidFill>
                  <a:srgbClr val="1F5CA8"/>
                </a:solidFill>
                <a:latin typeface="Microsoft YaHei"/>
                <a:ea typeface="Microsoft YaHei"/>
              </a:rPr>
              <a:t>1. Bidirectional MLM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b="0" i="0">
                <a:solidFill>
                  <a:srgbClr val="334050"/>
                </a:solidFill>
                <a:latin typeface="Microsoft YaHei"/>
                <a:ea typeface="Microsoft YaHei"/>
              </a:rPr>
              <a:t>▪ 随机选 15% 的 token 做预测;其中 80% 换成 [MASK]、10% 换随机词、10% 保持不变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b="0" i="0">
                <a:solidFill>
                  <a:srgbClr val="334050"/>
                </a:solidFill>
                <a:latin typeface="Microsoft YaHei"/>
                <a:ea typeface="Microsoft YaHei"/>
              </a:rPr>
              <a:t>▪ 为什么不是 100% [MASK]:避免预训练与微调阶段的输入分布不一致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b="0" i="0">
                <a:solidFill>
                  <a:srgbClr val="334050"/>
                </a:solidFill>
                <a:latin typeface="Microsoft YaHei"/>
                <a:ea typeface="Microsoft YaHei"/>
              </a:rPr>
              <a:t>▪ 为什么是双向:能看到左右文,比 GPT 式「只看左边」更适合做理解任务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 i="0">
                <a:solidFill>
                  <a:srgbClr val="1F5CA8"/>
                </a:solidFill>
                <a:latin typeface="Microsoft YaHei"/>
                <a:ea typeface="Microsoft YaHei"/>
              </a:rPr>
              <a:t>2. Next Sentence Prediction (NSP)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b="0" i="0">
                <a:solidFill>
                  <a:srgbClr val="334050"/>
                </a:solidFill>
                <a:latin typeface="Microsoft YaHei"/>
                <a:ea typeface="Microsoft YaHei"/>
              </a:rPr>
              <a:t>▪ 输入两个句子 A / B,预测 B 是否是 A 的真实下一句(50% 正例)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b="0" i="0">
                <a:solidFill>
                  <a:srgbClr val="334050"/>
                </a:solidFill>
                <a:latin typeface="Microsoft YaHei"/>
                <a:ea typeface="Microsoft YaHei"/>
              </a:rPr>
              <a:t>▪ 目的:让模型学到句子之间的关系 —— 对 QA、NLI 这类任务有用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b="0" i="0">
                <a:solidFill>
                  <a:srgbClr val="334050"/>
                </a:solidFill>
                <a:latin typeface="Microsoft YaHei"/>
                <a:ea typeface="Microsoft YaHei"/>
              </a:rPr>
              <a:t>▪ 后续研究(RoBERTa)发现 NSP 收益有限,SOP(Sentence-Order Prediction)更好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76288" y="1938528"/>
            <a:ext cx="4748479" cy="3959352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BBC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77456" y="2103120"/>
            <a:ext cx="4346143" cy="3630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F5CA8"/>
                </a:solidFill>
                <a:latin typeface="Microsoft YaHei"/>
                <a:ea typeface="Microsoft YaHei"/>
              </a:rPr>
              <a:t>占位:MLM 掩码示例 / 预训练流程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7A8696"/>
                </a:solidFill>
                <a:latin typeface="Microsoft YaHei"/>
                <a:ea typeface="Microsoft YaHei"/>
              </a:rPr>
              <a:t>建议画:输入串 → mask 位置 → Encoder → 只对被 mask 位置算 loss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F5CA8"/>
                </a:solidFill>
                <a:latin typeface="Microsoft YaHei"/>
                <a:ea typeface="Microsoft YaHei"/>
              </a:rPr>
              <a:t>PART 1 · EMBEDDING MODEL: BERT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1727" y="3108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7A8696"/>
                </a:solidFill>
                <a:latin typeface="Microsoft YaHei"/>
                <a:ea typeface="Microsoft YaHe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 i="0">
                <a:solidFill>
                  <a:srgbClr val="1B2533"/>
                </a:solidFill>
                <a:latin typeface="Microsoft YaHei"/>
                <a:ea typeface="Microsoft YaHei"/>
              </a:rPr>
              <a:t>BERT 的微调:带标注的下游任务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051560" cy="50292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7A8696"/>
                </a:solidFill>
                <a:latin typeface="Microsoft YaHei"/>
                <a:ea typeface="Microsoft YaHei"/>
              </a:rPr>
              <a:t>How fine-tuning is done —— 含 Question-Answer Pair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38528"/>
            <a:ext cx="6035040" cy="2029968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103120"/>
            <a:ext cx="55778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 i="0">
                <a:solidFill>
                  <a:srgbClr val="1F5CA8"/>
                </a:solidFill>
                <a:latin typeface="Microsoft YaHei"/>
                <a:ea typeface="Microsoft YaHei"/>
              </a:rPr>
              <a:t>标准流程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b="0" i="0">
                <a:solidFill>
                  <a:srgbClr val="334050"/>
                </a:solidFill>
                <a:latin typeface="Microsoft YaHei"/>
                <a:ea typeface="Microsoft YaHei"/>
              </a:rPr>
              <a:t>▪ 预训练权重 + 任务头(classification / span extraction)→ 端到端微调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b="0" i="0">
                <a:solidFill>
                  <a:srgbClr val="334050"/>
                </a:solidFill>
                <a:latin typeface="Microsoft YaHei"/>
                <a:ea typeface="Microsoft YaHei"/>
              </a:rPr>
              <a:t>▪ QA 任务(SQuAD 式):输入 [CLS] Question [SEP] Passage [SEP],输出答案 span 的 start / end 位置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b="0" i="0">
                <a:solidFill>
                  <a:srgbClr val="334050"/>
                </a:solidFill>
                <a:latin typeface="Microsoft YaHei"/>
                <a:ea typeface="Microsoft YaHei"/>
              </a:rPr>
              <a:t>▪ 训练目标:cross-entropy;小学习率(2e-5 ~ 5e-5)、3~4 个 epoch 即可收敛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059936"/>
            <a:ext cx="6035040" cy="1837943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BBC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4206240"/>
            <a:ext cx="557784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400" b="1" i="0">
                <a:solidFill>
                  <a:srgbClr val="C0502A"/>
                </a:solidFill>
                <a:latin typeface="Microsoft YaHei"/>
                <a:ea typeface="Microsoft YaHei"/>
              </a:rPr>
              <a:t>作为 Embedding 模型用时的坑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00" b="0" i="0">
                <a:solidFill>
                  <a:srgbClr val="334050"/>
                </a:solidFill>
                <a:latin typeface="Microsoft YaHei"/>
                <a:ea typeface="Microsoft YaHei"/>
              </a:rPr>
              <a:t>▪ BERT 没有为「句子相似度」微调过 → CLS 向量各向异性(anisotropy),余弦相似度几乎无区分度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00" b="0" i="0">
                <a:solidFill>
                  <a:srgbClr val="334050"/>
                </a:solidFill>
                <a:latin typeface="Microsoft YaHei"/>
                <a:ea typeface="Microsoft YaHei"/>
              </a:rPr>
              <a:t>▪ 常见补救:取 mean pooling、或对向量做 whitening / 标准化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00" b="0" i="0">
                <a:solidFill>
                  <a:srgbClr val="334050"/>
                </a:solidFill>
                <a:latin typeface="Microsoft YaHei"/>
                <a:ea typeface="Microsoft YaHei"/>
              </a:rPr>
              <a:t>▪ 同一批句子两两组合(Cross-Encoder)效果好但 O(n²) 推理,无法做海量检索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67728" y="1938528"/>
            <a:ext cx="4657039" cy="3959352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BBC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68896" y="2103120"/>
            <a:ext cx="4254703" cy="3630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F5CA8"/>
                </a:solidFill>
                <a:latin typeface="Microsoft YaHei"/>
                <a:ea typeface="Microsoft YaHei"/>
              </a:rPr>
              <a:t>占位:微调数据样例 / 代码片段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7A8696"/>
                </a:solidFill>
                <a:latin typeface="Microsoft YaHei"/>
                <a:ea typeface="Microsoft YaHei"/>
              </a:rPr>
              <a:t>建议贴:Question-Answer Pair 样例(question, passage, label)、以及 3~5 行 HuggingFace 微调代码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F5CA8"/>
                </a:solidFill>
                <a:latin typeface="Microsoft YaHei"/>
                <a:ea typeface="Microsoft YaHei"/>
              </a:rPr>
              <a:t>PART 1 · EMBEDDING MODEL: SBERT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1727" y="3108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7A8696"/>
                </a:solidFill>
                <a:latin typeface="Microsoft YaHei"/>
                <a:ea typeface="Microsoft YaHe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 i="0">
                <a:solidFill>
                  <a:srgbClr val="1B2533"/>
                </a:solidFill>
                <a:latin typeface="Microsoft YaHei"/>
                <a:ea typeface="Microsoft YaHei"/>
              </a:rPr>
              <a:t>BERT 为什么做不好句子相似度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051560" cy="50292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7A8696"/>
                </a:solidFill>
                <a:latin typeface="Microsoft YaHei"/>
                <a:ea typeface="Microsoft YaHei"/>
              </a:rPr>
              <a:t>Why BERT fails at semantic text similarity (sentence level)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38528"/>
            <a:ext cx="5669280" cy="2029968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BBC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103120"/>
            <a:ext cx="52120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 i="0">
                <a:solidFill>
                  <a:srgbClr val="C0502A"/>
                </a:solidFill>
                <a:latin typeface="Microsoft YaHei"/>
                <a:ea typeface="Microsoft YaHei"/>
              </a:rPr>
              <a:t>根本原因:训练目标不匹配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334050"/>
                </a:solidFill>
                <a:latin typeface="Microsoft YaHei"/>
                <a:ea typeface="Microsoft YaHei"/>
              </a:rPr>
              <a:t>MLM / NSP 优化的是 token 级和句子级「是否相连」,从未优化「两句意思有多接近」;没有监督信号把「语义近」映射到「向量近」。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4133087"/>
          <a:ext cx="5669279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8437"/>
                <a:gridCol w="2109499"/>
                <a:gridCol w="2241343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</a:p>
                  </a:txBody>
                  <a:tcPr marL="82296" marR="64008" marT="27432" marB="27432" anchor="ctr">
                    <a:solidFill>
                      <a:srgbClr val="1F5CA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Cross-Encoder</a:t>
                      </a:r>
                    </a:p>
                  </a:txBody>
                  <a:tcPr marL="82296" marR="64008" marT="27432" marB="27432" anchor="ctr">
                    <a:solidFill>
                      <a:srgbClr val="1F5CA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Bi-Encoder (SBERT)</a:t>
                      </a:r>
                    </a:p>
                  </a:txBody>
                  <a:tcPr marL="82296" marR="64008" marT="27432" marB="27432" anchor="ctr">
                    <a:solidFill>
                      <a:srgbClr val="1F5CA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输入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[Q][SEP][D] 一起进模型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Q 和 D 分别独立编码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交互</a:t>
                      </a:r>
                    </a:p>
                  </a:txBody>
                  <a:tcPr marL="82296" marR="64008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逐 token 交叉注意力</a:t>
                      </a:r>
                    </a:p>
                  </a:txBody>
                  <a:tcPr marL="82296" marR="64008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只在最后算向量相似度</a:t>
                      </a:r>
                    </a:p>
                  </a:txBody>
                  <a:tcPr marL="82296" marR="64008" marT="27432" marB="27432" anchor="ctr">
                    <a:solidFill>
                      <a:srgbClr val="F4F7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精度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高(STS 上更好)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略低但非常接近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速度</a:t>
                      </a:r>
                    </a:p>
                  </a:txBody>
                  <a:tcPr marL="82296" marR="64008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n 个文档 → n 次前向</a:t>
                      </a:r>
                    </a:p>
                  </a:txBody>
                  <a:tcPr marL="82296" marR="64008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文档向量可离线预计算</a:t>
                      </a:r>
                    </a:p>
                  </a:txBody>
                  <a:tcPr marL="82296" marR="64008" marT="27432" marB="27432" anchor="ctr">
                    <a:solidFill>
                      <a:srgbClr val="F4F7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1 万句检索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~65 小时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~5 秒(约 4.6 万倍)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用途</a:t>
                      </a:r>
                    </a:p>
                  </a:txBody>
                  <a:tcPr marL="82296" marR="64008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重排 Reranker(小候选集)</a:t>
                      </a:r>
                    </a:p>
                  </a:txBody>
                  <a:tcPr marL="82296" marR="64008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召回 / 大规模检索</a:t>
                      </a:r>
                    </a:p>
                  </a:txBody>
                  <a:tcPr marL="82296" marR="64008" marT="27432" marB="27432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601968" y="1938528"/>
            <a:ext cx="5022799" cy="3959352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BBC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03136" y="2103120"/>
            <a:ext cx="4620463" cy="3630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F5CA8"/>
                </a:solidFill>
                <a:latin typeface="Microsoft YaHei"/>
                <a:ea typeface="Microsoft YaHei"/>
              </a:rPr>
              <a:t>占位:两种结构对比图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7A8696"/>
                </a:solidFill>
                <a:latin typeface="Microsoft YaHei"/>
                <a:ea typeface="Microsoft YaHei"/>
              </a:rPr>
              <a:t>建议画:上=Cross-Encoder(Q、D 拼一起→1 个打分);下=Bi-Encoder(Q→u, D→v → cosine)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F5CA8"/>
                </a:solidFill>
                <a:latin typeface="Microsoft YaHei"/>
                <a:ea typeface="Microsoft YaHei"/>
              </a:rPr>
              <a:t>PART 1 · EMBEDDING MODEL: SBERT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1727" y="3108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7A8696"/>
                </a:solidFill>
                <a:latin typeface="Microsoft YaHei"/>
                <a:ea typeface="Microsoft YaHe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 i="0">
                <a:solidFill>
                  <a:srgbClr val="1B2533"/>
                </a:solidFill>
                <a:latin typeface="Microsoft YaHei"/>
                <a:ea typeface="Microsoft YaHei"/>
              </a:rPr>
              <a:t>Siamese 网络与训练目标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051560" cy="50292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7A8696"/>
                </a:solidFill>
                <a:latin typeface="Microsoft YaHei"/>
                <a:ea typeface="Microsoft YaHei"/>
              </a:rPr>
              <a:t>Siamese Network, training loss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38528"/>
            <a:ext cx="5943600" cy="2286000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139696"/>
            <a:ext cx="548640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 i="0">
                <a:solidFill>
                  <a:srgbClr val="1F5CA8"/>
                </a:solidFill>
                <a:latin typeface="Microsoft YaHei"/>
                <a:ea typeface="Microsoft YaHei"/>
              </a:rPr>
              <a:t>网络结构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b="0" i="0">
                <a:solidFill>
                  <a:srgbClr val="334050"/>
                </a:solidFill>
                <a:latin typeface="Microsoft YaHei"/>
                <a:ea typeface="Microsoft YaHei"/>
              </a:rPr>
              <a:t>▪ 共享权重的双塔(Siamese / twin network):同一个 BERT 编码器分别编码句子 A、B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b="0" i="0">
                <a:solidFill>
                  <a:srgbClr val="334050"/>
                </a:solidFill>
                <a:latin typeface="Microsoft YaHei"/>
                <a:ea typeface="Microsoft YaHei"/>
              </a:rPr>
              <a:t>▪ Pooling 层:取 mean 或 max(默认 mean)把 token 向量压成定长句向量;CLS 也可用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b="0" i="0">
                <a:solidFill>
                  <a:srgbClr val="334050"/>
                </a:solidFill>
                <a:latin typeface="Microsoft YaHei"/>
                <a:ea typeface="Microsoft YaHei"/>
              </a:rPr>
              <a:t>▪ 默认输出 768 维,可选再过一个全连接层降到 256/512 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407408"/>
            <a:ext cx="5943600" cy="1490472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4572000"/>
            <a:ext cx="54864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 i="0">
                <a:solidFill>
                  <a:srgbClr val="1F5CA8"/>
                </a:solidFill>
                <a:latin typeface="Microsoft YaHei"/>
                <a:ea typeface="Microsoft YaHei"/>
              </a:rPr>
              <a:t>训练技巧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b="0" i="0">
                <a:solidFill>
                  <a:srgbClr val="334050"/>
                </a:solidFill>
                <a:latin typeface="Microsoft YaHei"/>
                <a:ea typeface="Microsoft YaHei"/>
              </a:rPr>
              <a:t>▪ 分类目标:softmax 三分类(entailment / neutral / contradiction),推理时用 cosine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b="0" i="0">
                <a:solidFill>
                  <a:srgbClr val="334050"/>
                </a:solidFill>
                <a:latin typeface="Microsoft YaHei"/>
                <a:ea typeface="Microsoft YaHei"/>
              </a:rPr>
              <a:t>▪ 大 batch + 长训练步数很关键(原论文 batch 16 太小,后续 SBERT 用 1024)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76288" y="1938528"/>
            <a:ext cx="4748479" cy="3959352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BBC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77456" y="2103120"/>
            <a:ext cx="4346143" cy="3630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F5CA8"/>
                </a:solidFill>
                <a:latin typeface="Microsoft YaHei"/>
                <a:ea typeface="Microsoft YaHei"/>
              </a:rPr>
              <a:t>占位:Siamese 结构图 + 三个 loss 公式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7A8696"/>
                </a:solidFill>
                <a:latin typeface="Microsoft YaHei"/>
                <a:ea typeface="Microsoft YaHei"/>
              </a:rPr>
              <a:t>建议画:左塔 BERT→pooling→u,右塔共享权重→pooling→v,中间 similarity;下方写 cosine / MSE / triplet 三种 loss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F5CA8"/>
                </a:solidFill>
                <a:latin typeface="Microsoft YaHei"/>
                <a:ea typeface="Microsoft YaHei"/>
              </a:rPr>
              <a:t>PART 1 · EMBEDDING MODEL: SBERT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1727" y="3108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7A8696"/>
                </a:solidFill>
                <a:latin typeface="Microsoft YaHei"/>
                <a:ea typeface="Microsoft YaHe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 i="0">
                <a:solidFill>
                  <a:srgbClr val="1B2533"/>
                </a:solidFill>
                <a:latin typeface="Microsoft YaHei"/>
                <a:ea typeface="Microsoft YaHei"/>
              </a:rPr>
              <a:t>效果:从 0.5 到 0.8 的跃升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051560" cy="50292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7A8696"/>
                </a:solidFill>
                <a:latin typeface="Microsoft YaHei"/>
                <a:ea typeface="Microsoft YaHei"/>
              </a:rPr>
              <a:t>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965960"/>
          <a:ext cx="67665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7460"/>
                <a:gridCol w="1860804"/>
                <a:gridCol w="2368296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方法</a:t>
                      </a:r>
                    </a:p>
                  </a:txBody>
                  <a:tcPr marL="82296" marR="64008" marT="27432" marB="27432" anchor="ctr">
                    <a:solidFill>
                      <a:srgbClr val="1F5CA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STS 任务表现</a:t>
                      </a:r>
                    </a:p>
                  </a:txBody>
                  <a:tcPr marL="82296" marR="64008" marT="27432" marB="27432" anchor="ctr">
                    <a:solidFill>
                      <a:srgbClr val="1F5CA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说明</a:t>
                      </a:r>
                    </a:p>
                  </a:txBody>
                  <a:tcPr marL="82296" marR="64008" marT="27432" marB="27432" anchor="ctr">
                    <a:solidFill>
                      <a:srgbClr val="1F5CA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Avg. GloVe embeddings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Spearman ≈ 0.52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词向量平均,弱基线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BERT CLS / mean 向量</a:t>
                      </a:r>
                    </a:p>
                  </a:txBody>
                  <a:tcPr marL="82296" marR="64008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≈ 0.51 ~ 0.60</a:t>
                      </a:r>
                    </a:p>
                  </a:txBody>
                  <a:tcPr marL="82296" marR="64008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未针对相似度训练</a:t>
                      </a:r>
                    </a:p>
                  </a:txBody>
                  <a:tcPr marL="82296" marR="64008" marT="27432" marB="27432" anchor="ctr"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SBERT (base)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≈ 0.76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Siamese + NLI 数据微调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SBERT (roberta-large)</a:t>
                      </a:r>
                    </a:p>
                  </a:txBody>
                  <a:tcPr marL="82296" marR="64008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≈ 0.79</a:t>
                      </a:r>
                    </a:p>
                  </a:txBody>
                  <a:tcPr marL="82296" marR="64008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更大基座、更长训练</a:t>
                      </a:r>
                    </a:p>
                  </a:txBody>
                  <a:tcPr marL="82296" marR="64008" marT="27432" marB="27432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4617720"/>
            <a:ext cx="67665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 i="0">
                <a:solidFill>
                  <a:srgbClr val="1F5CA8"/>
                </a:solidFill>
                <a:latin typeface="Microsoft YaHei"/>
                <a:ea typeface="Microsoft YaHei"/>
              </a:rPr>
              <a:t>结论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同样的 BERT 权重,换一个训练目标,句子相似度能力直接跳一个档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并且保留了「可预计算向量 + ANN 检索」的工程可行性 → 现代 RAG 的底座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99248" y="1965960"/>
            <a:ext cx="3925519" cy="393192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BBC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0416" y="2130552"/>
            <a:ext cx="3523183" cy="3602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F5CA8"/>
                </a:solidFill>
                <a:latin typeface="Microsoft YaHei"/>
                <a:ea typeface="Microsoft YaHei"/>
              </a:rPr>
              <a:t>占位:STS 各数据集柱状图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7A8696"/>
                </a:solidFill>
                <a:latin typeface="Microsoft YaHei"/>
                <a:ea typeface="Microsoft YaHei"/>
              </a:rPr>
              <a:t>数据来源:Sentence-BERT 论文(Reimers &amp; Gurevych, 2019) Table 2 / 官方文档;建议贴论文原图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F5CA8"/>
                </a:solidFill>
                <a:latin typeface="Microsoft YaHei"/>
                <a:ea typeface="Microsoft YaHei"/>
              </a:rPr>
              <a:t>PART 1 · EMBEDDING MODEL: MTEB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1727" y="3108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7A8696"/>
                </a:solidFill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 i="0">
                <a:solidFill>
                  <a:srgbClr val="1B2533"/>
                </a:solidFill>
                <a:latin typeface="Microsoft YaHei"/>
                <a:ea typeface="Microsoft YaHei"/>
              </a:rPr>
              <a:t>MTEB:统一的 Embedding 评测基准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051560" cy="50292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7A8696"/>
                </a:solidFill>
                <a:latin typeface="Microsoft YaHei"/>
                <a:ea typeface="Microsoft YaHei"/>
              </a:rPr>
              <a:t>Massive Text Embedding Benchmark —— 让模型可比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38528"/>
            <a:ext cx="5760720" cy="3959352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139696"/>
            <a:ext cx="530352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 i="0">
                <a:solidFill>
                  <a:srgbClr val="1F5CA8"/>
                </a:solidFill>
                <a:latin typeface="Microsoft YaHei"/>
                <a:ea typeface="Microsoft YaHei"/>
              </a:rPr>
              <a:t>是什么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b="0" i="0">
                <a:solidFill>
                  <a:srgbClr val="334050"/>
                </a:solidFill>
                <a:latin typeface="Microsoft YaHei"/>
                <a:ea typeface="Microsoft YaHei"/>
              </a:rPr>
              <a:t>▪ MTEB 论文(2022)开源的大规模 embedding 评测套件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b="0" i="0">
                <a:solidFill>
                  <a:srgbClr val="334050"/>
                </a:solidFill>
                <a:latin typeface="Microsoft YaHei"/>
                <a:ea typeface="Microsoft YaHei"/>
              </a:rPr>
              <a:t>▪ 覆盖 8 类任务:Retrieval、Reranking、Clustering、Classification、Pair Classification、STS、Summarization、Bitext Mining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b="0" i="0">
                <a:solidFill>
                  <a:srgbClr val="334050"/>
                </a:solidFill>
                <a:latin typeface="Microsoft YaHei"/>
                <a:ea typeface="Microsoft YaHei"/>
              </a:rPr>
              <a:t>▪ 初版约 56 个数据集、112 种语言;后续持续扩展到上百个数据集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b="0" i="0">
                <a:solidFill>
                  <a:srgbClr val="334050"/>
                </a:solidFill>
                <a:latin typeface="Microsoft YaHei"/>
                <a:ea typeface="Microsoft YaHei"/>
              </a:rPr>
              <a:t>▪ 同时提供 C-MTEB(中文)与 MMTEB(多语言),Leaderboard 公开排名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93408" y="1938528"/>
            <a:ext cx="4931359" cy="3959352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BBC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6" y="2103120"/>
            <a:ext cx="4529023" cy="3630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F5CA8"/>
                </a:solidFill>
                <a:latin typeface="Microsoft YaHei"/>
                <a:ea typeface="Microsoft YaHei"/>
              </a:rPr>
              <a:t>占位:MTEB 任务/数据规模与榜单截图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7A8696"/>
                </a:solidFill>
                <a:latin typeface="Microsoft YaHei"/>
                <a:ea typeface="Microsoft YaHei"/>
              </a:rPr>
              <a:t>建议贴:8 类任务示意 + 当前 MTEB Leaderboard 前几名(Multilingual / Chinese 两个榜)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F5CA8"/>
                </a:solidFill>
                <a:latin typeface="Microsoft YaHei"/>
                <a:ea typeface="Microsoft YaHei"/>
              </a:rPr>
              <a:t>PART 1 · EMBEDDING MODEL: BGE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1727" y="3108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7A8696"/>
                </a:solidFill>
                <a:latin typeface="Microsoft YaHei"/>
                <a:ea typeface="Microsoft YaHe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 i="0">
                <a:solidFill>
                  <a:srgbClr val="1B2533"/>
                </a:solidFill>
                <a:latin typeface="Microsoft YaHei"/>
                <a:ea typeface="Microsoft YaHei"/>
              </a:rPr>
              <a:t>BGE:中文场景的第一梯队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051560" cy="50292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7A8696"/>
                </a:solidFill>
                <a:latin typeface="Microsoft YaHei"/>
                <a:ea typeface="Microsoft YaHei"/>
              </a:rPr>
              <a:t>BAAI General Embedding —— 从 C-MTEB 说起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38528"/>
            <a:ext cx="5760720" cy="3959352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139696"/>
            <a:ext cx="530352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 i="0">
                <a:solidFill>
                  <a:srgbClr val="1F5CA8"/>
                </a:solidFill>
                <a:latin typeface="Microsoft YaHei"/>
                <a:ea typeface="Microsoft YaHei"/>
              </a:rPr>
              <a:t>C-MTEB(中文 MTEB)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b="0" i="0">
                <a:solidFill>
                  <a:srgbClr val="334050"/>
                </a:solidFill>
                <a:latin typeface="Microsoft YaHei"/>
                <a:ea typeface="Microsoft YaHei"/>
              </a:rPr>
              <a:t>▪ BGE 团队构建的中文评测集:6 类任务、约 35 个数据集,覆盖检索/排序/聚类/分类/STS/句对分类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b="0" i="0">
                <a:solidFill>
                  <a:srgbClr val="334050"/>
                </a:solidFill>
                <a:latin typeface="Microsoft YaHei"/>
                <a:ea typeface="Microsoft YaHei"/>
              </a:rPr>
              <a:t>▪ 数据来自中文开源数据集,统一 re-split 与格式化,让中文模型第一次有了可比口径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b="0" i="0">
                <a:solidFill>
                  <a:srgbClr val="334050"/>
                </a:solidFill>
                <a:latin typeface="Microsoft YaHei"/>
                <a:ea typeface="Microsoft YaHei"/>
              </a:rPr>
              <a:t>▪ BGE 系列包含:英文 bge-large-en、中文 bge-large-zh、多语言 bge-m3,以及轻量 bge-small/base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 i="0">
                <a:solidFill>
                  <a:srgbClr val="1F5CA8"/>
                </a:solidFill>
                <a:latin typeface="Microsoft YaHei"/>
                <a:ea typeface="Microsoft YaHei"/>
              </a:rPr>
              <a:t>为什么中文要单独立榜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b="0" i="0">
                <a:solidFill>
                  <a:srgbClr val="334050"/>
                </a:solidFill>
                <a:latin typeface="Microsoft YaHei"/>
                <a:ea typeface="Microsoft YaHei"/>
              </a:rPr>
              <a:t>▪ 分词与语义分布不同,英文榜高分模型在中文上可能明显掉点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b="0" i="0">
                <a:solidFill>
                  <a:srgbClr val="334050"/>
                </a:solidFill>
                <a:latin typeface="Microsoft YaHei"/>
                <a:ea typeface="Microsoft YaHei"/>
              </a:rPr>
              <a:t>▪ 中文检索常涉及短 query + 长文档、专有名词,评测集要贴近这个分布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93408" y="1938528"/>
            <a:ext cx="4931359" cy="3959352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BBC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6" y="2103120"/>
            <a:ext cx="4529023" cy="3630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F5CA8"/>
                </a:solidFill>
                <a:latin typeface="Microsoft YaHei"/>
                <a:ea typeface="Microsoft YaHei"/>
              </a:rPr>
              <a:t>占位:C-MTEB 榜单 / BGE 模型规格表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7A8696"/>
                </a:solidFill>
                <a:latin typeface="Microsoft YaHei"/>
                <a:ea typeface="Microsoft YaHei"/>
              </a:rPr>
              <a:t>建议贴:bge-large-zh-v1.5 在 C-MTEB 的均分与各任务分,以及 bge-m3 的 dense/sparse/colbert 三输出示意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F5CA8"/>
                </a:solidFill>
                <a:latin typeface="Microsoft YaHei"/>
                <a:ea typeface="Microsoft YaHei"/>
              </a:rPr>
              <a:t>PART 1 · EMBEDDING MODEL: BGE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1727" y="3108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7A8696"/>
                </a:solidFill>
                <a:latin typeface="Microsoft YaHei"/>
                <a:ea typeface="Microsoft YaHe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 i="0">
                <a:solidFill>
                  <a:srgbClr val="1B2533"/>
                </a:solidFill>
                <a:latin typeface="Microsoft YaHei"/>
                <a:ea typeface="Microsoft YaHei"/>
              </a:rPr>
              <a:t>三阶段训练(1/3):RetroMAE 预训练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051560" cy="50292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7A8696"/>
                </a:solidFill>
                <a:latin typeface="Microsoft YaHei"/>
                <a:ea typeface="Microsoft YaHei"/>
              </a:rPr>
              <a:t>Stage 1 —— 先把基座的语言与语义理解做扎实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38528"/>
            <a:ext cx="5852160" cy="3959352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139696"/>
            <a:ext cx="539496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 i="0">
                <a:solidFill>
                  <a:srgbClr val="1F5CA8"/>
                </a:solidFill>
                <a:latin typeface="Microsoft YaHei"/>
                <a:ea typeface="Microsoft YaHei"/>
              </a:rPr>
              <a:t>RetroMAE 是什么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b="0" i="0">
                <a:solidFill>
                  <a:srgbClr val="334050"/>
                </a:solidFill>
                <a:latin typeface="Microsoft YaHei"/>
                <a:ea typeface="Microsoft YaHei"/>
              </a:rPr>
              <a:t>▪ 一种面向检索场景的 MAE(Masked AutoEncoder)式预训练方法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b="0" i="0">
                <a:solidFill>
                  <a:srgbClr val="334050"/>
                </a:solidFill>
                <a:latin typeface="Microsoft YaHei"/>
                <a:ea typeface="Microsoft YaHei"/>
              </a:rPr>
              <a:t>▪ Encoder 侧:对输入做高比例 mask(如 15%~30%),编码出句子表示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b="0" i="0">
                <a:solidFill>
                  <a:srgbClr val="334050"/>
                </a:solidFill>
                <a:latin typeface="Microsoft YaHei"/>
                <a:ea typeface="Microsoft YaHei"/>
              </a:rPr>
              <a:t>▪ Decoder 侧:用「浅层 + 非对称」解码器,从句子表示重建被 mask 的原始 token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b="0" i="0">
                <a:solidFill>
                  <a:srgbClr val="334050"/>
                </a:solidFill>
                <a:latin typeface="Microsoft YaHei"/>
                <a:ea typeface="Microsoft YaHei"/>
              </a:rPr>
              <a:t>▪ 关键点:decoder 只用于预训练,推理时丢弃,所以不增加线上成本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 i="0">
                <a:solidFill>
                  <a:srgbClr val="1F5CA8"/>
                </a:solidFill>
                <a:latin typeface="Microsoft YaHei"/>
                <a:ea typeface="Microsoft YaHei"/>
              </a:rPr>
              <a:t>为什么有效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b="0" i="0">
                <a:solidFill>
                  <a:srgbClr val="334050"/>
                </a:solidFill>
                <a:latin typeface="Microsoft YaHei"/>
                <a:ea typeface="Microsoft YaHei"/>
              </a:rPr>
              <a:t>▪ 重建任务迫使 encoder 的句向量必须携带「可还原全文」的完整信息 → 表示更充分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b="0" i="0">
                <a:solidFill>
                  <a:srgbClr val="334050"/>
                </a:solidFill>
                <a:latin typeface="Microsoft YaHei"/>
                <a:ea typeface="Microsoft YaHei"/>
              </a:rPr>
              <a:t>▪ 相比纯 MLM,更贴近「用一个向量代表整段文本」的目标,为后续对比学习打好初始化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84848" y="1938528"/>
            <a:ext cx="4839919" cy="3959352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BBC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6016" y="2103120"/>
            <a:ext cx="4437583" cy="3630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F5CA8"/>
                </a:solidFill>
                <a:latin typeface="Microsoft YaHei"/>
                <a:ea typeface="Microsoft YaHei"/>
              </a:rPr>
              <a:t>占位:RetroMAE 流程图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7A8696"/>
                </a:solidFill>
                <a:latin typeface="Microsoft YaHei"/>
                <a:ea typeface="Microsoft YaHei"/>
              </a:rPr>
              <a:t>建议画:输入 →(高比例 mask)→ Encoder → 句向量 → 非对称浅层 Decoder → 重建被 mask token;标注「decoder 推理时丢弃」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F5CA8"/>
                </a:solidFill>
                <a:latin typeface="Microsoft YaHei"/>
                <a:ea typeface="Microsoft YaHei"/>
              </a:rPr>
              <a:t>PART 1 · EMBEDDING MODEL: BGE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1727" y="3108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7A8696"/>
                </a:solidFill>
                <a:latin typeface="Microsoft YaHei"/>
                <a:ea typeface="Microsoft YaHe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 i="0">
                <a:solidFill>
                  <a:srgbClr val="1B2533"/>
                </a:solidFill>
                <a:latin typeface="Microsoft YaHei"/>
                <a:ea typeface="Microsoft YaHei"/>
              </a:rPr>
              <a:t>三阶段训练(2/3):对比学习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051560" cy="50292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7A8696"/>
                </a:solidFill>
                <a:latin typeface="Microsoft YaHei"/>
                <a:ea typeface="Microsoft YaHei"/>
              </a:rPr>
              <a:t>Stage 2 —— 用海量无标注文本对把语义对齐到向量距离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38528"/>
            <a:ext cx="5852160" cy="3959352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139696"/>
            <a:ext cx="539496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 i="0">
                <a:solidFill>
                  <a:srgbClr val="1F5CA8"/>
                </a:solidFill>
                <a:latin typeface="Microsoft YaHei"/>
                <a:ea typeface="Microsoft YaHei"/>
              </a:rPr>
              <a:t>训练设置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b="0" i="0">
                <a:solidFill>
                  <a:srgbClr val="334050"/>
                </a:solidFill>
                <a:latin typeface="Microsoft YaHei"/>
                <a:ea typeface="Microsoft YaHei"/>
              </a:rPr>
              <a:t>▪ 目标函数:InfoNCE 式对比损失(同 SBERT 思路,但规模与数据构造不同)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b="0" i="0">
                <a:solidFill>
                  <a:srgbClr val="334050"/>
                </a:solidFill>
                <a:latin typeface="Microsoft YaHei"/>
                <a:ea typeface="Microsoft YaHei"/>
              </a:rPr>
              <a:t>▪ 数据:大规模弱监督文本对 —— 标题-正文、问答对、同义改写、社区问答等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b="0" i="0">
                <a:solidFill>
                  <a:srgbClr val="334050"/>
                </a:solidFill>
                <a:latin typeface="Microsoft YaHei"/>
                <a:ea typeface="Microsoft YaHei"/>
              </a:rPr>
              <a:t>▪ 温度系数 τ 控制分布锐度;大 batch(如 1024+)保证 in-batch negatives 足够多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 i="0">
                <a:solidFill>
                  <a:srgbClr val="1F5CA8"/>
                </a:solidFill>
                <a:latin typeface="Microsoft YaHei"/>
                <a:ea typeface="Microsoft YaHei"/>
              </a:rPr>
              <a:t>两个工程要点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b="0" i="0">
                <a:solidFill>
                  <a:srgbClr val="334050"/>
                </a:solidFill>
                <a:latin typeface="Microsoft YaHei"/>
                <a:ea typeface="Microsoft YaHei"/>
              </a:rPr>
              <a:t>▪ In-batch negatives:同 batch 内其他样本的文档当负例,零额外前向成本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b="0" i="0">
                <a:solidFill>
                  <a:srgbClr val="334050"/>
                </a:solidFill>
                <a:latin typeface="Microsoft YaHei"/>
                <a:ea typeface="Microsoft YaHei"/>
              </a:rPr>
              <a:t>▪ 困难负例(hard negatives):相似但不匹配的文档对训练收益最大,需要专门挖掘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84848" y="1938528"/>
            <a:ext cx="4839919" cy="3959352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BBC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6016" y="2103120"/>
            <a:ext cx="4437583" cy="3630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F5CA8"/>
                </a:solidFill>
                <a:latin typeface="Microsoft YaHei"/>
                <a:ea typeface="Microsoft YaHei"/>
              </a:rPr>
              <a:t>占位:对比学习示意 + InfoNCE 公式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7A8696"/>
                </a:solidFill>
                <a:latin typeface="Microsoft YaHei"/>
                <a:ea typeface="Microsoft YaHei"/>
              </a:rPr>
              <a:t>建议画:锚点 q 与正例 d+ 拉近、与 batch 内负例 d- 推远;旁边写 -log(exp(sim(q,d+)/τ) / Σ exp(sim(q,d_i)/τ))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F5CA8"/>
                </a:solidFill>
                <a:latin typeface="Microsoft YaHei"/>
                <a:ea typeface="Microsoft YaHei"/>
              </a:rPr>
              <a:t>PART 1 · EMBEDDING MODEL: BGE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1727" y="3108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7A8696"/>
                </a:solidFill>
                <a:latin typeface="Microsoft YaHei"/>
                <a:ea typeface="Microsoft YaHe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 i="0">
                <a:solidFill>
                  <a:srgbClr val="1B2533"/>
                </a:solidFill>
                <a:latin typeface="Microsoft YaHei"/>
                <a:ea typeface="Microsoft YaHei"/>
              </a:rPr>
              <a:t>三阶段训练(3/3):有监督微调 + 效果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051560" cy="50292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7A8696"/>
                </a:solidFill>
                <a:latin typeface="Microsoft YaHei"/>
                <a:ea typeface="Microsoft YaHei"/>
              </a:rPr>
              <a:t>Stage 3 —— 高质量标注数据,把精度再抬一档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38528"/>
            <a:ext cx="5760720" cy="2286000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139696"/>
            <a:ext cx="530352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 i="0">
                <a:solidFill>
                  <a:srgbClr val="1F5CA8"/>
                </a:solidFill>
                <a:latin typeface="Microsoft YaHei"/>
                <a:ea typeface="Microsoft YaHei"/>
              </a:rPr>
              <a:t>微调阶段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数据:人工/半人工标注的高质量检索三元组(query, pos, neg)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负例构造:先用当前模型召回 top-k 近似文档,再挑选「看似相关但不正确」的作为 hard negative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训练目标仍是对比损失,但数据更干净、负例更困难 → 检索指标显著提升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可加 instruction 前缀(如「为这个句子生成表示用于检索」),提升跨任务泛化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4407408"/>
          <a:ext cx="576072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8216"/>
                <a:gridCol w="1728216"/>
                <a:gridCol w="2304288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阶段</a:t>
                      </a:r>
                    </a:p>
                  </a:txBody>
                  <a:tcPr marL="82296" marR="64008" marT="27432" marB="27432" anchor="ctr">
                    <a:solidFill>
                      <a:srgbClr val="1F5CA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目标</a:t>
                      </a:r>
                    </a:p>
                  </a:txBody>
                  <a:tcPr marL="82296" marR="64008" marT="27432" marB="27432" anchor="ctr">
                    <a:solidFill>
                      <a:srgbClr val="1F5CA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数据</a:t>
                      </a:r>
                    </a:p>
                  </a:txBody>
                  <a:tcPr marL="82296" marR="64008" marT="27432" marB="27432" anchor="ctr">
                    <a:solidFill>
                      <a:srgbClr val="1F5CA8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1 RetroMAE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基座表示能力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大规模无标注语料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2 对比学习</a:t>
                      </a:r>
                    </a:p>
                  </a:txBody>
                  <a:tcPr marL="82296" marR="64008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语义对齐</a:t>
                      </a:r>
                    </a:p>
                  </a:txBody>
                  <a:tcPr marL="82296" marR="64008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弱监督文本对</a:t>
                      </a:r>
                    </a:p>
                  </a:txBody>
                  <a:tcPr marL="82296" marR="64008" marT="27432" marB="27432" anchor="ctr">
                    <a:solidFill>
                      <a:srgbClr val="F4F7FB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3 微调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检索精度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高质量标注 + 难负例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693408" y="1938528"/>
            <a:ext cx="4931359" cy="3959352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BBC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94576" y="2103120"/>
            <a:ext cx="4529023" cy="3630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F5CA8"/>
                </a:solidFill>
                <a:latin typeface="Microsoft YaHei"/>
                <a:ea typeface="Microsoft YaHei"/>
              </a:rPr>
              <a:t>占位:BGE 在 C-MTEB / MTEB 的分数对比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7A8696"/>
                </a:solidFill>
                <a:latin typeface="Microsoft YaHei"/>
                <a:ea typeface="Microsoft YaHei"/>
              </a:rPr>
              <a:t>建议贴:bge-large-zh-v1.5 与 bge-m3 的均分、以及相对 OpenAI text-embedding 系列的中文对比(注明来源与评测时间)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F5CA8"/>
                </a:solidFill>
                <a:latin typeface="Microsoft YaHei"/>
                <a:ea typeface="Microsoft YaHei"/>
              </a:rPr>
              <a:t>PART 1 · EMBEDDING MODEL: NV-EMBED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1727" y="3108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7A8696"/>
                </a:solidFill>
                <a:latin typeface="Microsoft YaHei"/>
                <a:ea typeface="Microsoft YaHe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 i="0">
                <a:solidFill>
                  <a:srgbClr val="1B2533"/>
                </a:solidFill>
                <a:latin typeface="Microsoft YaHei"/>
                <a:ea typeface="Microsoft YaHei"/>
              </a:rPr>
              <a:t>NV-Embed:Decoder-only 也能做 Embedding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051560" cy="50292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7A8696"/>
                </a:solidFill>
                <a:latin typeface="Microsoft YaHei"/>
                <a:ea typeface="Microsoft YaHei"/>
              </a:rPr>
              <a:t>NVIDIA · 把 LLM 直接改造成 embedding 模型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38528"/>
            <a:ext cx="5760720" cy="3959352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139696"/>
            <a:ext cx="530352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 i="0">
                <a:solidFill>
                  <a:srgbClr val="1F5CA8"/>
                </a:solidFill>
                <a:latin typeface="Microsoft YaHei"/>
                <a:ea typeface="Microsoft YaHei"/>
              </a:rPr>
              <a:t>三个关键改动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Decoder-only 基座:直接用 Mistral-7B 这类自回归 LLM 做 embedding,不做架构改造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Latent Attention Layer:在最后加一层 latent attention,把变长的 token 表示聚合成一个定长向量(替代 mean pooling,且去掉因果 mask 让 token 双向可见)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两阶段对比训练:Stage 1 用大规模弱监督数据(检索式 + 非检索式任务混合)微调;Stage 2 用高质量数据精调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17720"/>
            <a:ext cx="5760720" cy="128016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BBC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4754880"/>
            <a:ext cx="530352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00" b="1" i="0">
                <a:solidFill>
                  <a:srgbClr val="C0502A"/>
                </a:solidFill>
                <a:latin typeface="Microsoft YaHei"/>
                <a:ea typeface="Microsoft YaHei"/>
              </a:rPr>
              <a:t>反直觉的点:第二阶段不用 in-batch negatives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334050"/>
                </a:solidFill>
                <a:latin typeface="Microsoft YaHei"/>
                <a:ea typeface="Microsoft YaHei"/>
              </a:rPr>
              <a:t>第二阶段改用「同一 batch 内同一 query 的其他正例 / 跨设备(across-device)负例」等策略后效果更好 —— 说明当基座足够强、数据足够干净时,粗暴的 in-batch negative 反而引入假负例噪声。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93408" y="1938528"/>
            <a:ext cx="4931359" cy="3959352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BBC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94576" y="2103120"/>
            <a:ext cx="4529023" cy="3630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F5CA8"/>
                </a:solidFill>
                <a:latin typeface="Microsoft YaHei"/>
                <a:ea typeface="Microsoft YaHei"/>
              </a:rPr>
              <a:t>占位:Latent Attention 结构图 + MTEB 分数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7A8696"/>
                </a:solidFill>
                <a:latin typeface="Microsoft YaHei"/>
                <a:ea typeface="Microsoft YaHei"/>
              </a:rPr>
              <a:t>建议画:LLM 各层 hidden → latent attention(可学习 query 向量做 cross-attn)→ 单个 embedding;并贴论文在 MTEB 上的均分与任务数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F5CA8"/>
                </a:solidFill>
                <a:latin typeface="Microsoft YaHei"/>
                <a:ea typeface="Microsoft YaHei"/>
              </a:rPr>
              <a:t>PART 1 · EMBEDDING MODEL: QWEN3-EMBEDDING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1727" y="3108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7A8696"/>
                </a:solidFill>
                <a:latin typeface="Microsoft YaHei"/>
                <a:ea typeface="Microsoft YaHei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 i="0">
                <a:solidFill>
                  <a:srgbClr val="1B2533"/>
                </a:solidFill>
                <a:latin typeface="Microsoft YaHei"/>
                <a:ea typeface="Microsoft YaHei"/>
              </a:rPr>
              <a:t>Qwen3-Embedding:一个基座,两种模型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051560" cy="50292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7A8696"/>
                </a:solidFill>
                <a:latin typeface="Microsoft YaHei"/>
                <a:ea typeface="Microsoft YaHei"/>
              </a:rPr>
              <a:t>Introduction —— 以 LLM 为底座统一 Embedding 与 Reranking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38528"/>
            <a:ext cx="5760720" cy="3959352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139696"/>
            <a:ext cx="530352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 i="0">
                <a:solidFill>
                  <a:srgbClr val="1F5CA8"/>
                </a:solidFill>
                <a:latin typeface="Microsoft YaHei"/>
                <a:ea typeface="Microsoft YaHei"/>
              </a:rPr>
              <a:t>家族与能力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b="0" i="0">
                <a:solidFill>
                  <a:srgbClr val="334050"/>
                </a:solidFill>
                <a:latin typeface="Microsoft YaHei"/>
                <a:ea typeface="Microsoft YaHei"/>
              </a:rPr>
              <a:t>▪ 模型规格:0.6B / 4B / 8B(Embedding),另有对应的 Reranker 版本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b="0" i="0">
                <a:solidFill>
                  <a:srgbClr val="334050"/>
                </a:solidFill>
                <a:latin typeface="Microsoft YaHei"/>
                <a:ea typeface="Microsoft YaHei"/>
              </a:rPr>
              <a:t>▪ 以 Qwen3 系列 LLM 为初始化基座,继承多语言与长文本能力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b="0" i="0">
                <a:solidFill>
                  <a:srgbClr val="334050"/>
                </a:solidFill>
                <a:latin typeface="Microsoft YaHei"/>
                <a:ea typeface="Microsoft YaHei"/>
              </a:rPr>
              <a:t>▪ 超长上下文:支持 32k token;向量维度支持自定义(常见 1024/2560/4096,可裁剪到更低维)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b="0" i="0">
                <a:solidFill>
                  <a:srgbClr val="334050"/>
                </a:solidFill>
                <a:latin typeface="Microsoft YaHei"/>
                <a:ea typeface="Microsoft YaHei"/>
              </a:rPr>
              <a:t>▪ 覆盖 100+ 语言(含编程语言),检索、聚类、分类、双语挖掘等多任务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 i="0">
                <a:solidFill>
                  <a:srgbClr val="1F5CA8"/>
                </a:solidFill>
                <a:latin typeface="Microsoft YaHei"/>
                <a:ea typeface="Microsoft YaHei"/>
              </a:rPr>
              <a:t>设计思想:Embedding 与 Reranker 同源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b="0" i="0">
                <a:solidFill>
                  <a:srgbClr val="334050"/>
                </a:solidFill>
                <a:latin typeface="Microsoft YaHei"/>
                <a:ea typeface="Microsoft YaHei"/>
              </a:rPr>
              <a:t>▪ 同一个基座,只用不同的「输出头」和「拼接方式」区分两种用途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b="0" i="0">
                <a:solidFill>
                  <a:srgbClr val="334050"/>
                </a:solidFill>
                <a:latin typeface="Microsoft YaHei"/>
                <a:ea typeface="Microsoft YaHei"/>
              </a:rPr>
              <a:t>▪ 好处:训练信号可互相迁移,线上可复用同一套推理基础设施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93408" y="1938528"/>
            <a:ext cx="4931359" cy="3959352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BBC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6" y="2103120"/>
            <a:ext cx="4529023" cy="3630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F5CA8"/>
                </a:solidFill>
                <a:latin typeface="Microsoft YaHei"/>
                <a:ea typeface="Microsoft YaHei"/>
              </a:rPr>
              <a:t>占位:模型规格表 / 多语言与榜单成绩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7A8696"/>
                </a:solidFill>
                <a:latin typeface="Microsoft YaHei"/>
                <a:ea typeface="Microsoft YaHei"/>
              </a:rPr>
              <a:t>建议贴:0.6B/4B/8B 的维度、层数、上下文长度,以及 MTEB Multilingual、MTEB Code 的分数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F5CA8"/>
                </a:solidFill>
                <a:latin typeface="Microsoft YaHei"/>
                <a:ea typeface="Microsoft YaHei"/>
              </a:rPr>
              <a:t>PART 1 · EMBEDDING MODEL: QWEN3-EMBEDDING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1727" y="3108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7A8696"/>
                </a:solidFill>
                <a:latin typeface="Microsoft YaHei"/>
                <a:ea typeface="Microsoft YaHei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 i="0">
                <a:solidFill>
                  <a:srgbClr val="1B2533"/>
                </a:solidFill>
                <a:latin typeface="Microsoft YaHei"/>
                <a:ea typeface="Microsoft YaHei"/>
              </a:rPr>
              <a:t>输入格式、Reranker 与训练损失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051560" cy="50292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7A8696"/>
                </a:solidFill>
                <a:latin typeface="Microsoft YaHei"/>
                <a:ea typeface="Microsoft YaHei"/>
              </a:rPr>
              <a:t>拿 EOS 当句向量,Reranker 只输出 Yes / 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38528"/>
            <a:ext cx="5669280" cy="214884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BBC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103120"/>
            <a:ext cx="52120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 i="0">
                <a:solidFill>
                  <a:srgbClr val="1F5CA8"/>
                </a:solidFill>
                <a:latin typeface="Microsoft YaHei"/>
                <a:ea typeface="Microsoft YaHei"/>
              </a:rPr>
              <a:t>Embedding model:输入 → EOS Pooling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50" b="1" i="0">
                <a:solidFill>
                  <a:srgbClr val="1B2533"/>
                </a:solidFill>
                <a:latin typeface="Consolas"/>
                <a:ea typeface="Consolas"/>
              </a:rPr>
              <a:t>{Inst}{Q}&lt;EOS&gt;</a:t>
            </a:r>
            <a:r>
              <a:rPr sz="1250" b="0" i="0">
                <a:solidFill>
                  <a:srgbClr val="7A8696"/>
                </a:solidFill>
                <a:latin typeface="Microsoft YaHei"/>
                <a:ea typeface="Microsoft YaHei"/>
              </a:rPr>
              <a:t>   →   </a:t>
            </a: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取 &lt;EOS&gt; 位置的隐状态作为句向量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334050"/>
                </a:solidFill>
                <a:latin typeface="Microsoft YaHei"/>
                <a:ea typeface="Microsoft YaHei"/>
              </a:rPr>
              <a:t>用最后一个 token(而非 mean/CLS)做 pooling:与 decoder-only 的因果注意力特性一致 —— 序列末尾的表示已经「看过」全部前文,天然是整段的压缩。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224528"/>
            <a:ext cx="5669280" cy="1673352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BBC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4389120"/>
            <a:ext cx="52120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 i="0">
                <a:solidFill>
                  <a:srgbClr val="1F5CA8"/>
                </a:solidFill>
                <a:latin typeface="Microsoft YaHei"/>
                <a:ea typeface="Microsoft YaHei"/>
              </a:rPr>
              <a:t>Reranker:输入 → LM Head → Yes / No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50" b="1" i="0">
                <a:solidFill>
                  <a:srgbClr val="1B2533"/>
                </a:solidFill>
                <a:latin typeface="Consolas"/>
                <a:ea typeface="Consolas"/>
              </a:rPr>
              <a:t>{Inst}{Q}{Doc}</a:t>
            </a:r>
            <a:r>
              <a:rPr sz="1250" b="0" i="0">
                <a:solidFill>
                  <a:srgbClr val="7A8696"/>
                </a:solidFill>
                <a:latin typeface="Microsoft YaHei"/>
                <a:ea typeface="Microsoft YaHei"/>
              </a:rPr>
              <a:t>  →  </a:t>
            </a:r>
            <a:r>
              <a:rPr sz="1250" b="0" i="0">
                <a:solidFill>
                  <a:srgbClr val="1B2533"/>
                </a:solidFill>
                <a:latin typeface="Consolas"/>
                <a:ea typeface="Consolas"/>
              </a:rPr>
              <a:t>LM Head</a:t>
            </a:r>
            <a:r>
              <a:rPr sz="1250" b="0" i="0">
                <a:solidFill>
                  <a:srgbClr val="7A8696"/>
                </a:solidFill>
                <a:latin typeface="Microsoft YaHei"/>
                <a:ea typeface="Microsoft YaHei"/>
              </a:rPr>
              <a:t>  →  </a:t>
            </a: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比较 “Yes” / “No” 两个 token 的 logit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334050"/>
                </a:solidFill>
                <a:latin typeface="Microsoft YaHei"/>
                <a:ea typeface="Microsoft YaHei"/>
              </a:rPr>
              <a:t>对两个 logit 做 softmax 得到相关性分数。本质是把「相关性判断」变成一个二分类问题,复用了 LLM 原本的语言建模能力,不需要额外的打分头。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1968" y="1938528"/>
            <a:ext cx="5022799" cy="3959352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39712" y="2139696"/>
            <a:ext cx="4547311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1" i="0">
                <a:solidFill>
                  <a:srgbClr val="1F5CA8"/>
                </a:solidFill>
                <a:latin typeface="Microsoft YaHei"/>
                <a:ea typeface="Microsoft YaHei"/>
              </a:rPr>
              <a:t>训练损失:InfoNCE 风格对比损失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query 与正例 doc 更近、与 batch 内负例更远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Reranker 侧同样用对比式目标,只把「相似度」换成 Yes/No 概率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配套指令(instruction)可分别优化检索、分类、聚类等不同任务的向量空间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39712" y="3977639"/>
            <a:ext cx="4547311" cy="173736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BBC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4142231"/>
            <a:ext cx="4144975" cy="1408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F5CA8"/>
                </a:solidFill>
                <a:latin typeface="Microsoft YaHei"/>
                <a:ea typeface="Microsoft YaHei"/>
              </a:rPr>
              <a:t>占位:公式与代码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7A8696"/>
                </a:solidFill>
                <a:latin typeface="Microsoft YaHei"/>
                <a:ea typeface="Microsoft YaHei"/>
              </a:rPr>
              <a:t>建议贴:InfoNCE 公式、`get_detailed_instruct()` 用法示例、以及 embed/rerank 各 3 行调用代码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1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2011680" cy="82296"/>
          </a:xfrm>
          <a:prstGeom prst="rect">
            <a:avLst/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063240"/>
            <a:ext cx="11057839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 i="0">
                <a:solidFill>
                  <a:srgbClr val="E8B89A"/>
                </a:solidFill>
                <a:latin typeface="Microsoft YaHei"/>
                <a:ea typeface="Microsoft YaHei"/>
              </a:rPr>
              <a:t>PART 2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3800" b="1" i="0">
                <a:solidFill>
                  <a:srgbClr val="FFFFFF"/>
                </a:solidFill>
                <a:latin typeface="Microsoft YaHei"/>
                <a:ea typeface="Microsoft YaHei"/>
              </a:rPr>
              <a:t>From RAG to Agentic RAG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E6CDB8"/>
                </a:solidFill>
                <a:latin typeface="Microsoft YaHei"/>
                <a:ea typeface="Microsoft YaHei"/>
              </a:rPr>
              <a:t>当检索质量到瓶颈之后,提升点在「控制流」而不只是「模型」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F5CA8"/>
                </a:solidFill>
                <a:latin typeface="Microsoft YaHei"/>
                <a:ea typeface="Microsoft YaHei"/>
              </a:rPr>
              <a:t>PART 2 · AGENTIC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1727" y="3108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7A8696"/>
                </a:solidFill>
                <a:latin typeface="Microsoft YaHei"/>
                <a:ea typeface="Microsoft YaHei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 i="0">
                <a:solidFill>
                  <a:srgbClr val="1B2533"/>
                </a:solidFill>
                <a:latin typeface="Microsoft YaHei"/>
                <a:ea typeface="Microsoft YaHei"/>
              </a:rPr>
              <a:t>Native RAG 的两个结构性弱点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051560" cy="50292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7A8696"/>
                </a:solidFill>
                <a:latin typeface="Microsoft YaHei"/>
                <a:ea typeface="Microsoft YaHei"/>
              </a:rPr>
              <a:t>先看清「朴素流水线」到底在哪里漏水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938528"/>
            <a:ext cx="1105783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 i="0">
                <a:solidFill>
                  <a:srgbClr val="1B2533"/>
                </a:solidFill>
                <a:latin typeface="Microsoft YaHei"/>
                <a:ea typeface="Microsoft YaHei"/>
              </a:rPr>
              <a:t>Naive RAG 流水线:用户 Query →(embedding)→ 向量库 Top-K → 拼进 Prompt → LLM 生成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7A8696"/>
                </a:solidFill>
                <a:latin typeface="Microsoft YaHei"/>
                <a:ea typeface="Microsoft YaHei"/>
              </a:rPr>
              <a:t>每一步都是单向、一次性、无反馈的 —— 没有一步会「回头检查」。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34640"/>
            <a:ext cx="5760720" cy="3063240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3035808"/>
            <a:ext cx="5303520" cy="2697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1" i="0">
                <a:solidFill>
                  <a:srgbClr val="C0502A"/>
                </a:solidFill>
                <a:latin typeface="Microsoft YaHei"/>
                <a:ea typeface="Microsoft YaHei"/>
              </a:rPr>
              <a:t>弱点 1:Chunk size 直接决定信息完整性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切得太小:段落信息被切断,指代(它/该方案/上述)失去先行词,答案残缺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切得太大:一个 chunk 混入多个主题,向量被「平均」掉,召回噪声升高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固定长度切分忽略了文档结构(标题层级、表格、代码块)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长度还牵动成本与上下文预算:chunk 越大,Top-K 塞进 prompt 越贵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93408" y="2834640"/>
            <a:ext cx="4931359" cy="3063240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31152" y="3035808"/>
            <a:ext cx="4693615" cy="2697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1" i="0">
                <a:solidFill>
                  <a:srgbClr val="C0502A"/>
                </a:solidFill>
                <a:latin typeface="Microsoft YaHei"/>
                <a:ea typeface="Microsoft YaHei"/>
              </a:rPr>
              <a:t>弱点 2:语义检索直接决定召回文档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「语义相似」不等于「能回答问题」——追问式 query 与答案段落措辞差异大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单一向量表达不了多意图 query(如「对比 A 和 B 的定价」)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对精确匹配需求(型号、编号、专有名词)天然弱于 BM25 / 关键词检索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Top-K 一旦召错,后面再强的 LLM 也只能在错误上下文里编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F5CA8"/>
                </a:solidFill>
                <a:latin typeface="Microsoft YaHei"/>
                <a:ea typeface="Microsoft YaHei"/>
              </a:rPr>
              <a:t>PART 2 · AGENTIC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1727" y="3108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7A8696"/>
                </a:solidFill>
                <a:latin typeface="Microsoft YaHei"/>
                <a:ea typeface="Microsoft YaHei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 i="0">
                <a:solidFill>
                  <a:srgbClr val="1B2533"/>
                </a:solidFill>
                <a:latin typeface="Microsoft YaHei"/>
                <a:ea typeface="Microsoft YaHei"/>
              </a:rPr>
              <a:t>Agentic RAG 全景图:技巧插在哪一环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051560" cy="50292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7A8696"/>
                </a:solidFill>
                <a:latin typeface="Microsoft YaHei"/>
                <a:ea typeface="Microsoft YaHei"/>
              </a:rPr>
              <a:t>Query 侧 / 检索侧 / 知识库侧 / 检索后侧 / 编排侧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057400"/>
            <a:ext cx="2079894" cy="457200"/>
          </a:xfrm>
          <a:prstGeom prst="roundRect">
            <a:avLst>
              <a:gd name="adj" fmla="val 12000"/>
            </a:avLst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176272"/>
            <a:ext cx="207989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</a:rPr>
              <a:t>查询侧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514600"/>
            <a:ext cx="2079894" cy="233172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BBC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670048"/>
            <a:ext cx="1787286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334050"/>
                </a:solidFill>
                <a:latin typeface="Microsoft YaHei"/>
                <a:ea typeface="Microsoft YaHei"/>
              </a:rPr>
              <a:t>Query Rewrite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334050"/>
                </a:solidFill>
                <a:latin typeface="Microsoft YaHei"/>
                <a:ea typeface="Microsoft YaHei"/>
              </a:rPr>
              <a:t>Multi-Query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334050"/>
                </a:solidFill>
                <a:latin typeface="Microsoft YaHei"/>
                <a:ea typeface="Microsoft YaHei"/>
              </a:rPr>
              <a:t>HyDE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334050"/>
                </a:solidFill>
                <a:latin typeface="Microsoft YaHei"/>
                <a:ea typeface="Microsoft YaHei"/>
              </a:rPr>
              <a:t>Query Decomposition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1414" y="2057400"/>
            <a:ext cx="2079894" cy="457200"/>
          </a:xfrm>
          <a:prstGeom prst="roundRect">
            <a:avLst>
              <a:gd name="adj" fmla="val 12000"/>
            </a:avLst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11414" y="2176272"/>
            <a:ext cx="207989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</a:rPr>
              <a:t>检索侧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11414" y="2514600"/>
            <a:ext cx="2079894" cy="233172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BBC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57718" y="2670048"/>
            <a:ext cx="1787286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334050"/>
                </a:solidFill>
                <a:latin typeface="Microsoft YaHei"/>
                <a:ea typeface="Microsoft YaHei"/>
              </a:rPr>
              <a:t>Hybrid Search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334050"/>
                </a:solidFill>
                <a:latin typeface="Microsoft YaHei"/>
                <a:ea typeface="Microsoft YaHei"/>
              </a:rPr>
              <a:t>Reranker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334050"/>
                </a:solidFill>
                <a:latin typeface="Microsoft YaHei"/>
                <a:ea typeface="Microsoft YaHei"/>
              </a:rPr>
              <a:t>Metadata Filter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334050"/>
                </a:solidFill>
                <a:latin typeface="Microsoft YaHei"/>
                <a:ea typeface="Microsoft YaHei"/>
              </a:rPr>
              <a:t>ANN 调参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55900" y="2057400"/>
            <a:ext cx="2079894" cy="457200"/>
          </a:xfrm>
          <a:prstGeom prst="roundRect">
            <a:avLst>
              <a:gd name="adj" fmla="val 12000"/>
            </a:avLst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55900" y="2176272"/>
            <a:ext cx="207989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</a:rPr>
              <a:t>知识库侧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55900" y="2514600"/>
            <a:ext cx="2079894" cy="233172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BBC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02204" y="2670048"/>
            <a:ext cx="1787286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334050"/>
                </a:solidFill>
                <a:latin typeface="Microsoft YaHei"/>
                <a:ea typeface="Microsoft YaHei"/>
              </a:rPr>
              <a:t>Graph RAG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334050"/>
                </a:solidFill>
                <a:latin typeface="Microsoft YaHei"/>
                <a:ea typeface="Microsoft YaHei"/>
              </a:rPr>
              <a:t>RAPTOR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334050"/>
                </a:solidFill>
                <a:latin typeface="Microsoft YaHei"/>
                <a:ea typeface="Microsoft YaHei"/>
              </a:rPr>
              <a:t>Hierarchical Index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334050"/>
                </a:solidFill>
                <a:latin typeface="Microsoft YaHei"/>
                <a:ea typeface="Microsoft YaHei"/>
              </a:rPr>
              <a:t>多模态/表格索引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00386" y="2057400"/>
            <a:ext cx="2079894" cy="457200"/>
          </a:xfrm>
          <a:prstGeom prst="roundRect">
            <a:avLst>
              <a:gd name="adj" fmla="val 12000"/>
            </a:avLst>
          </a:prstGeom>
          <a:solidFill>
            <a:srgbClr val="C05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00386" y="2176272"/>
            <a:ext cx="207989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</a:rPr>
              <a:t>检索后侧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00386" y="2514600"/>
            <a:ext cx="2079894" cy="233172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BBC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6690" y="2670048"/>
            <a:ext cx="1787286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334050"/>
                </a:solidFill>
                <a:latin typeface="Microsoft YaHei"/>
                <a:ea typeface="Microsoft YaHei"/>
              </a:rPr>
              <a:t>Self-Reflection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334050"/>
                </a:solidFill>
                <a:latin typeface="Microsoft YaHei"/>
                <a:ea typeface="Microsoft YaHei"/>
              </a:rPr>
              <a:t>Corrective RAG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334050"/>
                </a:solidFill>
                <a:latin typeface="Microsoft YaHei"/>
                <a:ea typeface="Microsoft YaHei"/>
              </a:rPr>
              <a:t>上下文压缩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334050"/>
                </a:solidFill>
                <a:latin typeface="Microsoft YaHei"/>
                <a:ea typeface="Microsoft YaHei"/>
              </a:rPr>
              <a:t>引用与溯源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44872" y="2057400"/>
            <a:ext cx="2079894" cy="457200"/>
          </a:xfrm>
          <a:prstGeom prst="roundRect">
            <a:avLst>
              <a:gd name="adj" fmla="val 12000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44872" y="2176272"/>
            <a:ext cx="207989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</a:rPr>
              <a:t>编排侧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44872" y="2514600"/>
            <a:ext cx="2079894" cy="233172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BBC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1176" y="2670048"/>
            <a:ext cx="1787286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334050"/>
                </a:solidFill>
                <a:latin typeface="Microsoft YaHei"/>
                <a:ea typeface="Microsoft YaHei"/>
              </a:rPr>
              <a:t>Adaptive RAG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334050"/>
                </a:solidFill>
                <a:latin typeface="Microsoft YaHei"/>
                <a:ea typeface="Microsoft YaHei"/>
              </a:rPr>
              <a:t>ReAct Loop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334050"/>
                </a:solidFill>
                <a:latin typeface="Microsoft YaHei"/>
                <a:ea typeface="Microsoft YaHei"/>
              </a:rPr>
              <a:t>Router / Planner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150" b="0" i="0">
                <a:solidFill>
                  <a:srgbClr val="334050"/>
                </a:solidFill>
                <a:latin typeface="Microsoft YaHei"/>
                <a:ea typeface="Microsoft YaHei"/>
              </a:rPr>
              <a:t>FLARE · SELF-RAG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074920"/>
            <a:ext cx="11057839" cy="1691640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5248656"/>
            <a:ext cx="10582351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250" b="0" i="0">
                <a:solidFill>
                  <a:srgbClr val="1B2533"/>
                </a:solidFill>
                <a:latin typeface="Microsoft YaHei"/>
                <a:ea typeface="Microsoft YaHei"/>
              </a:rPr>
              <a:t>怎么读这张图:一条 query 进来到答案出去,每个环节都能加一个「智能」环节;它们的共同点是引入反馈与决策 —— 要么改问题(查询侧),要么改证据(知识库/检索侧),要么改答案(检索后侧),要么决定整条流程走不走(编排侧)。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7A8696"/>
                </a:solidFill>
                <a:latin typeface="Microsoft YaHei"/>
                <a:ea typeface="Microsoft YaHei"/>
              </a:rPr>
              <a:t>接下来按环逐一展开:Query Rewrite / Multi-Query → Adaptive RAG → Graph RAG → RAPTOR → Reranker → Self-correction &amp; Corrective RAG。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F5CA8"/>
                </a:solidFill>
                <a:latin typeface="Microsoft YaHei"/>
                <a:ea typeface="Microsoft YaHei"/>
              </a:rPr>
              <a:t>PART 2 · AGENTIC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1727" y="3108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7A8696"/>
                </a:solidFill>
                <a:latin typeface="Microsoft YaHei"/>
                <a:ea typeface="Microsoft YaHei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 i="0">
                <a:solidFill>
                  <a:srgbClr val="1B2533"/>
                </a:solidFill>
                <a:latin typeface="Microsoft YaHei"/>
                <a:ea typeface="Microsoft YaHei"/>
              </a:rPr>
              <a:t>查询侧(1):Query Rewrite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051560" cy="50292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7A8696"/>
                </a:solidFill>
                <a:latin typeface="Microsoft YaHei"/>
                <a:ea typeface="Microsoft YaHei"/>
              </a:rPr>
              <a:t>用户说的话 ≠ 能召回的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38528"/>
            <a:ext cx="5760720" cy="2011680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121408"/>
            <a:ext cx="530352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1" i="0">
                <a:solidFill>
                  <a:srgbClr val="1F5CA8"/>
                </a:solidFill>
                <a:latin typeface="Microsoft YaHei"/>
                <a:ea typeface="Microsoft YaHei"/>
              </a:rPr>
              <a:t>要解决什么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指代消解:「它多少钱」→ 补全为「XX 方案多少钱」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口语 → 术语:把用户口语映射到知识库里的正式表述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多轮上下文补全:把历史对话压缩进当前 query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4114800"/>
          <a:ext cx="5760719" cy="1261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5672"/>
                <a:gridCol w="4015047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方法</a:t>
                      </a:r>
                    </a:p>
                  </a:txBody>
                  <a:tcPr marL="82296" marR="64008" marT="27432" marB="27432" anchor="ctr">
                    <a:solidFill>
                      <a:srgbClr val="1F5CA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做法</a:t>
                      </a:r>
                    </a:p>
                  </a:txBody>
                  <a:tcPr marL="82296" marR="64008" marT="27432" marB="27432" anchor="ctr">
                    <a:solidFill>
                      <a:srgbClr val="1F5CA8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LLM 重写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一次 LLM 调用,把原 query 改写为检索友好形式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HyDE</a:t>
                      </a:r>
                    </a:p>
                  </a:txBody>
                  <a:tcPr marL="82296" marR="64008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先让 LLM 生成一段假想答案,再用它去检索(文档空间更接近)</a:t>
                      </a:r>
                    </a:p>
                  </a:txBody>
                  <a:tcPr marL="82296" marR="64008" marT="27432" marB="27432" anchor="ctr">
                    <a:solidFill>
                      <a:srgbClr val="F4F7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Step-back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先问一个更抽象的上位问题,再检索(提升推理题召回)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693408" y="1938528"/>
            <a:ext cx="4931359" cy="3959352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BBC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94576" y="2103120"/>
            <a:ext cx="4529023" cy="3630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F5CA8"/>
                </a:solidFill>
                <a:latin typeface="Microsoft YaHei"/>
                <a:ea typeface="Microsoft YaHei"/>
              </a:rPr>
              <a:t>占位:重写前后对比示例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7A8696"/>
                </a:solidFill>
                <a:latin typeface="Microsoft YaHei"/>
                <a:ea typeface="Microsoft YaHei"/>
              </a:rPr>
              <a:t>建议贴 1~2 个真实 case:原 query、重写后 query、原本召回什么 / 重写后召回什么(附相似度分数)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F5CA8"/>
                </a:solidFill>
                <a:latin typeface="Microsoft YaHei"/>
                <a:ea typeface="Microsoft YaHei"/>
              </a:rPr>
              <a:t>PART 2 · AGENTIC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1727" y="3108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7A8696"/>
                </a:solidFill>
                <a:latin typeface="Microsoft YaHei"/>
                <a:ea typeface="Microsoft YaHei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 i="0">
                <a:solidFill>
                  <a:srgbClr val="1B2533"/>
                </a:solidFill>
                <a:latin typeface="Microsoft YaHei"/>
                <a:ea typeface="Microsoft YaHei"/>
              </a:rPr>
              <a:t>查询侧(2):Multi-Query 与查询分解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051560" cy="50292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7A8696"/>
                </a:solidFill>
                <a:latin typeface="Microsoft YaHei"/>
                <a:ea typeface="Microsoft YaHei"/>
              </a:rPr>
              <a:t>一个向量召回不全,那就召多路再融合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38528"/>
            <a:ext cx="5760720" cy="2286000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121408"/>
            <a:ext cx="530352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1" i="0">
                <a:solidFill>
                  <a:srgbClr val="1F5CA8"/>
                </a:solidFill>
                <a:latin typeface="Microsoft YaHei"/>
                <a:ea typeface="Microsoft YaHei"/>
              </a:rPr>
              <a:t>Multi-Query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用 LLM 把原 query 改写成 N 个不同角度/措辞的 query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分别检索,合并候选集,再做去重与重排(常见 RRF 倒数排名融合)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收益:召回率提升,缓解「一句话只有一个向量」的表达瓶颈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代价:N 倍检索开销 + 需要融合排序;N 一般取 3~5 即可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498848"/>
            <a:ext cx="5760720" cy="1399032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BBC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4663440"/>
            <a:ext cx="53035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300" b="1" i="0">
                <a:solidFill>
                  <a:srgbClr val="1F5CA8"/>
                </a:solidFill>
                <a:latin typeface="Microsoft YaHei"/>
                <a:ea typeface="Microsoft YaHei"/>
              </a:rPr>
              <a:t>Query Decomposition(相关问题)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334050"/>
                </a:solidFill>
                <a:latin typeface="Microsoft YaHei"/>
                <a:ea typeface="Microsoft YaHei"/>
              </a:rPr>
              <a:t>把复合问题拆成子问题,分别检索后分别回答再汇总。例如「A 和 B 哪个更适合冷启动场景」→ 拆成「A 的冷启动能力」「B 的冷启动能力」两次检索。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93408" y="1938528"/>
            <a:ext cx="4931359" cy="3959352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BBC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94576" y="2103120"/>
            <a:ext cx="4529023" cy="3630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F5CA8"/>
                </a:solidFill>
                <a:latin typeface="Microsoft YaHei"/>
                <a:ea typeface="Microsoft YaHei"/>
              </a:rPr>
              <a:t>占位:Multi-Query 流程图 / RRF 公式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7A8696"/>
                </a:solidFill>
                <a:latin typeface="Microsoft YaHei"/>
                <a:ea typeface="Microsoft YaHei"/>
              </a:rPr>
              <a:t>建议画:query → LLM 生成 q1..q3 → 三路检索 → 合并去重 → rerank → top-k;并写 RRF: score = Σ 1/(k + rank_i)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F5CA8"/>
                </a:solidFill>
                <a:latin typeface="Microsoft YaHei"/>
                <a:ea typeface="Microsoft YaHei"/>
              </a:rPr>
              <a:t>PART 2 · AGENTIC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1727" y="3108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7A8696"/>
                </a:solidFill>
                <a:latin typeface="Microsoft YaHei"/>
                <a:ea typeface="Microsoft YaHei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 i="0">
                <a:solidFill>
                  <a:srgbClr val="1B2533"/>
                </a:solidFill>
                <a:latin typeface="Microsoft YaHei"/>
                <a:ea typeface="Microsoft YaHei"/>
              </a:rPr>
              <a:t>编排侧:Adaptive RAG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051560" cy="50292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7A8696"/>
                </a:solidFill>
                <a:latin typeface="Microsoft YaHei"/>
                <a:ea typeface="Microsoft YaHei"/>
              </a:rPr>
              <a:t>让系统自己决定「要不要检索、检索几次、检索多深」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38528"/>
            <a:ext cx="5760720" cy="3959352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139696"/>
            <a:ext cx="530352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1" i="0">
                <a:solidFill>
                  <a:srgbClr val="1F5CA8"/>
                </a:solidFill>
                <a:latin typeface="Microsoft YaHei"/>
                <a:ea typeface="Microsoft YaHei"/>
              </a:rPr>
              <a:t>核心思想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不是所有问题都需要检索。「1+1 等于几」走参数化知识就够,检索反而引入噪声和延迟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典型做法:先用一个轻量分类器/LLM 判断 query 复杂度,路由到三条路径之一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路径 A(不检索):直接由 LLM 回答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路径 B(单步检索):一次检索 + 生成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路径 C(多步检索):迭代检索、分解子问题、必要时重整 query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判断依据可以来自 query 分类、检索结果的相关性分数、或生成答案的置信度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93408" y="1938528"/>
            <a:ext cx="4931359" cy="3959352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BBC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6" y="2103120"/>
            <a:ext cx="4529023" cy="3630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F5CA8"/>
                </a:solidFill>
                <a:latin typeface="Microsoft YaHei"/>
                <a:ea typeface="Microsoft YaHei"/>
              </a:rPr>
              <a:t>占位:Adaptive RAG 路由流程图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7A8696"/>
                </a:solidFill>
                <a:latin typeface="Microsoft YaHei"/>
                <a:ea typeface="Microsoft YaHei"/>
              </a:rPr>
              <a:t>建议画:Query →(复杂度分类器)→ No Retrieval / Single-step / Multi-step 三条分支,并标注各自的延迟与成本差异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F5CA8"/>
                </a:solidFill>
                <a:latin typeface="Microsoft YaHei"/>
                <a:ea typeface="Microsoft YaHei"/>
              </a:rPr>
              <a:t>PART 2 · AGENTIC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1727" y="3108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7A8696"/>
                </a:solidFill>
                <a:latin typeface="Microsoft YaHei"/>
                <a:ea typeface="Microsoft YaHei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 i="0">
                <a:solidFill>
                  <a:srgbClr val="1B2533"/>
                </a:solidFill>
                <a:latin typeface="Microsoft YaHei"/>
                <a:ea typeface="Microsoft YaHei"/>
              </a:rPr>
              <a:t>知识库侧(1):Graph RAG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051560" cy="50292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7A8696"/>
                </a:solidFill>
                <a:latin typeface="Microsoft YaHei"/>
                <a:ea typeface="Microsoft YaHei"/>
              </a:rPr>
              <a:t>当答案需要跨多个文档「连起来」时,向量检索会失效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38528"/>
            <a:ext cx="5760720" cy="2148840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121408"/>
            <a:ext cx="53035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1" i="0">
                <a:solidFill>
                  <a:srgbClr val="1F5CA8"/>
                </a:solidFill>
                <a:latin typeface="Microsoft YaHei"/>
                <a:ea typeface="Microsoft YaHei"/>
              </a:rPr>
              <a:t>解决什么问题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全局性问题:「整个语料库的主要主题是什么」—— 单个 chunk 里没有这个答案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多跳问题:「A 的供应商的 CEO 还投资了哪些公司」—— 需要沿关系链走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向量 Top-K 只能给「相似的片段」,给不了「关系结构」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361688"/>
            <a:ext cx="5760720" cy="1536192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4535424"/>
            <a:ext cx="530352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400" b="1" i="0">
                <a:solidFill>
                  <a:srgbClr val="1F5CA8"/>
                </a:solidFill>
                <a:latin typeface="Microsoft YaHei"/>
                <a:ea typeface="Microsoft YaHei"/>
              </a:rPr>
              <a:t>典型做法(Microsoft GraphRAG)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00" b="0" i="0">
                <a:solidFill>
                  <a:srgbClr val="334050"/>
                </a:solidFill>
                <a:latin typeface="Microsoft YaHei"/>
                <a:ea typeface="Microsoft YaHei"/>
              </a:rPr>
              <a:t>▪ 用 LLM 从每个 chunk 抽实体 + 关系 + 声称(claim),构建知识图谱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00" b="0" i="0">
                <a:solidFill>
                  <a:srgbClr val="334050"/>
                </a:solidFill>
                <a:latin typeface="Microsoft YaHei"/>
                <a:ea typeface="Microsoft YaHei"/>
              </a:rPr>
              <a:t>▪ 对社区(community)做分层聚类,并为每个社区预生成摘要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00" b="0" i="0">
                <a:solidFill>
                  <a:srgbClr val="334050"/>
                </a:solidFill>
                <a:latin typeface="Microsoft YaHei"/>
                <a:ea typeface="Microsoft YaHei"/>
              </a:rPr>
              <a:t>▪ 查询时:局部检索走实体邻域;全局问题走社区摘要 map-reduce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93408" y="1938528"/>
            <a:ext cx="4931359" cy="3959352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BBC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94576" y="2103120"/>
            <a:ext cx="4529023" cy="3630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F5CA8"/>
                </a:solidFill>
                <a:latin typeface="Microsoft YaHei"/>
                <a:ea typeface="Microsoft YaHei"/>
              </a:rPr>
              <a:t>占位:知识图谱示意 + 社区分层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7A8696"/>
                </a:solidFill>
                <a:latin typeface="Microsoft YaHei"/>
                <a:ea typeface="Microsoft YaHei"/>
              </a:rPr>
              <a:t>建议画:实体节点+关系边的小图,外面用不同颜色的圈表示社区层级;并贴一个全局问题的 map-reduce 结果示例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F5CA8"/>
                </a:solidFill>
                <a:latin typeface="Microsoft YaHei"/>
                <a:ea typeface="Microsoft YaHei"/>
              </a:rPr>
              <a:t>PART 2 · AGENTIC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1727" y="3108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7A8696"/>
                </a:solidFill>
                <a:latin typeface="Microsoft YaHei"/>
                <a:ea typeface="Microsoft YaHei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 i="0">
                <a:solidFill>
                  <a:srgbClr val="1B2533"/>
                </a:solidFill>
                <a:latin typeface="Microsoft YaHei"/>
                <a:ea typeface="Microsoft YaHei"/>
              </a:rPr>
              <a:t>知识库侧(2):RAPTOR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051560" cy="50292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7A8696"/>
                </a:solidFill>
                <a:latin typeface="Microsoft YaHei"/>
                <a:ea typeface="Microsoft YaHei"/>
              </a:rPr>
              <a:t>Recursive Abstractive Processing for Tree-Organized Retrieval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38528"/>
            <a:ext cx="5760720" cy="3959352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139696"/>
            <a:ext cx="530352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1" i="0">
                <a:solidFill>
                  <a:srgbClr val="1F5CA8"/>
                </a:solidFill>
                <a:latin typeface="Microsoft YaHei"/>
                <a:ea typeface="Microsoft YaHei"/>
              </a:rPr>
              <a:t>基本思路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把文档自底向上做「递归摘要」,构建一棵多层的树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叶子层:原始 chunk;上层:对相邻 chunk 聚类后的 LLM 摘要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递归进行直到形成根节点——根节点就是整篇文档的抽象摘要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所有层级的节点都各自生成 embedding,一起进向量库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400" b="1" i="0">
                <a:solidFill>
                  <a:srgbClr val="1F5CA8"/>
                </a:solidFill>
                <a:latin typeface="Microsoft YaHei"/>
                <a:ea typeface="Microsoft YaHei"/>
              </a:rPr>
              <a:t>检索时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一次查询可同时命中原 chunk(细节)和上层摘要(全局)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等价于「让检索器自己决定要看细节还是看梗概」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常见增强:用 collapsed tree(所有节点平铺一层)或 tree traversal 两种检索策略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93408" y="1938528"/>
            <a:ext cx="4931359" cy="3959352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BBC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6" y="2103120"/>
            <a:ext cx="4529023" cy="3630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F5CA8"/>
                </a:solidFill>
                <a:latin typeface="Microsoft YaHei"/>
                <a:ea typeface="Microsoft YaHei"/>
              </a:rPr>
              <a:t>占位:RAPTOR 树结构图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7A8696"/>
                </a:solidFill>
                <a:latin typeface="Microsoft YaHei"/>
                <a:ea typeface="Microsoft YaHei"/>
              </a:rPr>
              <a:t>建议画:底部 6~8 个 chunk → 上一层 3 个聚类摘要 → 顶层 1 个根摘要,并标出 query 命中的两个不同层级节点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F5CA8"/>
                </a:solidFill>
                <a:latin typeface="Microsoft YaHei"/>
                <a:ea typeface="Microsoft YaHei"/>
              </a:rPr>
              <a:t>PART 2 · AGENTIC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1727" y="3108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7A8696"/>
                </a:solidFill>
                <a:latin typeface="Microsoft YaHei"/>
                <a:ea typeface="Microsoft YaHei"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 i="0">
                <a:solidFill>
                  <a:srgbClr val="1B2533"/>
                </a:solidFill>
                <a:latin typeface="Microsoft YaHei"/>
                <a:ea typeface="Microsoft YaHei"/>
              </a:rPr>
              <a:t>检索侧:Reranker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051560" cy="50292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7A8696"/>
                </a:solidFill>
                <a:latin typeface="Microsoft YaHei"/>
                <a:ea typeface="Microsoft YaHei"/>
              </a:rPr>
              <a:t>召回可以宽,排序必须准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38528"/>
            <a:ext cx="5669280" cy="2194560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121408"/>
            <a:ext cx="521208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1" i="0">
                <a:solidFill>
                  <a:srgbClr val="1F5CA8"/>
                </a:solidFill>
                <a:latin typeface="Microsoft YaHei"/>
                <a:ea typeface="Microsoft YaHei"/>
              </a:rPr>
              <a:t>两阶段检索(Recall → Precision)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第一阶段(召回):Bi-Encoder + ANN,从百万级里快速取 top-100,追求「不漏」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第二阶段(重排):Cross-Encoder 逐个精算 query-doc 相关性,输出 top-5,追求「最准」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为什么必须两段:Cross-Encoder 精度高但无法预计算,只能作用在小候选集上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315968"/>
            <a:ext cx="5669280" cy="1581912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BBC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4480560"/>
            <a:ext cx="52120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 i="0">
                <a:solidFill>
                  <a:srgbClr val="1F5CA8"/>
                </a:solidFill>
                <a:latin typeface="Microsoft YaHei"/>
                <a:ea typeface="Microsoft YaHei"/>
              </a:rPr>
              <a:t>工程实践要点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0" i="0">
                <a:solidFill>
                  <a:srgbClr val="334050"/>
                </a:solidFill>
                <a:latin typeface="Microsoft YaHei"/>
                <a:ea typeface="Microsoft YaHei"/>
              </a:rPr>
              <a:t>▪ 候选集大小是主要调参项:50~100 通常是最佳区间,再往上收益递减、延迟线性增长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150" b="0" i="0">
                <a:solidFill>
                  <a:srgbClr val="334050"/>
                </a:solidFill>
                <a:latin typeface="Microsoft YaHei"/>
                <a:ea typeface="Microsoft YaHei"/>
              </a:rPr>
              <a:t>▪ 常用模型:bge-reranker 系列、Qwen3-Reranker、Cohere Rerank 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1968" y="1938528"/>
            <a:ext cx="5022799" cy="3959352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BBC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03136" y="2103120"/>
            <a:ext cx="4620463" cy="3630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F5CA8"/>
                </a:solidFill>
                <a:latin typeface="Microsoft YaHei"/>
                <a:ea typeface="Microsoft YaHei"/>
              </a:rPr>
              <a:t>占位:Rerank 前后 top-k 对比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7A8696"/>
                </a:solidFill>
                <a:latin typeface="Microsoft YaHei"/>
                <a:ea typeface="Microsoft YaHei"/>
              </a:rPr>
              <a:t>建议贴真实 case:同一 query 的 rerank 前 top-5 与后 top-5,标出相似度/相关性分数变化,以及最终答案质量差异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F5CA8"/>
                </a:solidFill>
                <a:latin typeface="Microsoft YaHei"/>
                <a:ea typeface="Microsoft YaHei"/>
              </a:rPr>
              <a:t>PART 2 · AGENTIC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1727" y="3108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7A8696"/>
                </a:solidFill>
                <a:latin typeface="Microsoft YaHei"/>
                <a:ea typeface="Microsoft YaHei"/>
              </a:rP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 i="0">
                <a:solidFill>
                  <a:srgbClr val="1B2533"/>
                </a:solidFill>
                <a:latin typeface="Microsoft YaHei"/>
                <a:ea typeface="Microsoft YaHei"/>
              </a:rPr>
              <a:t>检索后侧:Self-correction 与 ReAct 循环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051560" cy="50292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7A8696"/>
                </a:solidFill>
                <a:latin typeface="Microsoft YaHei"/>
                <a:ea typeface="Microsoft YaHei"/>
              </a:rPr>
              <a:t>检索完不等于结束 —— 要检查证据够不够、答案站不站得住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38528"/>
            <a:ext cx="5760720" cy="3959352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139696"/>
            <a:ext cx="530352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1" i="0">
                <a:solidFill>
                  <a:srgbClr val="1F5CA8"/>
                </a:solidFill>
                <a:latin typeface="Microsoft YaHei"/>
                <a:ea typeface="Microsoft YaHei"/>
              </a:rPr>
              <a:t>Self-correction 的两个检查点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检索后检查:召回的文档真的相关吗?不相关就重写 query 重检索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生成后检查:答案的每一句有引用支撑吗?无支撑就标注或重答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实现方式:额外的 LLM 调用做 critique,或训练专门的判别模型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400" b="1" i="0">
                <a:solidFill>
                  <a:srgbClr val="1F5CA8"/>
                </a:solidFill>
                <a:latin typeface="Microsoft YaHei"/>
                <a:ea typeface="Microsoft YaHei"/>
              </a:rPr>
              <a:t>ReAct 循环:Reason → Act → Observe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把「检索」变成 agent 的一个 tool,由模型自己决定调用时机与参数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多轮循环:想一步 → 调工具 → 看结果 → 再决定下一步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与 Native RAG 的本质区别:检索次数和 query 内容不再由代码写死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93408" y="1938528"/>
            <a:ext cx="4931359" cy="3959352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BBC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6" y="2103120"/>
            <a:ext cx="4529023" cy="3630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F5CA8"/>
                </a:solidFill>
                <a:latin typeface="Microsoft YaHei"/>
                <a:ea typeface="Microsoft YaHei"/>
              </a:rPr>
              <a:t>占位:ReAct 轨迹示例(Thought/Action/Observation)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7A8696"/>
                </a:solidFill>
                <a:latin typeface="Microsoft YaHei"/>
                <a:ea typeface="Microsoft YaHei"/>
              </a:rPr>
              <a:t>建议贴一条真实的多轮轨迹,展示模型如何先查 A、发现不够、再查 B;并标注每步的延迟与 token 消耗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F5CA8"/>
                </a:solidFill>
                <a:latin typeface="Microsoft YaHei"/>
                <a:ea typeface="Microsoft YaHei"/>
              </a:rPr>
              <a:t>PART 2 · AGENTIC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1727" y="3108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7A8696"/>
                </a:solidFill>
                <a:latin typeface="Microsoft YaHei"/>
                <a:ea typeface="Microsoft YaHei"/>
              </a:rP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 i="0">
                <a:solidFill>
                  <a:srgbClr val="1B2533"/>
                </a:solidFill>
                <a:latin typeface="Microsoft YaHei"/>
                <a:ea typeface="Microsoft YaHei"/>
              </a:rPr>
              <a:t>检索后侧:Corrective RAG (CRAG)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051560" cy="50292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7A8696"/>
                </a:solidFill>
                <a:latin typeface="Microsoft YaHei"/>
                <a:ea typeface="Microsoft YaHei"/>
              </a:rPr>
              <a:t>给检索结果加一个「质量闸门」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38528"/>
            <a:ext cx="5760720" cy="2057400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121408"/>
            <a:ext cx="53035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1" i="0">
                <a:solidFill>
                  <a:srgbClr val="1F5CA8"/>
                </a:solidFill>
                <a:latin typeface="Microsoft YaHei"/>
                <a:ea typeface="Microsoft YaHei"/>
              </a:rPr>
              <a:t>三步流程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00" b="0" i="0">
                <a:solidFill>
                  <a:srgbClr val="334050"/>
                </a:solidFill>
                <a:latin typeface="Microsoft YaHei"/>
                <a:ea typeface="Microsoft YaHei"/>
              </a:rPr>
              <a:t>▪ ① 评估:一个轻量评估器给每个召回的文档打相关性分(模型自评或专门训练的检索评估器)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00" b="0" i="0">
                <a:solidFill>
                  <a:srgbClr val="334050"/>
                </a:solidFill>
                <a:latin typeface="Microsoft YaHei"/>
                <a:ea typeface="Microsoft YaHei"/>
              </a:rPr>
              <a:t>▪ ② 分档:按分数把结果分为 Correct / Incorrect / Ambiguous 三档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00" b="0" i="0">
                <a:solidFill>
                  <a:srgbClr val="334050"/>
                </a:solidFill>
                <a:latin typeface="Microsoft YaHei"/>
                <a:ea typeface="Microsoft YaHei"/>
              </a:rPr>
              <a:t>▪ ③ 动作:按档位决定后续流程(纠正检索 / 走 web 搜索 / 直接生成)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4160520"/>
          <a:ext cx="5760720" cy="1261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62"/>
                <a:gridCol w="1584198"/>
                <a:gridCol w="288036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档位</a:t>
                      </a:r>
                    </a:p>
                  </a:txBody>
                  <a:tcPr marL="82296" marR="64008" marT="27432" marB="27432" anchor="ctr">
                    <a:solidFill>
                      <a:srgbClr val="1F5CA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含义</a:t>
                      </a:r>
                    </a:p>
                  </a:txBody>
                  <a:tcPr marL="82296" marR="64008" marT="27432" marB="27432" anchor="ctr">
                    <a:solidFill>
                      <a:srgbClr val="1F5CA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动作</a:t>
                      </a:r>
                    </a:p>
                  </a:txBody>
                  <a:tcPr marL="82296" marR="64008" marT="27432" marB="27432" anchor="ctr">
                    <a:solidFill>
                      <a:srgbClr val="1F5CA8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Correct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相关且可靠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直接用于生成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Incorrect</a:t>
                      </a:r>
                    </a:p>
                  </a:txBody>
                  <a:tcPr marL="82296" marR="64008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不相关</a:t>
                      </a:r>
                    </a:p>
                  </a:txBody>
                  <a:tcPr marL="82296" marR="64008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丢弃,改写 query 重检索或转向外部搜索</a:t>
                      </a:r>
                    </a:p>
                  </a:txBody>
                  <a:tcPr marL="82296" marR="64008" marT="27432" marB="27432" anchor="ctr">
                    <a:solidFill>
                      <a:srgbClr val="F4F7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Ambiguous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部分相关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两者结合:知识库 + 外部搜索融合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693408" y="1938528"/>
            <a:ext cx="4931359" cy="3959352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BBC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94576" y="2103120"/>
            <a:ext cx="4529023" cy="3630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F5CA8"/>
                </a:solidFill>
                <a:latin typeface="Microsoft YaHei"/>
                <a:ea typeface="Microsoft YaHei"/>
              </a:rPr>
              <a:t>占位:CRAG 流程框图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7A8696"/>
                </a:solidFill>
                <a:latin typeface="Microsoft YaHei"/>
                <a:ea typeface="Microsoft YaHei"/>
              </a:rPr>
              <a:t>建议画:Query → Retriever → Evaluator(打分)→ 三分支(Correct 精炼 / Incorrect 弃用+改写 / Ambiguous 融合)→ Generator;可加 web search 作为备选知识源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F5CA8"/>
                </a:solidFill>
                <a:latin typeface="Microsoft YaHei"/>
                <a:ea typeface="Microsoft YaHei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1727" y="3108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7A8696"/>
                </a:solidFill>
                <a:latin typeface="Microsoft YaHei"/>
                <a:ea typeface="Microsoft YaHei"/>
              </a:rP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 i="0">
                <a:solidFill>
                  <a:srgbClr val="1B2533"/>
                </a:solidFill>
                <a:latin typeface="Microsoft YaHei"/>
                <a:ea typeface="Microsoft YaHei"/>
              </a:rPr>
              <a:t>小结与落地建议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051560" cy="50292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7A8696"/>
                </a:solidFill>
                <a:latin typeface="Microsoft YaHei"/>
                <a:ea typeface="Microsoft YaHei"/>
              </a:rPr>
              <a:t>从「换模型」到「加回路」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38528"/>
            <a:ext cx="5852160" cy="2194560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121408"/>
            <a:ext cx="539496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1" i="0">
                <a:solidFill>
                  <a:srgbClr val="1F5CA8"/>
                </a:solidFill>
                <a:latin typeface="Microsoft YaHei"/>
                <a:ea typeface="Microsoft YaHei"/>
              </a:rPr>
              <a:t>Part 1 一句话总结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BERT 给了双向理解,但没有句子级目标 → SBERT 用 Siamese + 对比学习补上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MTEB 让模型可比,BGE 让中文可用,Decoder-only 路线(NV-Embed / Qwen3)让 LLM 直接变成检索器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选型顺序:先看榜单找候选 → 再用自己的业务数据做小评测 → 最后看维度/延迟/成本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84848" y="1938528"/>
            <a:ext cx="4839919" cy="2194560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22592" y="2121408"/>
            <a:ext cx="4602175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1" i="0">
                <a:solidFill>
                  <a:srgbClr val="C0502A"/>
                </a:solidFill>
                <a:latin typeface="Microsoft YaHei"/>
                <a:ea typeface="Microsoft YaHei"/>
              </a:rPr>
              <a:t>Part 2 一句话总结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Native RAG 的瓶颈在「没有反馈」:切分固定、检索单路、召错就编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Agentic RAG = 在流水线各环节插入决策与修正:改问题 / 改证据 / 改答案 / 改流程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技巧不是越多越好,先量测瓶颈在哪一环,再对症下药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270248"/>
            <a:ext cx="11057839" cy="1627632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BBC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443984"/>
            <a:ext cx="10582351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 i="0">
                <a:solidFill>
                  <a:srgbClr val="1F5CA8"/>
                </a:solidFill>
                <a:latin typeface="Microsoft YaHei"/>
                <a:ea typeface="Microsoft YaHei"/>
              </a:rPr>
              <a:t>Q&amp;A / 讨论占位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 i="0">
                <a:solidFill>
                  <a:srgbClr val="334050"/>
                </a:solidFill>
                <a:latin typeface="Microsoft YaHei"/>
                <a:ea typeface="Microsoft YaHei"/>
              </a:rPr>
              <a:t>· 我们自己的业务场景里,最想先试哪一个技巧?为什么?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 i="0">
                <a:solidFill>
                  <a:srgbClr val="334050"/>
                </a:solidFill>
                <a:latin typeface="Microsoft YaHei"/>
                <a:ea typeface="Microsoft YaHei"/>
              </a:rPr>
              <a:t>· 如果只能在「换更好的 embedding」和「加一个 reranker」之间选一个,你选哪个?为什么?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50" b="0" i="0">
                <a:solidFill>
                  <a:srgbClr val="334050"/>
                </a:solidFill>
                <a:latin typeface="Microsoft YaHei"/>
                <a:ea typeface="Microsoft YaHei"/>
              </a:rPr>
              <a:t>· 讨论:GraphRAG 的索引成本在你的数据量下能接受吗?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F5CA8"/>
                </a:solidFill>
                <a:latin typeface="Microsoft YaHei"/>
                <a:ea typeface="Microsoft YaHei"/>
              </a:rPr>
              <a:t>PART 2 · AGENTIC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1727" y="3108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7A8696"/>
                </a:solidFill>
                <a:latin typeface="Microsoft YaHei"/>
                <a:ea typeface="Microsoft YaHei"/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 i="0">
                <a:solidFill>
                  <a:srgbClr val="1B2533"/>
                </a:solidFill>
                <a:latin typeface="Microsoft YaHei"/>
                <a:ea typeface="Microsoft YaHei"/>
              </a:rPr>
              <a:t>编排框架对比:LangGraph、LlamaIndex 与其他主流选择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051560" cy="50292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7A8696"/>
                </a:solidFill>
                <a:latin typeface="Microsoft YaHei"/>
                <a:ea typeface="Microsoft YaHei"/>
              </a:rPr>
              <a:t>生产里的「Agentic RAG」很大程度上是框架选择:谁来决定下一步,状态存在哪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956816"/>
          <a:ext cx="11057837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9603"/>
                <a:gridCol w="1749658"/>
                <a:gridCol w="3849247"/>
                <a:gridCol w="3429329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框架</a:t>
                      </a:r>
                    </a:p>
                  </a:txBody>
                  <a:tcPr marL="82296" marR="64008" marT="27432" marB="27432" anchor="ctr">
                    <a:solidFill>
                      <a:srgbClr val="1F5CA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范式</a:t>
                      </a:r>
                    </a:p>
                  </a:txBody>
                  <a:tcPr marL="82296" marR="64008" marT="27432" marB="27432" anchor="ctr">
                    <a:solidFill>
                      <a:srgbClr val="1F5CA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核心机制</a:t>
                      </a:r>
                    </a:p>
                  </a:txBody>
                  <a:tcPr marL="82296" marR="64008" marT="27432" marB="27432" anchor="ctr">
                    <a:solidFill>
                      <a:srgbClr val="1F5CA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适合场景</a:t>
                      </a:r>
                    </a:p>
                  </a:txBody>
                  <a:tcPr marL="82296" marR="64008" marT="27432" marB="27432" anchor="ctr">
                    <a:solidFill>
                      <a:srgbClr val="1F5CA8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纯 Python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手写控制流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一步一个函数,循环和状态自己管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先做诚实基线,不要一上来就引入依赖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LangGraph</a:t>
                      </a:r>
                    </a:p>
                  </a:txBody>
                  <a:tcPr marL="82296" marR="64008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图 / 状态机</a:t>
                      </a:r>
                    </a:p>
                  </a:txBody>
                  <a:tcPr marL="82296" marR="64008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节点 + 边 + 共享的类型化 State;checkpointer 持久化每一步;原生 interrupt 支持 human-in-the-loop</a:t>
                      </a:r>
                    </a:p>
                  </a:txBody>
                  <a:tcPr marL="82296" marR="64008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控制流需要显式、可审计 —— Agentic RAG 的默认选择</a:t>
                      </a:r>
                    </a:p>
                  </a:txBody>
                  <a:tcPr marL="82296" marR="64008" marT="27432" marB="27432" anchor="ctr">
                    <a:solidFill>
                      <a:srgbClr val="F4F7FB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LlamaIndex Workflows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事件驱动步骤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Step 订阅并发出事件(async);retriever / index / parser / query engine 一等公民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以检索和索引为核心的流水线,需要自定义控制流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CrewAI</a:t>
                      </a:r>
                    </a:p>
                  </a:txBody>
                  <a:tcPr marL="82296" marR="64008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角色多智能体</a:t>
                      </a:r>
                    </a:p>
                  </a:txBody>
                  <a:tcPr marL="82296" marR="64008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Agent 带角色、目标、工具;sequential 或 hierarchical 流程派发任务</a:t>
                      </a:r>
                    </a:p>
                  </a:txBody>
                  <a:tcPr marL="82296" marR="64008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多角色协作(调研 → 分析 → 撰写),原型速度最快</a:t>
                      </a:r>
                    </a:p>
                  </a:txBody>
                  <a:tcPr marL="82296" marR="64008" marT="27432" marB="27432" anchor="ctr">
                    <a:solidFill>
                      <a:srgbClr val="F4F7FB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AutoGen / AG2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对话式多智能体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Agent 之间对话,group chat 由 manager 调度;带代码执行沙箱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研究型多智能体对话、需要执行代码的场景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Pydantic AI</a:t>
                      </a:r>
                    </a:p>
                  </a:txBody>
                  <a:tcPr marL="82296" marR="64008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类型安全 Agent</a:t>
                      </a:r>
                    </a:p>
                  </a:txBody>
                  <a:tcPr marL="82296" marR="64008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Pydantic 校验结构化输出与依赖注入;配 FastAPI 很自然</a:t>
                      </a:r>
                    </a:p>
                  </a:txBody>
                  <a:tcPr marL="82296" marR="64008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要求 schema 保证、不想要魔法抽象</a:t>
                      </a:r>
                    </a:p>
                  </a:txBody>
                  <a:tcPr marL="82296" marR="64008" marT="27432" marB="27432" anchor="ctr">
                    <a:solidFill>
                      <a:srgbClr val="F4F7FB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Semantic Kernel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Plugin / Planner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Skill 与 plugin 交由 planner 编排;.NET 与企业集成强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企业技术栈,尤其是 .NET 与已有 connector</a:t>
                      </a:r>
                    </a:p>
                  </a:txBody>
                  <a:tcPr marL="82296" marR="64008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DSPy</a:t>
                      </a:r>
                    </a:p>
                  </a:txBody>
                  <a:tcPr marL="82296" marR="64008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声明式优化</a:t>
                      </a:r>
                    </a:p>
                  </a:txBody>
                  <a:tcPr marL="82296" marR="64008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声明 module 与 signature,给一个 metric,compile 出 prompt —— 是优化而不是编排</a:t>
                      </a:r>
                    </a:p>
                  </a:txBody>
                  <a:tcPr marL="82296" marR="64008" marT="27432" marB="27432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334050"/>
                          </a:solidFill>
                          <a:latin typeface="Microsoft YaHei"/>
                          <a:ea typeface="Microsoft YaHei"/>
                        </a:rPr>
                        <a:t>流程稳定后,继续打磨 prompt / few-shot 质量</a:t>
                      </a:r>
                    </a:p>
                  </a:txBody>
                  <a:tcPr marL="82296" marR="64008" marT="27432" marB="27432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5989320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1" i="0">
                <a:solidFill>
                  <a:srgbClr val="1B2533"/>
                </a:solidFill>
                <a:latin typeface="Microsoft YaHei"/>
                <a:ea typeface="Microsoft YaHei"/>
              </a:rPr>
              <a:t>怎么选:1) 只需要一次检索 + 一次 LLM 调用,就别上框架;2) 需要分支、重试、人工审批 → 图(LangGraph);3) 难点在检索与索引 → LlamaIndex;4) 有多个明确角色 → CrewAI 或 AutoGen;5) 瓶颈是 prompt 质量 → DSPy;6) 无论选谁,一定要有 tracing、checkpointing 和可回放的状态。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834640"/>
            <a:ext cx="11057839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1" i="0">
                <a:solidFill>
                  <a:srgbClr val="9AA4B2"/>
                </a:solidFill>
                <a:latin typeface="Microsoft YaHei"/>
                <a:ea typeface="Microsoft YaHei"/>
              </a:rPr>
              <a:t>BACKUP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3600" b="1" i="0">
                <a:solidFill>
                  <a:srgbClr val="FFFFFF"/>
                </a:solidFill>
                <a:latin typeface="Microsoft YaHei"/>
                <a:ea typeface="Microsoft YaHei"/>
              </a:rPr>
              <a:t>备用材料:FLARE 与 SELF-RAG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B8BEC8"/>
                </a:solidFill>
                <a:latin typeface="Microsoft YaHei"/>
                <a:ea typeface="Microsoft YaHei"/>
              </a:rPr>
              <a:t>时间富余或有人问到「检索时机怎么判断」时展开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F5CA8"/>
                </a:solidFill>
                <a:latin typeface="Microsoft YaHei"/>
                <a:ea typeface="Microsoft YaHei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1727" y="3108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7A8696"/>
                </a:solidFill>
                <a:latin typeface="Microsoft YaHei"/>
                <a:ea typeface="Microsoft YaHei"/>
              </a:rP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 i="0">
                <a:solidFill>
                  <a:srgbClr val="1B2533"/>
                </a:solidFill>
                <a:latin typeface="Microsoft YaHei"/>
                <a:ea typeface="Microsoft YaHei"/>
              </a:rPr>
              <a:t>FLARE:用 LLM 自己的置信度决定要不要检索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051560" cy="50292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7A8696"/>
                </a:solidFill>
                <a:latin typeface="Microsoft YaHei"/>
                <a:ea typeface="Microsoft YaHei"/>
              </a:rPr>
              <a:t>Forward-Looking Active REtrieval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38528"/>
            <a:ext cx="5760720" cy="3959352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139696"/>
            <a:ext cx="530352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1" i="0">
                <a:solidFill>
                  <a:srgbClr val="1F5CA8"/>
                </a:solidFill>
                <a:latin typeface="Microsoft YaHei"/>
                <a:ea typeface="Microsoft YaHei"/>
              </a:rPr>
              <a:t>核心思想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不再「先生成完整答案再检查」,而是「边生成边判断」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生成到某一步时,如果模型对下一个内容没把握(low confidence),就触发一次检索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检索后再继续生成 —— 检索时机由模型的不确定性驱动,而不是由固定的流程决定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206240"/>
            <a:ext cx="5760720" cy="169164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BBC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4370832"/>
            <a:ext cx="53035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 i="0">
                <a:solidFill>
                  <a:srgbClr val="1F5CA8"/>
                </a:solidFill>
                <a:latin typeface="Microsoft YaHei"/>
                <a:ea typeface="Microsoft YaHei"/>
              </a:rPr>
              <a:t>两种触发方式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50" b="1" i="0">
                <a:solidFill>
                  <a:srgbClr val="1B2533"/>
                </a:solidFill>
                <a:latin typeface="Microsoft YaHei"/>
                <a:ea typeface="Microsoft YaHei"/>
              </a:rPr>
              <a:t>Direct:</a:t>
            </a:r>
            <a:r>
              <a:rPr sz="1150" b="0" i="0">
                <a:solidFill>
                  <a:srgbClr val="334050"/>
                </a:solidFill>
                <a:latin typeface="Microsoft YaHei"/>
                <a:ea typeface="Microsoft YaHei"/>
              </a:rPr>
              <a:t>生成下一句之前先看它的 confidence score(概率),如果偏低,就拿「这句话本身」去检索。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1B2533"/>
                </a:solidFill>
                <a:latin typeface="Microsoft YaHei"/>
                <a:ea typeface="Microsoft YaHei"/>
              </a:rPr>
              <a:t>Instruct:</a:t>
            </a:r>
            <a:r>
              <a:rPr sz="1150" b="0" i="0">
                <a:solidFill>
                  <a:srgbClr val="334050"/>
                </a:solidFill>
                <a:latin typeface="Microsoft YaHei"/>
                <a:ea typeface="Microsoft YaHei"/>
              </a:rPr>
              <a:t>根据当前已生成的句子,另外用一个 LLM 生成「用来 search 的 query」,再检索,把结果并回来继续生成。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93408" y="1938528"/>
            <a:ext cx="4931359" cy="3959352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BBC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94576" y="2103120"/>
            <a:ext cx="4529023" cy="3630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F5CA8"/>
                </a:solidFill>
                <a:latin typeface="Microsoft YaHei"/>
                <a:ea typeface="Microsoft YaHei"/>
              </a:rPr>
              <a:t>占位:FLARE 生成-检索交错流程图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7A8696"/>
                </a:solidFill>
                <a:latin typeface="Microsoft YaHei"/>
                <a:ea typeface="Microsoft YaHei"/>
              </a:rPr>
              <a:t>建议画:生成 … → confidence 低 → 构造 query → 检索 → 回填上下文 → 继续生成;标注 Direct / Instruct 两条分支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>
                <a:solidFill>
                  <a:srgbClr val="1F5CA8"/>
                </a:solidFill>
                <a:latin typeface="Microsoft YaHei"/>
                <a:ea typeface="Microsoft YaHei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1727" y="3108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7A8696"/>
                </a:solidFill>
                <a:latin typeface="Microsoft YaHei"/>
                <a:ea typeface="Microsoft YaHei"/>
              </a:rPr>
              <a:t>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700" b="1" i="0">
                <a:solidFill>
                  <a:srgbClr val="1B2533"/>
                </a:solidFill>
                <a:latin typeface="Microsoft YaHei"/>
                <a:ea typeface="Microsoft YaHei"/>
              </a:rPr>
              <a:t>SELF-RAG:训练模型自己做 critique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051560" cy="50292"/>
          </a:xfrm>
          <a:prstGeom prst="rect">
            <a:avLst/>
          </a:prstGeom>
          <a:solidFill>
            <a:srgbClr val="1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7A8696"/>
                </a:solidFill>
                <a:latin typeface="Microsoft YaHei"/>
                <a:ea typeface="Microsoft YaHei"/>
              </a:rPr>
              <a:t>Self-Reflective Retrieval-Augmented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38528"/>
            <a:ext cx="5760720" cy="3959352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139696"/>
            <a:ext cx="530352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400" b="1" i="0">
                <a:solidFill>
                  <a:srgbClr val="1F5CA8"/>
                </a:solidFill>
                <a:latin typeface="Microsoft YaHei"/>
                <a:ea typeface="Microsoft YaHei"/>
              </a:rPr>
              <a:t>和 FLARE / CRAG 的区别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FLARE 靠模型输出概率来触发检索;CRAG 外挂一个评估器打分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SELF-RAG 走第三条路:专门训练一个模型,让它在生成过程中自己产出 reflection token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400" b="1" i="0">
                <a:solidFill>
                  <a:srgbClr val="1F5CA8"/>
                </a:solidFill>
                <a:latin typeface="Microsoft YaHei"/>
                <a:ea typeface="Microsoft YaHei"/>
              </a:rPr>
              <a:t>四类 reflection token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Retrieve:当前需不需要检索(触发 retrieval trigger)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IsRel:检索到的段落相不相关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IsSup:生成的这句话有没有被证据支撑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IsUse:整体回答对用户有没有用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 i="0">
                <a:solidFill>
                  <a:srgbClr val="1F5CA8"/>
                </a:solidFill>
                <a:latin typeface="Microsoft YaHei"/>
                <a:ea typeface="Microsoft YaHei"/>
              </a:rPr>
              <a:t>训练方式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用 GPT-4 给语料打上 reflection token 的标注,再做有监督微调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34050"/>
                </a:solidFill>
                <a:latin typeface="Microsoft YaHei"/>
                <a:ea typeface="Microsoft YaHei"/>
              </a:rPr>
              <a:t>▪ 推理时可以用这些 token 的权重做加权解码,把「有证据支撑」的候选提到前面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93408" y="1938528"/>
            <a:ext cx="4931359" cy="3959352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12700">
            <a:solidFill>
              <a:srgbClr val="BBC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6" y="2103120"/>
            <a:ext cx="4529023" cy="3630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1" i="0">
                <a:solidFill>
                  <a:srgbClr val="1F5CA8"/>
                </a:solidFill>
                <a:latin typeface="Microsoft YaHei"/>
                <a:ea typeface="Microsoft YaHei"/>
              </a:rPr>
              <a:t>占位:reflection token 插入位置示意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7A8696"/>
                </a:solidFill>
                <a:latin typeface="Microsoft YaHei"/>
                <a:ea typeface="Microsoft YaHei"/>
              </a:rPr>
              <a:t>建议画:生成序列中交替出现 [Retrieve] / 段落 / [IsRel] / 句子 / [IsSup] / [IsUse];并对比「开/关检索」两种输出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BBC7D6"/>
                </a:solidFill>
                <a:latin typeface="Microsoft YaHei"/>
                <a:ea typeface="Microsoft YaHei"/>
              </a:rPr>
              <a:t>· 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606040"/>
            <a:ext cx="11057839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Microsoft YaHei"/>
                <a:ea typeface="Microsoft YaHei"/>
              </a:rPr>
              <a:t>Thanks &amp; Q&amp;A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9FB8D4"/>
                </a:solidFill>
                <a:latin typeface="Microsoft YaHei"/>
                <a:ea typeface="Microsoft YaHei"/>
              </a:rPr>
              <a:t>参考资料:SBERT (Reimers &amp; Gurevych, 2019) · MTEB (Muennighoff et al.) · BGE / C-MTEB (BAAI) · NV-Embed (NVIDIA) · Qwen3-Embedding (Alibaba) · RAPTOR · GraphRAG (Microsoft) · CRAG · FLARE · SELF-RAG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4617720"/>
            <a:ext cx="10692079" cy="914400"/>
          </a:xfrm>
          <a:prstGeom prst="roundRect">
            <a:avLst>
              <a:gd name="adj" fmla="val 5000"/>
            </a:avLst>
          </a:prstGeom>
          <a:solidFill>
            <a:srgbClr val="1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4800600"/>
            <a:ext cx="1023487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</a:rPr>
              <a:t>占位:联系方式 / 内部分享材料链接 / 代码仓库地址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