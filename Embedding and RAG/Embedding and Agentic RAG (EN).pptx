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5" r:id="rId30"/>
    <p:sldId id="284" r:id="rId31"/>
    <p:sldId id="286" r:id="rId32"/>
    <p:sldId id="287" r:id="rId33"/>
    <p:sldId id="288" r:id="rId34"/>
    <p:sldId id="289" r:id="rId3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85" d="100"/>
          <a:sy n="85" d="100"/>
        </p:scale>
        <p:origin x="398" y="5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368240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Cover slide. Frame the two storylines up front: (1) embeddings = representation quality, (2) RAG architecture = control flow. They meet in the middle: better embeddings make retrieval more accurate, smarter agents make retrieval better timed, better phrased, and self-correcting.</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Agenda slide. The two halves have different motivations: Part 1 is “how did the models get better”, Part 2 is “how did the system get smarter”. Worth saying out loud: in production the bottleneck is usually not model quality, it is that the system does not do the right thing at the right moment.</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Divider. One-line framing: the goal of an embedding model has never changed — compress meaning into a vector space where distance is meaningful. What changed is the training objective, the scale, and how we measure it.</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Plant the seed here: MLM is a token-level objective, so BERT natively returns token vectors. Getting a sentence embedding requires an extra step (CLS or mean pooling) — which is exactly the problem SBERT later solves. Also worth mentioning the input representation: token + segment + position embeddings, summed.</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Spend a moment on why these two tasks teach semantics. MLM learns distributed lexical, syntactic and world knowledge; NSP learns discourse coherence. Then name the limitation: NSP gives sentence-level supervision, but semantic similarity itself is never optimized directly — that is the motivation for SBERT.</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key transition. Fine-tuning BERT makes a great classifier but a poor embedding model: the Sentence-BERT paper reports STS Spearman around 0.5x for vanilla BERT CLS/mean embeddings. That gap is exactly what SBERT closes.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technical heart of Part 1. The real distinction is WHERE the interaction happens. A Cross-Encoder interacts in the middle layers, so it is accurate but not precomputable. A Bi-Encoder defers all interaction to a final dot product: slightly less accurate, but vectors can be precomputed and indexed with ANN. The 65 hours vs 5 seconds figures come from the SBERT paper (10k sentences).</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when each objective applies:</a:t>
            </a:r>
          </a:p>
          <a:p>
            <a:r>
              <a:t>1) Classification objective: concatenate u, v and |u-v|, then softmax — ideal when NLI-style labels exist (SNLI + MNLI give ~1M pairs).</a:t>
            </a:r>
          </a:p>
          <a:p>
            <a:r>
              <a:t>2) Regression objective: MSE directly on the cosine score — ideal when you have 1-5 similarity ratings.</a:t>
            </a:r>
          </a:p>
          <a:p>
            <a:r>
              <a:t>3) Triplet objective: max(||s_a - s_p|| - ||s_a - s_n|| + margin, 0) with anchor / positive / negative.</a:t>
            </a:r>
          </a:p>
          <a:p>
            <a:r>
              <a:t>Also stress that in-batch negatives are what make a large batch pay off.</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Always cite the source; quote magnitudes rather than exact numbers because the figures move with settings. The real lesson: how strong an embedding model is depends heavily on the training objective (loss + how pairs and negatives are constructed), not only on a bigger backbone.</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Why it matters: before MTEB, every model reported numbers on its own one or two datasets, so nothing was comparable. MTEB's value is a shared yardstick. Two common misuses to call out:</a:t>
            </a:r>
          </a:p>
          <a:p>
            <a:r>
              <a:t>1) A high leaderboard score does not mean it works on your data — always run a small eval on your own corpus;</a:t>
            </a:r>
          </a:p>
          <a:p>
            <a:r>
              <a:t>2) Know whether you are reading the Retrieval board or the STS board — Retrieval is what maps to RAG.</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Worth mentioning bge-m3's three selling points: multilingual (100+ languages), multi-granularity (up to 8192 tokens), and multi-vector output (dense + sparse + ColBERT-style multi-vector) so one encoding supports three retrieval modes. In practice BGE is the most common Chinese embedding choice, and if your audience works in English only, say so and pivot quickly to the training pipeline.</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Make the staging explicit: the three stages build on each other — pretrain the foundation, align the space with contrastive learning, then sharpen precision with supervised fine-tuning. RetroMAE is stage 1, teaching the backbone to compress and understand.</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point of this slide is data construction, not the formula. Stress that the ceiling of contrastive learning is largely set by how real the positives are and how hard the negatives are. In-batch negatives are free; mined hard negatives cost effort but pay more.</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Tie the three stages into one story: first learn to compress and understand (RetroMAE), then learn that distance means meaning (contrastive), then sharpen the hard boundaries with labels (fine-tuning with hard negatives). Remind the audience that leaderboard numbers are time-sensitive — talk trends, not absolute scores.</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big takeaway: an embedding model does not have to be the classic dual-encoder plus pooling shape. A general-purpose LLM with one aggregation layer can top the leaderboard. Also note the trend: the boundary between embedding models and LLMs is dissolving — Qwen3-Embedding takes the same route by unifying embedder and reranker on one base model.</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Continues the NV-Embed thread: LLM backbones as embedders. The practical appeal of Qwen3-Embedding is custom embedding dimensions, 32k context and broad language coverage, which makes it a popular self-hosted choice for multilingual and code retrieval.</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closes Part 1. Compare the three pooling philosophies side by side:</a:t>
            </a:r>
          </a:p>
          <a:p>
            <a:r>
              <a:t>BERT uses CLS, SBERT uses mean pooling, Qwen3 uses the last token (EOS).</a:t>
            </a:r>
          </a:p>
          <a:p>
            <a:r>
              <a:t>The line to remember: pooling follows the attention structure of the backbone — bidirectional encoders suit mean pooling, causal decoders suit the final position.</a:t>
            </a:r>
          </a:p>
          <a:p>
            <a:r>
              <a:t>The Yes/No logit reranker is elegant; if you have a demo, show top-5 before and after reranking.</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Divider. Bridge sentence: Part 1 was about making retrieval more accurate. Part 2 changes the angle — let the system decide when to retrieve, what to retrieve, and whether to trust what came back.</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motivation slide for Part 2 — make the pain concrete. Use a real example from your own project: a user asks “what is the price of plan A” while the document says “this plan is budgeted at about X”, so both the pronoun and the wording are misaligned and retrieval misses it.</a:t>
            </a:r>
          </a:p>
          <a:p>
            <a:r>
              <a:t>Closing line: Native RAG's problem is the missing feedback loop, so every agentic technique is really a decision or correction step inserted somewhere along the pipeline.</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densest slide in the deck — pause here for a couple of minutes. Do not read the terms one by one; emphasize the classification logic: four kinds of action plus one orchestrator. An audience that leaves with this framework retains far more than an audience that memorized ten nouns.</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Query Rewrite is the highest return-on-effort technique here: one extra LLM call, and it routinely fixes both multi-turn and colloquial-query failures.</a:t>
            </a:r>
          </a:p>
          <a:p>
            <a:r>
              <a:t>Watch the risk: a rewrite can hallucinate or drift from user intent. Validate key entities, or keep the original query in the mix and fuse the results.</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Multi-Query and the reranker are a natural pair: Multi-Query raises recall, the reranker squeezes the water out of the merged set. Present them together, because Multi-Query without reranking can actually hurt precision — you just added noise.</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Adaptive RAG is the flagship of the orchestration ring: it does not decide how a step is done, it decides whether and how long the pipeline runs.</a:t>
            </a:r>
          </a:p>
          <a:p>
            <a:r>
              <a:t>The biggest engineering win is cost and latency — pulling easy questions off the retrieval path saves tokens and time. Share your own routing split, e.g. 30% of queries need no retrieval.</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Be explicit about the cost: indexing calls the LLM over every chunk for extraction and then again for community summaries, so it can be 10x or more the cost of a plain vector index, and rebuilding after document changes is expensive.</a:t>
            </a:r>
          </a:p>
          <a:p>
            <a:r>
              <a:t>Conclusion: adopt GraphRAG only when global-summary or multi-hop questions are a large share of your traffic. Do not default to it because it is fashionable.</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Contrast with GraphRAG in one sentence: both add structure on the knowledge base side, but GraphRAG extracts an entity-relation graph while RAPTOR builds a summary hierarchy tree. RAPTOR fits corpora where one topic spans many passages and some questions are detail-oriented while others are global, and its indexing cost is far below GraphRAG's.</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highest-leverage and most frequently skipped step. Teams spend weeks swapping embedding models when adding a reranker would deliver a bigger gain with a far smaller change.</a:t>
            </a:r>
          </a:p>
          <a:p>
            <a:r>
              <a:t>Give a number from your own setup (a typical nDCG or Recall@5 lift) and be honest about the latency cost, since a cross-encoder scores every pair.</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Both the upside and the cost are obvious: self-correction converts wrong answers into refusals, but runaway loops blow up latency and spend. Always cap the number of iterations and set a budget.</a:t>
            </a:r>
          </a:p>
          <a:p>
            <a:r>
              <a:t>Reference the Reflexion / Self-RAG line of work: turning critique into part of the model's own output.</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Call out the difference from Self-RAG: CRAG is an engineered pattern with an external evaluator and bucketed actions, and it needs no model retraining. Self-RAG trains the model to emit reflection tokens itself, which is stronger but requires retraining.</a:t>
            </a:r>
          </a:p>
          <a:p>
            <a:r>
              <a:t>Practical advice: start with the CRAG-style evaluator plus rules, prove the value, and only then consider Self-RAG.</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Positioning: this slide sits after the wrap-up because it answers the natural next question — “this all sounds like a lot of plumbing, what do we build it with?”</a:t>
            </a:r>
          </a:p>
          <a:p>
            <a:r>
              <a:t>Lead with the framing line: every one of these frameworks does the same two jobs — it decides what happens next, and it holds the state. The differentiation is (a) explicit graph versus emergent agent behavior, (b) how mature the retrieval/indexing layer is, (c) how observable and replayable a failed run is.</a:t>
            </a:r>
          </a:p>
          <a:p>
            <a:r>
              <a:t>Sound engineering advice to give out loud: prototype agentic RAG with plain Python first, feel the pain, then adopt LangGraph (for flow) or LlamaIndex (for retrieval). Framework lock-in is real — the trace, the checkpoint and the state schema matter more than the star count.</a:t>
            </a:r>
          </a:p>
          <a:p>
            <a:r>
              <a:t>Do not start a framework war in the room: if someone asks “which is best?”, answer with the decision guide at the bottom rather than a ranking.</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Wrap-up. Leave 5-10 minutes for Q&amp;A. If you want a closer, prepare a live demo: the same question answered by Native RAG versus multi-query plus reranking.</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Backup slides. If the talk runs long, skip these two. If someone pushes on “how does the system decide when to retrieve?”, jump straight here.</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FLARE's value is retrieval on demand: an answer may trigger only one or two retrievals instead of querying at every step.</a:t>
            </a:r>
          </a:p>
          <a:p>
            <a:r>
              <a:t>Engineering notes: use token probabilities to compute confidence, and low-probability tokens are themselves a useful “time to look it up” signal. Frequent triggering makes latency unpredictable, so set thresholds and a hard cap on retrievals.</a:t>
            </a: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heaviest option: it needs retraining plus annotation from a strong model, which is expensive.</a:t>
            </a:r>
          </a:p>
          <a:p>
            <a:r>
              <a:t>In exchange, self-correction moves from a bolt-on pipeline into an intrinsic model capability, so inference no longer needs repeated extra LLM calls.</a:t>
            </a:r>
          </a:p>
          <a:p>
            <a:r>
              <a:t>Recommendation: unless there is a long-term commitment, validate the idea first with a CRAG-style bolt-on approach.</a:t>
            </a:r>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Closing slide. Read the reference list aloud, and always state the evaluation date when quoting leaderboard numbers.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9/24/2026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9/24/2026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2331720"/>
          </a:xfrm>
          <a:prstGeom prst="rect">
            <a:avLst/>
          </a:prstGeom>
          <a:solidFill>
            <a:srgbClr val="122A4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Rectangle 2"/>
          <p:cNvSpPr/>
          <p:nvPr/>
        </p:nvSpPr>
        <p:spPr>
          <a:xfrm>
            <a:off x="0" y="2331720"/>
            <a:ext cx="12191695" cy="64008"/>
          </a:xfrm>
          <a:prstGeom prst="rect">
            <a:avLst/>
          </a:prstGeom>
          <a:solidFill>
            <a:srgbClr val="1F5CA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 name="TextBox 3"/>
          <p:cNvSpPr txBox="1"/>
          <p:nvPr/>
        </p:nvSpPr>
        <p:spPr>
          <a:xfrm>
            <a:off x="658368" y="566928"/>
            <a:ext cx="11057839" cy="365760"/>
          </a:xfrm>
          <a:prstGeom prst="rect">
            <a:avLst/>
          </a:prstGeom>
          <a:noFill/>
        </p:spPr>
        <p:txBody>
          <a:bodyPr wrap="square" lIns="0" tIns="0" rIns="0" bIns="0">
            <a:spAutoFit/>
          </a:bodyPr>
          <a:lstStyle/>
          <a:p>
            <a:pPr algn="l">
              <a:lnSpc>
                <a:spcPct val="120000"/>
              </a:lnSpc>
              <a:spcAft>
                <a:spcPts val="0"/>
              </a:spcAft>
            </a:pPr>
            <a:r>
              <a:rPr sz="1200" b="1" i="0">
                <a:solidFill>
                  <a:srgbClr val="8FB8E8"/>
                </a:solidFill>
                <a:latin typeface="Segoe UI"/>
                <a:ea typeface="Segoe UI"/>
              </a:rPr>
              <a:t>TECH SHARING  ·  LLM RETRIEVAL STACK</a:t>
            </a:r>
          </a:p>
        </p:txBody>
      </p:sp>
      <p:sp>
        <p:nvSpPr>
          <p:cNvPr id="5" name="TextBox 4"/>
          <p:cNvSpPr txBox="1"/>
          <p:nvPr/>
        </p:nvSpPr>
        <p:spPr>
          <a:xfrm>
            <a:off x="658368" y="987552"/>
            <a:ext cx="10692079" cy="1188720"/>
          </a:xfrm>
          <a:prstGeom prst="rect">
            <a:avLst/>
          </a:prstGeom>
          <a:noFill/>
        </p:spPr>
        <p:txBody>
          <a:bodyPr wrap="square" lIns="0" tIns="0" rIns="0" bIns="0">
            <a:spAutoFit/>
          </a:bodyPr>
          <a:lstStyle/>
          <a:p>
            <a:pPr algn="l">
              <a:lnSpc>
                <a:spcPct val="120000"/>
              </a:lnSpc>
              <a:spcAft>
                <a:spcPts val="0"/>
              </a:spcAft>
            </a:pPr>
            <a:r>
              <a:rPr sz="4000" b="1" i="0">
                <a:solidFill>
                  <a:srgbClr val="FFFFFF"/>
                </a:solidFill>
                <a:latin typeface="Segoe UI"/>
                <a:ea typeface="Segoe UI"/>
              </a:rPr>
              <a:t>From Embedding Models to Agentic RAG</a:t>
            </a:r>
          </a:p>
          <a:p>
            <a:pPr algn="l">
              <a:lnSpc>
                <a:spcPct val="120000"/>
              </a:lnSpc>
              <a:spcAft>
                <a:spcPts val="0"/>
              </a:spcAft>
            </a:pPr>
            <a:r>
              <a:rPr sz="1400" b="0" i="0">
                <a:solidFill>
                  <a:srgbClr val="B8CDE6"/>
                </a:solidFill>
                <a:latin typeface="Segoe UI"/>
                <a:ea typeface="Segoe UI"/>
              </a:rPr>
              <a:t>BERT → SBERT → MTEB → BGE → NV-Embed → Qwen3-Embedding, and from Native RAG to Agentic RAG</a:t>
            </a:r>
          </a:p>
        </p:txBody>
      </p:sp>
      <p:sp>
        <p:nvSpPr>
          <p:cNvPr id="6" name="TextBox 5"/>
          <p:cNvSpPr txBox="1"/>
          <p:nvPr/>
        </p:nvSpPr>
        <p:spPr>
          <a:xfrm>
            <a:off x="658368" y="2743200"/>
            <a:ext cx="11057839" cy="1371600"/>
          </a:xfrm>
          <a:prstGeom prst="rect">
            <a:avLst/>
          </a:prstGeom>
          <a:noFill/>
        </p:spPr>
        <p:txBody>
          <a:bodyPr wrap="square" lIns="0" tIns="0" rIns="0" bIns="0">
            <a:spAutoFit/>
          </a:bodyPr>
          <a:lstStyle/>
          <a:p>
            <a:pPr algn="l">
              <a:lnSpc>
                <a:spcPct val="125000"/>
              </a:lnSpc>
              <a:spcAft>
                <a:spcPts val="1000"/>
              </a:spcAft>
            </a:pPr>
            <a:r>
              <a:rPr sz="1300" b="1" i="0">
                <a:solidFill>
                  <a:srgbClr val="1B2533"/>
                </a:solidFill>
                <a:latin typeface="Segoe UI"/>
                <a:ea typeface="Segoe UI"/>
              </a:rPr>
              <a:t>Presenter: </a:t>
            </a:r>
            <a:r>
              <a:rPr sz="1300" b="0" i="0">
                <a:solidFill>
                  <a:srgbClr val="334050"/>
                </a:solidFill>
                <a:latin typeface="Segoe UI"/>
                <a:ea typeface="Segoe UI"/>
              </a:rPr>
              <a:t>______________     </a:t>
            </a:r>
            <a:r>
              <a:rPr sz="1300" b="1" i="0">
                <a:solidFill>
                  <a:srgbClr val="1B2533"/>
                </a:solidFill>
                <a:latin typeface="Segoe UI"/>
                <a:ea typeface="Segoe UI"/>
              </a:rPr>
              <a:t>Date: </a:t>
            </a:r>
            <a:r>
              <a:rPr sz="1300" b="0" i="0">
                <a:solidFill>
                  <a:srgbClr val="334050"/>
                </a:solidFill>
                <a:latin typeface="Segoe UI"/>
                <a:ea typeface="Segoe UI"/>
              </a:rPr>
              <a:t>______________</a:t>
            </a:r>
          </a:p>
          <a:p>
            <a:pPr algn="l">
              <a:lnSpc>
                <a:spcPct val="125000"/>
              </a:lnSpc>
              <a:spcAft>
                <a:spcPts val="1000"/>
              </a:spcAft>
            </a:pPr>
            <a:r>
              <a:rPr sz="1300" b="1" i="0">
                <a:solidFill>
                  <a:srgbClr val="1B2533"/>
                </a:solidFill>
                <a:latin typeface="Segoe UI"/>
                <a:ea typeface="Segoe UI"/>
              </a:rPr>
              <a:t>Duration: </a:t>
            </a:r>
            <a:r>
              <a:rPr sz="1300" b="0" i="0">
                <a:solidFill>
                  <a:srgbClr val="334050"/>
                </a:solidFill>
                <a:latin typeface="Segoe UI"/>
                <a:ea typeface="Segoe UI"/>
              </a:rPr>
              <a:t>~60 min (35 min embeddings + 25 min agentic RAG)      </a:t>
            </a:r>
            <a:r>
              <a:rPr sz="1300" b="1" i="0">
                <a:solidFill>
                  <a:srgbClr val="1B2533"/>
                </a:solidFill>
                <a:latin typeface="Segoe UI"/>
                <a:ea typeface="Segoe UI"/>
              </a:rPr>
              <a:t>Format: </a:t>
            </a:r>
            <a:r>
              <a:rPr sz="1300" b="0" i="0">
                <a:solidFill>
                  <a:srgbClr val="334050"/>
                </a:solidFill>
                <a:latin typeface="Segoe UI"/>
                <a:ea typeface="Segoe UI"/>
              </a:rPr>
              <a:t>in-person / virtual</a:t>
            </a:r>
          </a:p>
          <a:p>
            <a:pPr algn="l">
              <a:lnSpc>
                <a:spcPct val="125000"/>
              </a:lnSpc>
              <a:spcAft>
                <a:spcPts val="0"/>
              </a:spcAft>
            </a:pPr>
            <a:r>
              <a:rPr sz="1300" b="1" i="0">
                <a:solidFill>
                  <a:srgbClr val="1B2533"/>
                </a:solidFill>
                <a:latin typeface="Segoe UI"/>
                <a:ea typeface="Segoe UI"/>
              </a:rPr>
              <a:t>Companion material: </a:t>
            </a:r>
            <a:r>
              <a:rPr sz="1300" b="0" i="0">
                <a:solidFill>
                  <a:srgbClr val="334050"/>
                </a:solidFill>
                <a:latin typeface="Segoe UI"/>
                <a:ea typeface="Segoe UI"/>
              </a:rPr>
              <a:t>RAG and Agentic AI.md (original outline)</a:t>
            </a:r>
          </a:p>
        </p:txBody>
      </p:sp>
      <p:sp>
        <p:nvSpPr>
          <p:cNvPr id="7" name="Rounded Rectangle 6"/>
          <p:cNvSpPr/>
          <p:nvPr/>
        </p:nvSpPr>
        <p:spPr>
          <a:xfrm>
            <a:off x="658368" y="4572000"/>
            <a:ext cx="10874959" cy="1371600"/>
          </a:xfrm>
          <a:prstGeom prst="roundRect">
            <a:avLst>
              <a:gd name="adj" fmla="val 3000"/>
            </a:avLst>
          </a:prstGeom>
          <a:solidFill>
            <a:srgbClr val="F7F9FC"/>
          </a:solidFill>
          <a:ln w="12700">
            <a:solidFill>
              <a:srgbClr val="BBC7D6"/>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8" name="TextBox 7"/>
          <p:cNvSpPr txBox="1"/>
          <p:nvPr/>
        </p:nvSpPr>
        <p:spPr>
          <a:xfrm>
            <a:off x="877824" y="4736592"/>
            <a:ext cx="10436047" cy="1097280"/>
          </a:xfrm>
          <a:prstGeom prst="rect">
            <a:avLst/>
          </a:prstGeom>
          <a:noFill/>
        </p:spPr>
        <p:txBody>
          <a:bodyPr wrap="square" lIns="0" tIns="0" rIns="0" bIns="0">
            <a:spAutoFit/>
          </a:bodyPr>
          <a:lstStyle/>
          <a:p>
            <a:pPr algn="l">
              <a:lnSpc>
                <a:spcPct val="120000"/>
              </a:lnSpc>
              <a:spcAft>
                <a:spcPts val="500"/>
              </a:spcAft>
            </a:pPr>
            <a:r>
              <a:rPr sz="1250" b="1" i="0">
                <a:solidFill>
                  <a:srgbClr val="1F5CA8"/>
                </a:solidFill>
                <a:latin typeface="Segoe UI"/>
                <a:ea typeface="Segoe UI"/>
              </a:rPr>
              <a:t>Opening note placeholder (~30 sec)</a:t>
            </a:r>
          </a:p>
          <a:p>
            <a:pPr algn="l">
              <a:lnSpc>
                <a:spcPct val="120000"/>
              </a:lnSpc>
              <a:spcAft>
                <a:spcPts val="300"/>
              </a:spcAft>
            </a:pPr>
            <a:r>
              <a:rPr sz="1150" b="0" i="0">
                <a:solidFill>
                  <a:srgbClr val="334050"/>
                </a:solidFill>
                <a:latin typeface="Segoe UI"/>
                <a:ea typeface="Segoe UI"/>
              </a:rPr>
              <a:t>Why this topic: retrieval quality sets the ceiling for any RAG system, and embeddings set retrieval quality.</a:t>
            </a:r>
          </a:p>
          <a:p>
            <a:pPr algn="l">
              <a:lnSpc>
                <a:spcPct val="120000"/>
              </a:lnSpc>
              <a:spcAft>
                <a:spcPts val="0"/>
              </a:spcAft>
            </a:pPr>
            <a:r>
              <a:rPr sz="1150" b="0" i="0">
                <a:solidFill>
                  <a:srgbClr val="334050"/>
                </a:solidFill>
                <a:latin typeface="Segoe UI"/>
                <a:ea typeface="Segoe UI"/>
              </a:rPr>
              <a:t>Goal: by the end you can answer “which embedding model should we pick?” and “where is our RAG pipeline leaking, and which agentic technique fixes it?”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7724"/>
          </a:xfrm>
          <a:prstGeom prst="rect">
            <a:avLst/>
          </a:prstGeom>
          <a:solidFill>
            <a:srgbClr val="1F5CA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TextBox 2"/>
          <p:cNvSpPr txBox="1"/>
          <p:nvPr/>
        </p:nvSpPr>
        <p:spPr>
          <a:xfrm>
            <a:off x="566928" y="310896"/>
            <a:ext cx="8595360" cy="274320"/>
          </a:xfrm>
          <a:prstGeom prst="rect">
            <a:avLst/>
          </a:prstGeom>
          <a:noFill/>
        </p:spPr>
        <p:txBody>
          <a:bodyPr wrap="square" lIns="0" tIns="0" rIns="0" bIns="0">
            <a:spAutoFit/>
          </a:bodyPr>
          <a:lstStyle/>
          <a:p>
            <a:pPr algn="l">
              <a:lnSpc>
                <a:spcPct val="120000"/>
              </a:lnSpc>
              <a:spcAft>
                <a:spcPts val="0"/>
              </a:spcAft>
            </a:pPr>
            <a:r>
              <a:rPr sz="1050" b="1" i="0">
                <a:solidFill>
                  <a:srgbClr val="1F5CA8"/>
                </a:solidFill>
                <a:latin typeface="Segoe UI"/>
                <a:ea typeface="Segoe UI"/>
              </a:rPr>
              <a:t>AGENDA</a:t>
            </a:r>
          </a:p>
        </p:txBody>
      </p:sp>
      <p:sp>
        <p:nvSpPr>
          <p:cNvPr id="4" name="TextBox 3"/>
          <p:cNvSpPr txBox="1"/>
          <p:nvPr/>
        </p:nvSpPr>
        <p:spPr>
          <a:xfrm>
            <a:off x="10161727" y="310896"/>
            <a:ext cx="1463040" cy="274320"/>
          </a:xfrm>
          <a:prstGeom prst="rect">
            <a:avLst/>
          </a:prstGeom>
          <a:noFill/>
        </p:spPr>
        <p:txBody>
          <a:bodyPr wrap="square" lIns="0" tIns="0" rIns="0" bIns="0">
            <a:spAutoFit/>
          </a:bodyPr>
          <a:lstStyle/>
          <a:p>
            <a:pPr algn="r">
              <a:lnSpc>
                <a:spcPct val="120000"/>
              </a:lnSpc>
              <a:spcAft>
                <a:spcPts val="0"/>
              </a:spcAft>
            </a:pPr>
            <a:r>
              <a:rPr sz="1050" b="0" i="0">
                <a:solidFill>
                  <a:srgbClr val="7A8696"/>
                </a:solidFill>
                <a:latin typeface="Segoe UI"/>
                <a:ea typeface="Segoe UI"/>
              </a:rPr>
              <a:t>2</a:t>
            </a:r>
          </a:p>
        </p:txBody>
      </p:sp>
      <p:sp>
        <p:nvSpPr>
          <p:cNvPr id="5" name="TextBox 4"/>
          <p:cNvSpPr txBox="1"/>
          <p:nvPr/>
        </p:nvSpPr>
        <p:spPr>
          <a:xfrm>
            <a:off x="566928" y="658368"/>
            <a:ext cx="11057839" cy="658368"/>
          </a:xfrm>
          <a:prstGeom prst="rect">
            <a:avLst/>
          </a:prstGeom>
          <a:noFill/>
        </p:spPr>
        <p:txBody>
          <a:bodyPr wrap="square" lIns="0" tIns="0" rIns="0" bIns="0">
            <a:spAutoFit/>
          </a:bodyPr>
          <a:lstStyle/>
          <a:p>
            <a:pPr algn="l">
              <a:lnSpc>
                <a:spcPct val="120000"/>
              </a:lnSpc>
              <a:spcAft>
                <a:spcPts val="0"/>
              </a:spcAft>
            </a:pPr>
            <a:r>
              <a:rPr sz="2700" b="1" i="0">
                <a:solidFill>
                  <a:srgbClr val="1B2533"/>
                </a:solidFill>
                <a:latin typeface="Segoe UI"/>
                <a:ea typeface="Segoe UI"/>
              </a:rPr>
              <a:t>What we will cover</a:t>
            </a:r>
          </a:p>
        </p:txBody>
      </p:sp>
      <p:sp>
        <p:nvSpPr>
          <p:cNvPr id="6" name="Rectangle 5"/>
          <p:cNvSpPr/>
          <p:nvPr/>
        </p:nvSpPr>
        <p:spPr>
          <a:xfrm>
            <a:off x="566928" y="1371600"/>
            <a:ext cx="1051560" cy="50292"/>
          </a:xfrm>
          <a:prstGeom prst="rect">
            <a:avLst/>
          </a:prstGeom>
          <a:solidFill>
            <a:srgbClr val="1F5CA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 name="TextBox 6"/>
          <p:cNvSpPr txBox="1"/>
          <p:nvPr/>
        </p:nvSpPr>
        <p:spPr>
          <a:xfrm>
            <a:off x="566928" y="1517904"/>
            <a:ext cx="11057839" cy="329184"/>
          </a:xfrm>
          <a:prstGeom prst="rect">
            <a:avLst/>
          </a:prstGeom>
          <a:noFill/>
        </p:spPr>
        <p:txBody>
          <a:bodyPr wrap="square" lIns="0" tIns="0" rIns="0" bIns="0">
            <a:spAutoFit/>
          </a:bodyPr>
          <a:lstStyle/>
          <a:p>
            <a:pPr algn="l">
              <a:lnSpc>
                <a:spcPct val="120000"/>
              </a:lnSpc>
              <a:spcAft>
                <a:spcPts val="0"/>
              </a:spcAft>
            </a:pPr>
            <a:r>
              <a:rPr sz="1300" b="0" i="0">
                <a:solidFill>
                  <a:srgbClr val="7A8696"/>
                </a:solidFill>
                <a:latin typeface="Segoe UI"/>
                <a:ea typeface="Segoe UI"/>
              </a:rPr>
              <a:t>Two storylines: representation quality (embeddings) x control flow (RAG)</a:t>
            </a:r>
          </a:p>
        </p:txBody>
      </p:sp>
      <p:sp>
        <p:nvSpPr>
          <p:cNvPr id="8" name="Rounded Rectangle 7"/>
          <p:cNvSpPr/>
          <p:nvPr/>
        </p:nvSpPr>
        <p:spPr>
          <a:xfrm>
            <a:off x="566928" y="1965960"/>
            <a:ext cx="5391759" cy="3931920"/>
          </a:xfrm>
          <a:prstGeom prst="roundRect">
            <a:avLst>
              <a:gd name="adj" fmla="val 3000"/>
            </a:avLst>
          </a:prstGeom>
          <a:noFill/>
          <a:ln w="12700">
            <a:solidFill>
              <a:srgbClr val="D8DEE6"/>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TextBox 8"/>
          <p:cNvSpPr txBox="1"/>
          <p:nvPr/>
        </p:nvSpPr>
        <p:spPr>
          <a:xfrm>
            <a:off x="822960" y="2176272"/>
            <a:ext cx="4879695" cy="3566160"/>
          </a:xfrm>
          <a:prstGeom prst="rect">
            <a:avLst/>
          </a:prstGeom>
          <a:noFill/>
        </p:spPr>
        <p:txBody>
          <a:bodyPr wrap="square" lIns="0" tIns="0" rIns="0" bIns="0">
            <a:spAutoFit/>
          </a:bodyPr>
          <a:lstStyle/>
          <a:p>
            <a:pPr algn="l">
              <a:lnSpc>
                <a:spcPct val="120000"/>
              </a:lnSpc>
              <a:spcAft>
                <a:spcPts val="1200"/>
              </a:spcAft>
            </a:pPr>
            <a:r>
              <a:rPr sz="1700" b="1" i="0">
                <a:solidFill>
                  <a:srgbClr val="1F5CA8"/>
                </a:solidFill>
                <a:latin typeface="Segoe UI"/>
                <a:ea typeface="Segoe UI"/>
              </a:rPr>
              <a:t>PART 1  ·  The embedding model evolution</a:t>
            </a:r>
          </a:p>
          <a:p>
            <a:pPr algn="l">
              <a:lnSpc>
                <a:spcPct val="115000"/>
              </a:lnSpc>
              <a:spcAft>
                <a:spcPts val="700"/>
              </a:spcAft>
            </a:pPr>
            <a:r>
              <a:rPr sz="1300" b="0" i="0">
                <a:solidFill>
                  <a:srgbClr val="334050"/>
                </a:solidFill>
                <a:latin typeface="Segoe UI"/>
                <a:ea typeface="Segoe UI"/>
              </a:rPr>
              <a:t>▪  BERT — the encoder-only starting point: bidirectional MLM + NSP</a:t>
            </a:r>
          </a:p>
          <a:p>
            <a:pPr algn="l">
              <a:lnSpc>
                <a:spcPct val="115000"/>
              </a:lnSpc>
              <a:spcAft>
                <a:spcPts val="700"/>
              </a:spcAft>
            </a:pPr>
            <a:r>
              <a:rPr sz="1300" b="0" i="0">
                <a:solidFill>
                  <a:srgbClr val="334050"/>
                </a:solidFill>
                <a:latin typeface="Segoe UI"/>
                <a:ea typeface="Segoe UI"/>
              </a:rPr>
              <a:t>▪  SBERT — Siamese networks solve sentence-level similarity</a:t>
            </a:r>
          </a:p>
          <a:p>
            <a:pPr algn="l">
              <a:lnSpc>
                <a:spcPct val="115000"/>
              </a:lnSpc>
              <a:spcAft>
                <a:spcPts val="700"/>
              </a:spcAft>
            </a:pPr>
            <a:r>
              <a:rPr sz="1300" b="0" i="0">
                <a:solidFill>
                  <a:srgbClr val="334050"/>
                </a:solidFill>
                <a:latin typeface="Segoe UI"/>
                <a:ea typeface="Segoe UI"/>
              </a:rPr>
              <a:t>▪  MTEB — one benchmark to compare every model</a:t>
            </a:r>
          </a:p>
          <a:p>
            <a:pPr algn="l">
              <a:lnSpc>
                <a:spcPct val="115000"/>
              </a:lnSpc>
              <a:spcAft>
                <a:spcPts val="700"/>
              </a:spcAft>
            </a:pPr>
            <a:r>
              <a:rPr sz="1300" b="0" i="0">
                <a:solidFill>
                  <a:srgbClr val="334050"/>
                </a:solidFill>
                <a:latin typeface="Segoe UI"/>
                <a:ea typeface="Segoe UI"/>
              </a:rPr>
              <a:t>▪  BGE — strong on Chinese: RetroMAE + contrastive + fine-tuning</a:t>
            </a:r>
          </a:p>
          <a:p>
            <a:pPr algn="l">
              <a:lnSpc>
                <a:spcPct val="115000"/>
              </a:lnSpc>
              <a:spcAft>
                <a:spcPts val="700"/>
              </a:spcAft>
            </a:pPr>
            <a:r>
              <a:rPr sz="1300" b="0" i="0">
                <a:solidFill>
                  <a:srgbClr val="334050"/>
                </a:solidFill>
                <a:latin typeface="Segoe UI"/>
                <a:ea typeface="Segoe UI"/>
              </a:rPr>
              <a:t>▪  NV-Embed — decoder-only LLM + latent attention</a:t>
            </a:r>
          </a:p>
          <a:p>
            <a:pPr algn="l">
              <a:lnSpc>
                <a:spcPct val="115000"/>
              </a:lnSpc>
              <a:spcAft>
                <a:spcPts val="700"/>
              </a:spcAft>
            </a:pPr>
            <a:r>
              <a:rPr sz="1300" b="0" i="0">
                <a:solidFill>
                  <a:srgbClr val="334050"/>
                </a:solidFill>
                <a:latin typeface="Segoe UI"/>
                <a:ea typeface="Segoe UI"/>
              </a:rPr>
              <a:t>▪  Qwen3-Embedding — one base model for embedder and reranker</a:t>
            </a:r>
          </a:p>
        </p:txBody>
      </p:sp>
      <p:sp>
        <p:nvSpPr>
          <p:cNvPr id="10" name="Rounded Rectangle 9"/>
          <p:cNvSpPr/>
          <p:nvPr/>
        </p:nvSpPr>
        <p:spPr>
          <a:xfrm>
            <a:off x="6233007" y="1965960"/>
            <a:ext cx="5391759" cy="3931920"/>
          </a:xfrm>
          <a:prstGeom prst="roundRect">
            <a:avLst>
              <a:gd name="adj" fmla="val 3000"/>
            </a:avLst>
          </a:prstGeom>
          <a:noFill/>
          <a:ln w="12700">
            <a:solidFill>
              <a:srgbClr val="D8DEE6"/>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 name="TextBox 10"/>
          <p:cNvSpPr txBox="1"/>
          <p:nvPr/>
        </p:nvSpPr>
        <p:spPr>
          <a:xfrm>
            <a:off x="6489039" y="2176272"/>
            <a:ext cx="4879695" cy="3566160"/>
          </a:xfrm>
          <a:prstGeom prst="rect">
            <a:avLst/>
          </a:prstGeom>
          <a:noFill/>
        </p:spPr>
        <p:txBody>
          <a:bodyPr wrap="square" lIns="0" tIns="0" rIns="0" bIns="0">
            <a:spAutoFit/>
          </a:bodyPr>
          <a:lstStyle/>
          <a:p>
            <a:pPr algn="l">
              <a:lnSpc>
                <a:spcPct val="120000"/>
              </a:lnSpc>
              <a:spcAft>
                <a:spcPts val="1200"/>
              </a:spcAft>
            </a:pPr>
            <a:r>
              <a:rPr sz="1700" b="1" i="0">
                <a:solidFill>
                  <a:srgbClr val="C0502A"/>
                </a:solidFill>
                <a:latin typeface="Segoe UI"/>
                <a:ea typeface="Segoe UI"/>
              </a:rPr>
              <a:t>PART 2  ·  From RAG to Agentic RAG</a:t>
            </a:r>
          </a:p>
          <a:p>
            <a:pPr algn="l">
              <a:lnSpc>
                <a:spcPct val="115000"/>
              </a:lnSpc>
              <a:spcAft>
                <a:spcPts val="700"/>
              </a:spcAft>
            </a:pPr>
            <a:r>
              <a:rPr sz="1300" b="0" i="0">
                <a:solidFill>
                  <a:srgbClr val="334050"/>
                </a:solidFill>
                <a:latin typeface="Segoe UI"/>
                <a:ea typeface="Segoe UI"/>
              </a:rPr>
              <a:t>▪  The two structural weaknesses of Native RAG</a:t>
            </a:r>
          </a:p>
          <a:p>
            <a:pPr algn="l">
              <a:lnSpc>
                <a:spcPct val="115000"/>
              </a:lnSpc>
              <a:spcAft>
                <a:spcPts val="700"/>
              </a:spcAft>
            </a:pPr>
            <a:r>
              <a:rPr sz="1300" b="0" i="0">
                <a:solidFill>
                  <a:srgbClr val="334050"/>
                </a:solidFill>
                <a:latin typeface="Segoe UI"/>
                <a:ea typeface="Segoe UI"/>
              </a:rPr>
              <a:t>▪  ReAct RAG → Agentic RAG: what actually changes</a:t>
            </a:r>
          </a:p>
          <a:p>
            <a:pPr algn="l">
              <a:lnSpc>
                <a:spcPct val="115000"/>
              </a:lnSpc>
              <a:spcAft>
                <a:spcPts val="700"/>
              </a:spcAft>
            </a:pPr>
            <a:r>
              <a:rPr sz="1300" b="0" i="0">
                <a:solidFill>
                  <a:srgbClr val="334050"/>
                </a:solidFill>
                <a:latin typeface="Segoe UI"/>
                <a:ea typeface="Segoe UI"/>
              </a:rPr>
              <a:t>▪  Query side: Query Rewrite / Multi-Query</a:t>
            </a:r>
          </a:p>
          <a:p>
            <a:pPr algn="l">
              <a:lnSpc>
                <a:spcPct val="115000"/>
              </a:lnSpc>
              <a:spcAft>
                <a:spcPts val="700"/>
              </a:spcAft>
            </a:pPr>
            <a:r>
              <a:rPr sz="1300" b="0" i="0">
                <a:solidFill>
                  <a:srgbClr val="334050"/>
                </a:solidFill>
                <a:latin typeface="Segoe UI"/>
                <a:ea typeface="Segoe UI"/>
              </a:rPr>
              <a:t>▪  Knowledge base side: Graph RAG / RAPTOR</a:t>
            </a:r>
          </a:p>
          <a:p>
            <a:pPr algn="l">
              <a:lnSpc>
                <a:spcPct val="115000"/>
              </a:lnSpc>
              <a:spcAft>
                <a:spcPts val="700"/>
              </a:spcAft>
            </a:pPr>
            <a:r>
              <a:rPr sz="1300" b="0" i="0">
                <a:solidFill>
                  <a:srgbClr val="334050"/>
                </a:solidFill>
                <a:latin typeface="Segoe UI"/>
                <a:ea typeface="Segoe UI"/>
              </a:rPr>
              <a:t>▪  Post-retrieval side: Reranker / Self-correction / Corrective RAG</a:t>
            </a:r>
          </a:p>
          <a:p>
            <a:pPr algn="l">
              <a:lnSpc>
                <a:spcPct val="115000"/>
              </a:lnSpc>
              <a:spcAft>
                <a:spcPts val="700"/>
              </a:spcAft>
            </a:pPr>
            <a:r>
              <a:rPr sz="1300" b="0" i="0">
                <a:solidFill>
                  <a:srgbClr val="334050"/>
                </a:solidFill>
                <a:latin typeface="Segoe UI"/>
                <a:ea typeface="Segoe UI"/>
              </a:rPr>
              <a:t>▪  Orchestration: Adaptive RAG (plus backup: FLARE / SELF-RAG)</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22A4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Rectangle 2"/>
          <p:cNvSpPr/>
          <p:nvPr/>
        </p:nvSpPr>
        <p:spPr>
          <a:xfrm>
            <a:off x="0" y="2788920"/>
            <a:ext cx="2011680" cy="82296"/>
          </a:xfrm>
          <a:prstGeom prst="rect">
            <a:avLst/>
          </a:prstGeom>
          <a:solidFill>
            <a:srgbClr val="1F5CA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 name="TextBox 3"/>
          <p:cNvSpPr txBox="1"/>
          <p:nvPr/>
        </p:nvSpPr>
        <p:spPr>
          <a:xfrm>
            <a:off x="749808" y="3063240"/>
            <a:ext cx="11057839" cy="1280160"/>
          </a:xfrm>
          <a:prstGeom prst="rect">
            <a:avLst/>
          </a:prstGeom>
          <a:noFill/>
        </p:spPr>
        <p:txBody>
          <a:bodyPr wrap="square" lIns="0" tIns="0" rIns="0" bIns="0">
            <a:spAutoFit/>
          </a:bodyPr>
          <a:lstStyle/>
          <a:p>
            <a:pPr algn="l">
              <a:lnSpc>
                <a:spcPct val="120000"/>
              </a:lnSpc>
              <a:spcAft>
                <a:spcPts val="800"/>
              </a:spcAft>
            </a:pPr>
            <a:r>
              <a:rPr sz="1500" b="1" i="0">
                <a:solidFill>
                  <a:srgbClr val="8FB8E8"/>
                </a:solidFill>
                <a:latin typeface="Segoe UI"/>
                <a:ea typeface="Segoe UI"/>
              </a:rPr>
              <a:t>PART 1</a:t>
            </a:r>
          </a:p>
          <a:p>
            <a:pPr algn="l">
              <a:lnSpc>
                <a:spcPct val="120000"/>
              </a:lnSpc>
              <a:spcAft>
                <a:spcPts val="800"/>
              </a:spcAft>
            </a:pPr>
            <a:r>
              <a:rPr sz="3600" b="1" i="0">
                <a:solidFill>
                  <a:srgbClr val="FFFFFF"/>
                </a:solidFill>
                <a:latin typeface="Segoe UI"/>
                <a:ea typeface="Segoe UI"/>
              </a:rPr>
              <a:t>The Embedding Model Evolution</a:t>
            </a:r>
          </a:p>
          <a:p>
            <a:pPr algn="l">
              <a:lnSpc>
                <a:spcPct val="120000"/>
              </a:lnSpc>
              <a:spcAft>
                <a:spcPts val="0"/>
              </a:spcAft>
            </a:pPr>
            <a:r>
              <a:rPr sz="1400" b="0" i="0">
                <a:solidFill>
                  <a:srgbClr val="B8CDE6"/>
                </a:solidFill>
                <a:latin typeface="Segoe UI"/>
                <a:ea typeface="Segoe UI"/>
              </a:rPr>
              <a:t>BERT → SBERT → MTEB → BGE → NV-Embed → Qwen3-Embedding</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566928" y="1938528"/>
            <a:ext cx="1751533" cy="658368"/>
          </a:xfrm>
          <a:prstGeom prst="roundRect">
            <a:avLst>
              <a:gd name="adj" fmla="val 16000"/>
            </a:avLst>
          </a:prstGeom>
          <a:solidFill>
            <a:srgbClr val="ECF2FA"/>
          </a:solidFill>
          <a:ln w="9525">
            <a:solidFill>
              <a:srgbClr val="BBC7D6"/>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TextBox 2"/>
          <p:cNvSpPr txBox="1"/>
          <p:nvPr/>
        </p:nvSpPr>
        <p:spPr>
          <a:xfrm>
            <a:off x="658368" y="2011680"/>
            <a:ext cx="1568653" cy="512063"/>
          </a:xfrm>
          <a:prstGeom prst="rect">
            <a:avLst/>
          </a:prstGeom>
          <a:noFill/>
        </p:spPr>
        <p:txBody>
          <a:bodyPr wrap="square" lIns="0" tIns="0" rIns="0" bIns="0">
            <a:spAutoFit/>
          </a:bodyPr>
          <a:lstStyle/>
          <a:p>
            <a:pPr algn="ctr">
              <a:lnSpc>
                <a:spcPct val="120000"/>
              </a:lnSpc>
              <a:spcAft>
                <a:spcPts val="100"/>
              </a:spcAft>
            </a:pPr>
            <a:r>
              <a:rPr sz="1250" b="1" i="0">
                <a:solidFill>
                  <a:srgbClr val="1F5CA8"/>
                </a:solidFill>
                <a:latin typeface="Segoe UI"/>
                <a:ea typeface="Segoe UI"/>
              </a:rPr>
              <a:t>BERT</a:t>
            </a:r>
          </a:p>
          <a:p>
            <a:pPr algn="ctr">
              <a:lnSpc>
                <a:spcPct val="105000"/>
              </a:lnSpc>
              <a:spcAft>
                <a:spcPts val="0"/>
              </a:spcAft>
            </a:pPr>
            <a:r>
              <a:rPr sz="950" b="0" i="0">
                <a:solidFill>
                  <a:srgbClr val="7A8696"/>
                </a:solidFill>
                <a:latin typeface="Segoe UI"/>
                <a:ea typeface="Segoe UI"/>
              </a:rPr>
              <a:t>Encoder-only</a:t>
            </a:r>
          </a:p>
        </p:txBody>
      </p:sp>
      <p:sp>
        <p:nvSpPr>
          <p:cNvPr id="4" name="Rounded Rectangle 3"/>
          <p:cNvSpPr/>
          <p:nvPr/>
        </p:nvSpPr>
        <p:spPr>
          <a:xfrm>
            <a:off x="2428189" y="1938528"/>
            <a:ext cx="1751533" cy="658368"/>
          </a:xfrm>
          <a:prstGeom prst="roundRect">
            <a:avLst>
              <a:gd name="adj" fmla="val 16000"/>
            </a:avLst>
          </a:prstGeom>
          <a:solidFill>
            <a:srgbClr val="ECF2FA"/>
          </a:solidFill>
          <a:ln w="9525">
            <a:solidFill>
              <a:srgbClr val="BBC7D6"/>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 name="TextBox 4"/>
          <p:cNvSpPr txBox="1"/>
          <p:nvPr/>
        </p:nvSpPr>
        <p:spPr>
          <a:xfrm>
            <a:off x="2519629" y="2011680"/>
            <a:ext cx="1568653" cy="512063"/>
          </a:xfrm>
          <a:prstGeom prst="rect">
            <a:avLst/>
          </a:prstGeom>
          <a:noFill/>
        </p:spPr>
        <p:txBody>
          <a:bodyPr wrap="square" lIns="0" tIns="0" rIns="0" bIns="0">
            <a:spAutoFit/>
          </a:bodyPr>
          <a:lstStyle/>
          <a:p>
            <a:pPr algn="ctr">
              <a:lnSpc>
                <a:spcPct val="120000"/>
              </a:lnSpc>
              <a:spcAft>
                <a:spcPts val="100"/>
              </a:spcAft>
            </a:pPr>
            <a:r>
              <a:rPr sz="1250" b="1" i="0">
                <a:solidFill>
                  <a:srgbClr val="1F5CA8"/>
                </a:solidFill>
                <a:latin typeface="Segoe UI"/>
                <a:ea typeface="Segoe UI"/>
              </a:rPr>
              <a:t>SBERT</a:t>
            </a:r>
          </a:p>
          <a:p>
            <a:pPr algn="ctr">
              <a:lnSpc>
                <a:spcPct val="105000"/>
              </a:lnSpc>
              <a:spcAft>
                <a:spcPts val="0"/>
              </a:spcAft>
            </a:pPr>
            <a:r>
              <a:rPr sz="950" b="0" i="0">
                <a:solidFill>
                  <a:srgbClr val="7A8696"/>
                </a:solidFill>
                <a:latin typeface="Segoe UI"/>
                <a:ea typeface="Segoe UI"/>
              </a:rPr>
              <a:t>Sentence-level</a:t>
            </a:r>
          </a:p>
        </p:txBody>
      </p:sp>
      <p:sp>
        <p:nvSpPr>
          <p:cNvPr id="6" name="Rounded Rectangle 5"/>
          <p:cNvSpPr/>
          <p:nvPr/>
        </p:nvSpPr>
        <p:spPr>
          <a:xfrm>
            <a:off x="4289450" y="1938528"/>
            <a:ext cx="1751533" cy="658368"/>
          </a:xfrm>
          <a:prstGeom prst="roundRect">
            <a:avLst>
              <a:gd name="adj" fmla="val 16000"/>
            </a:avLst>
          </a:prstGeom>
          <a:solidFill>
            <a:srgbClr val="ECF2FA"/>
          </a:solidFill>
          <a:ln w="9525">
            <a:solidFill>
              <a:srgbClr val="BBC7D6"/>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 name="TextBox 6"/>
          <p:cNvSpPr txBox="1"/>
          <p:nvPr/>
        </p:nvSpPr>
        <p:spPr>
          <a:xfrm>
            <a:off x="4380890" y="2011680"/>
            <a:ext cx="1568653" cy="512063"/>
          </a:xfrm>
          <a:prstGeom prst="rect">
            <a:avLst/>
          </a:prstGeom>
          <a:noFill/>
        </p:spPr>
        <p:txBody>
          <a:bodyPr wrap="square" lIns="0" tIns="0" rIns="0" bIns="0">
            <a:spAutoFit/>
          </a:bodyPr>
          <a:lstStyle/>
          <a:p>
            <a:pPr algn="ctr">
              <a:lnSpc>
                <a:spcPct val="120000"/>
              </a:lnSpc>
              <a:spcAft>
                <a:spcPts val="100"/>
              </a:spcAft>
            </a:pPr>
            <a:r>
              <a:rPr sz="1250" b="1" i="0">
                <a:solidFill>
                  <a:srgbClr val="1F5CA8"/>
                </a:solidFill>
                <a:latin typeface="Segoe UI"/>
                <a:ea typeface="Segoe UI"/>
              </a:rPr>
              <a:t>MTEB</a:t>
            </a:r>
          </a:p>
          <a:p>
            <a:pPr algn="ctr">
              <a:lnSpc>
                <a:spcPct val="105000"/>
              </a:lnSpc>
              <a:spcAft>
                <a:spcPts val="0"/>
              </a:spcAft>
            </a:pPr>
            <a:r>
              <a:rPr sz="950" b="0" i="0">
                <a:solidFill>
                  <a:srgbClr val="7A8696"/>
                </a:solidFill>
                <a:latin typeface="Segoe UI"/>
                <a:ea typeface="Segoe UI"/>
              </a:rPr>
              <a:t>Benchmark</a:t>
            </a:r>
          </a:p>
        </p:txBody>
      </p:sp>
      <p:sp>
        <p:nvSpPr>
          <p:cNvPr id="8" name="Rounded Rectangle 7"/>
          <p:cNvSpPr/>
          <p:nvPr/>
        </p:nvSpPr>
        <p:spPr>
          <a:xfrm>
            <a:off x="6150711" y="1938528"/>
            <a:ext cx="1751533" cy="658368"/>
          </a:xfrm>
          <a:prstGeom prst="roundRect">
            <a:avLst>
              <a:gd name="adj" fmla="val 16000"/>
            </a:avLst>
          </a:prstGeom>
          <a:solidFill>
            <a:srgbClr val="ECF2FA"/>
          </a:solidFill>
          <a:ln w="9525">
            <a:solidFill>
              <a:srgbClr val="BBC7D6"/>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TextBox 8"/>
          <p:cNvSpPr txBox="1"/>
          <p:nvPr/>
        </p:nvSpPr>
        <p:spPr>
          <a:xfrm>
            <a:off x="6242151" y="2011680"/>
            <a:ext cx="1568653" cy="512063"/>
          </a:xfrm>
          <a:prstGeom prst="rect">
            <a:avLst/>
          </a:prstGeom>
          <a:noFill/>
        </p:spPr>
        <p:txBody>
          <a:bodyPr wrap="square" lIns="0" tIns="0" rIns="0" bIns="0">
            <a:spAutoFit/>
          </a:bodyPr>
          <a:lstStyle/>
          <a:p>
            <a:pPr algn="ctr">
              <a:lnSpc>
                <a:spcPct val="120000"/>
              </a:lnSpc>
              <a:spcAft>
                <a:spcPts val="100"/>
              </a:spcAft>
            </a:pPr>
            <a:r>
              <a:rPr sz="1250" b="1" i="0">
                <a:solidFill>
                  <a:srgbClr val="1F5CA8"/>
                </a:solidFill>
                <a:latin typeface="Segoe UI"/>
                <a:ea typeface="Segoe UI"/>
              </a:rPr>
              <a:t>BGE</a:t>
            </a:r>
          </a:p>
          <a:p>
            <a:pPr algn="ctr">
              <a:lnSpc>
                <a:spcPct val="105000"/>
              </a:lnSpc>
              <a:spcAft>
                <a:spcPts val="0"/>
              </a:spcAft>
            </a:pPr>
            <a:r>
              <a:rPr sz="950" b="0" i="0">
                <a:solidFill>
                  <a:srgbClr val="7A8696"/>
                </a:solidFill>
                <a:latin typeface="Segoe UI"/>
                <a:ea typeface="Segoe UI"/>
              </a:rPr>
              <a:t>3-stage training</a:t>
            </a:r>
          </a:p>
        </p:txBody>
      </p:sp>
      <p:sp>
        <p:nvSpPr>
          <p:cNvPr id="10" name="Rounded Rectangle 9"/>
          <p:cNvSpPr/>
          <p:nvPr/>
        </p:nvSpPr>
        <p:spPr>
          <a:xfrm>
            <a:off x="8011972" y="1938528"/>
            <a:ext cx="1751533" cy="658368"/>
          </a:xfrm>
          <a:prstGeom prst="roundRect">
            <a:avLst>
              <a:gd name="adj" fmla="val 16000"/>
            </a:avLst>
          </a:prstGeom>
          <a:solidFill>
            <a:srgbClr val="ECF2FA"/>
          </a:solidFill>
          <a:ln w="9525">
            <a:solidFill>
              <a:srgbClr val="BBC7D6"/>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 name="TextBox 10"/>
          <p:cNvSpPr txBox="1"/>
          <p:nvPr/>
        </p:nvSpPr>
        <p:spPr>
          <a:xfrm>
            <a:off x="8103412" y="2011680"/>
            <a:ext cx="1568653" cy="512063"/>
          </a:xfrm>
          <a:prstGeom prst="rect">
            <a:avLst/>
          </a:prstGeom>
          <a:noFill/>
        </p:spPr>
        <p:txBody>
          <a:bodyPr wrap="square" lIns="0" tIns="0" rIns="0" bIns="0">
            <a:spAutoFit/>
          </a:bodyPr>
          <a:lstStyle/>
          <a:p>
            <a:pPr algn="ctr">
              <a:lnSpc>
                <a:spcPct val="120000"/>
              </a:lnSpc>
              <a:spcAft>
                <a:spcPts val="100"/>
              </a:spcAft>
            </a:pPr>
            <a:r>
              <a:rPr sz="1250" b="1" i="0">
                <a:solidFill>
                  <a:srgbClr val="1F5CA8"/>
                </a:solidFill>
                <a:latin typeface="Segoe UI"/>
                <a:ea typeface="Segoe UI"/>
              </a:rPr>
              <a:t>NV-Embed</a:t>
            </a:r>
          </a:p>
          <a:p>
            <a:pPr algn="ctr">
              <a:lnSpc>
                <a:spcPct val="105000"/>
              </a:lnSpc>
              <a:spcAft>
                <a:spcPts val="0"/>
              </a:spcAft>
            </a:pPr>
            <a:r>
              <a:rPr sz="950" b="0" i="0">
                <a:solidFill>
                  <a:srgbClr val="7A8696"/>
                </a:solidFill>
                <a:latin typeface="Segoe UI"/>
                <a:ea typeface="Segoe UI"/>
              </a:rPr>
              <a:t>Decoder-only</a:t>
            </a:r>
          </a:p>
        </p:txBody>
      </p:sp>
      <p:sp>
        <p:nvSpPr>
          <p:cNvPr id="12" name="Rounded Rectangle 11"/>
          <p:cNvSpPr/>
          <p:nvPr/>
        </p:nvSpPr>
        <p:spPr>
          <a:xfrm>
            <a:off x="9873233" y="1938528"/>
            <a:ext cx="1751533" cy="658368"/>
          </a:xfrm>
          <a:prstGeom prst="roundRect">
            <a:avLst>
              <a:gd name="adj" fmla="val 16000"/>
            </a:avLst>
          </a:prstGeom>
          <a:solidFill>
            <a:srgbClr val="ECF2FA"/>
          </a:solidFill>
          <a:ln w="9525">
            <a:solidFill>
              <a:srgbClr val="BBC7D6"/>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3" name="TextBox 12"/>
          <p:cNvSpPr txBox="1"/>
          <p:nvPr/>
        </p:nvSpPr>
        <p:spPr>
          <a:xfrm>
            <a:off x="9964673" y="2011680"/>
            <a:ext cx="1568653" cy="512063"/>
          </a:xfrm>
          <a:prstGeom prst="rect">
            <a:avLst/>
          </a:prstGeom>
          <a:noFill/>
        </p:spPr>
        <p:txBody>
          <a:bodyPr wrap="square" lIns="0" tIns="0" rIns="0" bIns="0">
            <a:spAutoFit/>
          </a:bodyPr>
          <a:lstStyle/>
          <a:p>
            <a:pPr algn="ctr">
              <a:lnSpc>
                <a:spcPct val="120000"/>
              </a:lnSpc>
              <a:spcAft>
                <a:spcPts val="100"/>
              </a:spcAft>
            </a:pPr>
            <a:r>
              <a:rPr sz="1250" b="1" i="0">
                <a:solidFill>
                  <a:srgbClr val="1F5CA8"/>
                </a:solidFill>
                <a:latin typeface="Segoe UI"/>
                <a:ea typeface="Segoe UI"/>
              </a:rPr>
              <a:t>Qwen3-Emb</a:t>
            </a:r>
          </a:p>
          <a:p>
            <a:pPr algn="ctr">
              <a:lnSpc>
                <a:spcPct val="105000"/>
              </a:lnSpc>
              <a:spcAft>
                <a:spcPts val="0"/>
              </a:spcAft>
            </a:pPr>
            <a:r>
              <a:rPr sz="950" b="0" i="0">
                <a:solidFill>
                  <a:srgbClr val="7A8696"/>
                </a:solidFill>
                <a:latin typeface="Segoe UI"/>
                <a:ea typeface="Segoe UI"/>
              </a:rPr>
              <a:t>Embed + Rerank</a:t>
            </a:r>
          </a:p>
        </p:txBody>
      </p:sp>
      <p:sp>
        <p:nvSpPr>
          <p:cNvPr id="14" name="Rectangle 13"/>
          <p:cNvSpPr/>
          <p:nvPr/>
        </p:nvSpPr>
        <p:spPr>
          <a:xfrm>
            <a:off x="0" y="0"/>
            <a:ext cx="12191695" cy="77724"/>
          </a:xfrm>
          <a:prstGeom prst="rect">
            <a:avLst/>
          </a:prstGeom>
          <a:solidFill>
            <a:srgbClr val="1F5CA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5" name="TextBox 14"/>
          <p:cNvSpPr txBox="1"/>
          <p:nvPr/>
        </p:nvSpPr>
        <p:spPr>
          <a:xfrm>
            <a:off x="566928" y="310896"/>
            <a:ext cx="8595360" cy="274320"/>
          </a:xfrm>
          <a:prstGeom prst="rect">
            <a:avLst/>
          </a:prstGeom>
          <a:noFill/>
        </p:spPr>
        <p:txBody>
          <a:bodyPr wrap="square" lIns="0" tIns="0" rIns="0" bIns="0">
            <a:spAutoFit/>
          </a:bodyPr>
          <a:lstStyle/>
          <a:p>
            <a:pPr algn="l">
              <a:lnSpc>
                <a:spcPct val="120000"/>
              </a:lnSpc>
              <a:spcAft>
                <a:spcPts val="0"/>
              </a:spcAft>
            </a:pPr>
            <a:r>
              <a:rPr sz="1050" b="1" i="0">
                <a:solidFill>
                  <a:srgbClr val="1F5CA8"/>
                </a:solidFill>
                <a:latin typeface="Segoe UI"/>
                <a:ea typeface="Segoe UI"/>
              </a:rPr>
              <a:t>PART 1 · EMBEDDING MODEL: BERT</a:t>
            </a:r>
          </a:p>
        </p:txBody>
      </p:sp>
      <p:sp>
        <p:nvSpPr>
          <p:cNvPr id="16" name="TextBox 15"/>
          <p:cNvSpPr txBox="1"/>
          <p:nvPr/>
        </p:nvSpPr>
        <p:spPr>
          <a:xfrm>
            <a:off x="10161727" y="310896"/>
            <a:ext cx="1463040" cy="274320"/>
          </a:xfrm>
          <a:prstGeom prst="rect">
            <a:avLst/>
          </a:prstGeom>
          <a:noFill/>
        </p:spPr>
        <p:txBody>
          <a:bodyPr wrap="square" lIns="0" tIns="0" rIns="0" bIns="0">
            <a:spAutoFit/>
          </a:bodyPr>
          <a:lstStyle/>
          <a:p>
            <a:pPr algn="r">
              <a:lnSpc>
                <a:spcPct val="120000"/>
              </a:lnSpc>
              <a:spcAft>
                <a:spcPts val="0"/>
              </a:spcAft>
            </a:pPr>
            <a:r>
              <a:rPr sz="1050" b="0" i="0">
                <a:solidFill>
                  <a:srgbClr val="7A8696"/>
                </a:solidFill>
                <a:latin typeface="Segoe UI"/>
                <a:ea typeface="Segoe UI"/>
              </a:rPr>
              <a:t>4</a:t>
            </a:r>
          </a:p>
        </p:txBody>
      </p:sp>
      <p:sp>
        <p:nvSpPr>
          <p:cNvPr id="17" name="TextBox 16"/>
          <p:cNvSpPr txBox="1"/>
          <p:nvPr/>
        </p:nvSpPr>
        <p:spPr>
          <a:xfrm>
            <a:off x="566928" y="658368"/>
            <a:ext cx="11057839" cy="658368"/>
          </a:xfrm>
          <a:prstGeom prst="rect">
            <a:avLst/>
          </a:prstGeom>
          <a:noFill/>
        </p:spPr>
        <p:txBody>
          <a:bodyPr wrap="square" lIns="0" tIns="0" rIns="0" bIns="0">
            <a:spAutoFit/>
          </a:bodyPr>
          <a:lstStyle/>
          <a:p>
            <a:pPr algn="l">
              <a:lnSpc>
                <a:spcPct val="120000"/>
              </a:lnSpc>
              <a:spcAft>
                <a:spcPts val="0"/>
              </a:spcAft>
            </a:pPr>
            <a:r>
              <a:rPr sz="2700" b="1" i="0">
                <a:solidFill>
                  <a:srgbClr val="1B2533"/>
                </a:solidFill>
                <a:latin typeface="Segoe UI"/>
                <a:ea typeface="Segoe UI"/>
              </a:rPr>
              <a:t>BERT: the encoder-only starting point</a:t>
            </a:r>
          </a:p>
        </p:txBody>
      </p:sp>
      <p:sp>
        <p:nvSpPr>
          <p:cNvPr id="18" name="Rectangle 17"/>
          <p:cNvSpPr/>
          <p:nvPr/>
        </p:nvSpPr>
        <p:spPr>
          <a:xfrm>
            <a:off x="566928" y="1371600"/>
            <a:ext cx="1051560" cy="50292"/>
          </a:xfrm>
          <a:prstGeom prst="rect">
            <a:avLst/>
          </a:prstGeom>
          <a:solidFill>
            <a:srgbClr val="1F5CA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9" name="TextBox 18"/>
          <p:cNvSpPr txBox="1"/>
          <p:nvPr/>
        </p:nvSpPr>
        <p:spPr>
          <a:xfrm>
            <a:off x="566928" y="1517904"/>
            <a:ext cx="11057839" cy="329184"/>
          </a:xfrm>
          <a:prstGeom prst="rect">
            <a:avLst/>
          </a:prstGeom>
          <a:noFill/>
        </p:spPr>
        <p:txBody>
          <a:bodyPr wrap="square" lIns="0" tIns="0" rIns="0" bIns="0">
            <a:spAutoFit/>
          </a:bodyPr>
          <a:lstStyle/>
          <a:p>
            <a:pPr algn="l">
              <a:lnSpc>
                <a:spcPct val="120000"/>
              </a:lnSpc>
              <a:spcAft>
                <a:spcPts val="0"/>
              </a:spcAft>
            </a:pPr>
            <a:r>
              <a:rPr sz="1300" b="0" i="0">
                <a:solidFill>
                  <a:srgbClr val="7A8696"/>
                </a:solidFill>
                <a:latin typeface="Segoe UI"/>
                <a:ea typeface="Segoe UI"/>
              </a:rPr>
              <a:t>2018 · the “pretrain then fine-tune” paradigm for NLP</a:t>
            </a:r>
          </a:p>
        </p:txBody>
      </p:sp>
      <p:sp>
        <p:nvSpPr>
          <p:cNvPr id="20" name="Rounded Rectangle 19"/>
          <p:cNvSpPr/>
          <p:nvPr/>
        </p:nvSpPr>
        <p:spPr>
          <a:xfrm>
            <a:off x="566928" y="2788920"/>
            <a:ext cx="5943600" cy="3108960"/>
          </a:xfrm>
          <a:prstGeom prst="roundRect">
            <a:avLst>
              <a:gd name="adj" fmla="val 3000"/>
            </a:avLst>
          </a:prstGeom>
          <a:noFill/>
          <a:ln w="12700">
            <a:solidFill>
              <a:srgbClr val="D8DEE6"/>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1" name="TextBox 20"/>
          <p:cNvSpPr txBox="1"/>
          <p:nvPr/>
        </p:nvSpPr>
        <p:spPr>
          <a:xfrm>
            <a:off x="804672" y="2980944"/>
            <a:ext cx="5486400" cy="2743200"/>
          </a:xfrm>
          <a:prstGeom prst="rect">
            <a:avLst/>
          </a:prstGeom>
          <a:noFill/>
        </p:spPr>
        <p:txBody>
          <a:bodyPr wrap="square" lIns="0" tIns="0" rIns="0" bIns="0">
            <a:spAutoFit/>
          </a:bodyPr>
          <a:lstStyle/>
          <a:p>
            <a:pPr algn="l">
              <a:lnSpc>
                <a:spcPct val="120000"/>
              </a:lnSpc>
              <a:spcAft>
                <a:spcPts val="900"/>
              </a:spcAft>
            </a:pPr>
            <a:r>
              <a:rPr sz="1500" b="1" i="0">
                <a:solidFill>
                  <a:srgbClr val="1F5CA8"/>
                </a:solidFill>
                <a:latin typeface="Segoe UI"/>
                <a:ea typeface="Segoe UI"/>
              </a:rPr>
              <a:t>Four key design choices</a:t>
            </a:r>
          </a:p>
          <a:p>
            <a:pPr algn="l">
              <a:lnSpc>
                <a:spcPct val="115000"/>
              </a:lnSpc>
              <a:spcAft>
                <a:spcPts val="700"/>
              </a:spcAft>
            </a:pPr>
            <a:r>
              <a:rPr sz="1350" b="0" i="0">
                <a:solidFill>
                  <a:srgbClr val="334050"/>
                </a:solidFill>
                <a:latin typeface="Segoe UI"/>
                <a:ea typeface="Segoe UI"/>
              </a:rPr>
              <a:t>▪  Encoder-only Transformer: a stack of encoders, no autoregressive decoder</a:t>
            </a:r>
          </a:p>
          <a:p>
            <a:pPr algn="l">
              <a:lnSpc>
                <a:spcPct val="115000"/>
              </a:lnSpc>
              <a:spcAft>
                <a:spcPts val="700"/>
              </a:spcAft>
            </a:pPr>
            <a:r>
              <a:rPr sz="1350" b="0" i="0">
                <a:solidFill>
                  <a:srgbClr val="334050"/>
                </a:solidFill>
                <a:latin typeface="Segoe UI"/>
                <a:ea typeface="Segoe UI"/>
              </a:rPr>
              <a:t>▪  Bidirectional: full self-attention, every token sees both left and right context</a:t>
            </a:r>
          </a:p>
          <a:p>
            <a:pPr algn="l">
              <a:lnSpc>
                <a:spcPct val="115000"/>
              </a:lnSpc>
              <a:spcAft>
                <a:spcPts val="700"/>
              </a:spcAft>
            </a:pPr>
            <a:r>
              <a:rPr sz="1350" b="0" i="0">
                <a:solidFill>
                  <a:srgbClr val="334050"/>
                </a:solidFill>
                <a:latin typeface="Segoe UI"/>
                <a:ea typeface="Segoe UI"/>
              </a:rPr>
              <a:t>▪  Masked Language Model (MLM): mask 15% of tokens and predict them</a:t>
            </a:r>
          </a:p>
          <a:p>
            <a:pPr algn="l">
              <a:lnSpc>
                <a:spcPct val="115000"/>
              </a:lnSpc>
              <a:spcAft>
                <a:spcPts val="700"/>
              </a:spcAft>
            </a:pPr>
            <a:r>
              <a:rPr sz="1350" b="0" i="0">
                <a:solidFill>
                  <a:srgbClr val="334050"/>
                </a:solidFill>
                <a:latin typeface="Segoe UI"/>
                <a:ea typeface="Segoe UI"/>
              </a:rPr>
              <a:t>▪  Output is one vector per token, not one vector per sentence</a:t>
            </a:r>
          </a:p>
        </p:txBody>
      </p:sp>
      <p:sp>
        <p:nvSpPr>
          <p:cNvPr id="22" name="Rounded Rectangle 21"/>
          <p:cNvSpPr/>
          <p:nvPr/>
        </p:nvSpPr>
        <p:spPr>
          <a:xfrm>
            <a:off x="6876288" y="2788920"/>
            <a:ext cx="4748479" cy="3108960"/>
          </a:xfrm>
          <a:prstGeom prst="roundRect">
            <a:avLst>
              <a:gd name="adj" fmla="val 3000"/>
            </a:avLst>
          </a:prstGeom>
          <a:solidFill>
            <a:srgbClr val="F7F9FC"/>
          </a:solidFill>
          <a:ln w="12700">
            <a:solidFill>
              <a:srgbClr val="BBC7D6"/>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3" name="TextBox 22"/>
          <p:cNvSpPr txBox="1"/>
          <p:nvPr/>
        </p:nvSpPr>
        <p:spPr>
          <a:xfrm>
            <a:off x="7077456" y="2953512"/>
            <a:ext cx="4346143" cy="2779776"/>
          </a:xfrm>
          <a:prstGeom prst="rect">
            <a:avLst/>
          </a:prstGeom>
          <a:noFill/>
        </p:spPr>
        <p:txBody>
          <a:bodyPr wrap="square" lIns="0" tIns="0" rIns="0" bIns="0">
            <a:spAutoFit/>
          </a:bodyPr>
          <a:lstStyle/>
          <a:p>
            <a:pPr algn="l">
              <a:lnSpc>
                <a:spcPct val="120000"/>
              </a:lnSpc>
              <a:spcAft>
                <a:spcPts val="400"/>
              </a:spcAft>
            </a:pPr>
            <a:r>
              <a:rPr sz="1300" b="1" i="0">
                <a:solidFill>
                  <a:srgbClr val="1F5CA8"/>
                </a:solidFill>
                <a:latin typeface="Segoe UI"/>
                <a:ea typeface="Segoe UI"/>
              </a:rPr>
              <a:t>Placeholder: architecture / scale</a:t>
            </a:r>
          </a:p>
          <a:p>
            <a:pPr algn="l">
              <a:lnSpc>
                <a:spcPct val="120000"/>
              </a:lnSpc>
              <a:spcAft>
                <a:spcPts val="0"/>
              </a:spcAft>
            </a:pPr>
            <a:r>
              <a:rPr sz="1150" b="0" i="0">
                <a:solidFill>
                  <a:srgbClr val="7A8696"/>
                </a:solidFill>
                <a:latin typeface="Segoe UI"/>
                <a:ea typeface="Segoe UI"/>
              </a:rPr>
              <a:t>Suggested: BERT-base vs BERT-large spec table (L=12/24, H=768/1024, A=12/16, ~110M/340M params)</a:t>
            </a:r>
          </a:p>
          <a:p>
            <a:pPr algn="l">
              <a:lnSpc>
                <a:spcPct val="120000"/>
              </a:lnSpc>
              <a:spcAft>
                <a:spcPts val="200"/>
              </a:spcAft>
            </a:pPr>
            <a:r>
              <a:rPr sz="1150" b="0" i="0">
                <a:solidFill>
                  <a:srgbClr val="BBC7D6"/>
                </a:solidFill>
                <a:latin typeface="Segoe UI"/>
                <a:ea typeface="Segoe UI"/>
              </a:rPr>
              <a:t>· </a:t>
            </a:r>
          </a:p>
          <a:p>
            <a:pPr algn="l">
              <a:lnSpc>
                <a:spcPct val="120000"/>
              </a:lnSpc>
              <a:spcAft>
                <a:spcPts val="200"/>
              </a:spcAft>
            </a:pPr>
            <a:r>
              <a:rPr sz="1150" b="0" i="0">
                <a:solidFill>
                  <a:srgbClr val="BBC7D6"/>
                </a:solidFill>
                <a:latin typeface="Segoe UI"/>
                <a:ea typeface="Segoe UI"/>
              </a:rPr>
              <a:t>· </a:t>
            </a:r>
          </a:p>
          <a:p>
            <a:pPr algn="l">
              <a:lnSpc>
                <a:spcPct val="120000"/>
              </a:lnSpc>
              <a:spcAft>
                <a:spcPts val="200"/>
              </a:spcAft>
            </a:pPr>
            <a:r>
              <a:rPr sz="1150" b="0" i="0">
                <a:solidFill>
                  <a:srgbClr val="BBC7D6"/>
                </a:solidFill>
                <a:latin typeface="Segoe UI"/>
                <a:ea typeface="Segoe UI"/>
              </a:rPr>
              <a:t>· </a:t>
            </a:r>
          </a:p>
          <a:p>
            <a:pPr algn="l">
              <a:lnSpc>
                <a:spcPct val="120000"/>
              </a:lnSpc>
              <a:spcAft>
                <a:spcPts val="200"/>
              </a:spcAft>
            </a:pPr>
            <a:r>
              <a:rPr sz="1150" b="0" i="0">
                <a:solidFill>
                  <a:srgbClr val="BBC7D6"/>
                </a:solidFill>
                <a:latin typeface="Segoe UI"/>
                <a:ea typeface="Segoe UI"/>
              </a:rPr>
              <a:t>·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7724"/>
          </a:xfrm>
          <a:prstGeom prst="rect">
            <a:avLst/>
          </a:prstGeom>
          <a:solidFill>
            <a:srgbClr val="1F5CA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TextBox 2"/>
          <p:cNvSpPr txBox="1"/>
          <p:nvPr/>
        </p:nvSpPr>
        <p:spPr>
          <a:xfrm>
            <a:off x="566928" y="310896"/>
            <a:ext cx="8595360" cy="274320"/>
          </a:xfrm>
          <a:prstGeom prst="rect">
            <a:avLst/>
          </a:prstGeom>
          <a:noFill/>
        </p:spPr>
        <p:txBody>
          <a:bodyPr wrap="square" lIns="0" tIns="0" rIns="0" bIns="0">
            <a:spAutoFit/>
          </a:bodyPr>
          <a:lstStyle/>
          <a:p>
            <a:pPr algn="l">
              <a:lnSpc>
                <a:spcPct val="120000"/>
              </a:lnSpc>
              <a:spcAft>
                <a:spcPts val="0"/>
              </a:spcAft>
            </a:pPr>
            <a:r>
              <a:rPr sz="1050" b="1" i="0">
                <a:solidFill>
                  <a:srgbClr val="1F5CA8"/>
                </a:solidFill>
                <a:latin typeface="Segoe UI"/>
                <a:ea typeface="Segoe UI"/>
              </a:rPr>
              <a:t>PART 1 · EMBEDDING MODEL: BERT</a:t>
            </a:r>
          </a:p>
        </p:txBody>
      </p:sp>
      <p:sp>
        <p:nvSpPr>
          <p:cNvPr id="4" name="TextBox 3"/>
          <p:cNvSpPr txBox="1"/>
          <p:nvPr/>
        </p:nvSpPr>
        <p:spPr>
          <a:xfrm>
            <a:off x="10161727" y="310896"/>
            <a:ext cx="1463040" cy="274320"/>
          </a:xfrm>
          <a:prstGeom prst="rect">
            <a:avLst/>
          </a:prstGeom>
          <a:noFill/>
        </p:spPr>
        <p:txBody>
          <a:bodyPr wrap="square" lIns="0" tIns="0" rIns="0" bIns="0">
            <a:spAutoFit/>
          </a:bodyPr>
          <a:lstStyle/>
          <a:p>
            <a:pPr algn="r">
              <a:lnSpc>
                <a:spcPct val="120000"/>
              </a:lnSpc>
              <a:spcAft>
                <a:spcPts val="0"/>
              </a:spcAft>
            </a:pPr>
            <a:r>
              <a:rPr sz="1050" b="0" i="0">
                <a:solidFill>
                  <a:srgbClr val="7A8696"/>
                </a:solidFill>
                <a:latin typeface="Segoe UI"/>
                <a:ea typeface="Segoe UI"/>
              </a:rPr>
              <a:t>5</a:t>
            </a:r>
          </a:p>
        </p:txBody>
      </p:sp>
      <p:sp>
        <p:nvSpPr>
          <p:cNvPr id="5" name="TextBox 4"/>
          <p:cNvSpPr txBox="1"/>
          <p:nvPr/>
        </p:nvSpPr>
        <p:spPr>
          <a:xfrm>
            <a:off x="566928" y="658368"/>
            <a:ext cx="11057839" cy="658368"/>
          </a:xfrm>
          <a:prstGeom prst="rect">
            <a:avLst/>
          </a:prstGeom>
          <a:noFill/>
        </p:spPr>
        <p:txBody>
          <a:bodyPr wrap="square" lIns="0" tIns="0" rIns="0" bIns="0">
            <a:spAutoFit/>
          </a:bodyPr>
          <a:lstStyle/>
          <a:p>
            <a:pPr algn="l">
              <a:lnSpc>
                <a:spcPct val="120000"/>
              </a:lnSpc>
              <a:spcAft>
                <a:spcPts val="0"/>
              </a:spcAft>
            </a:pPr>
            <a:r>
              <a:rPr sz="2700" b="1" i="0">
                <a:solidFill>
                  <a:srgbClr val="1B2533"/>
                </a:solidFill>
                <a:latin typeface="Segoe UI"/>
                <a:ea typeface="Segoe UI"/>
              </a:rPr>
              <a:t>How BERT is pretrained: two self-supervised tasks</a:t>
            </a:r>
          </a:p>
        </p:txBody>
      </p:sp>
      <p:sp>
        <p:nvSpPr>
          <p:cNvPr id="6" name="Rectangle 5"/>
          <p:cNvSpPr/>
          <p:nvPr/>
        </p:nvSpPr>
        <p:spPr>
          <a:xfrm>
            <a:off x="566928" y="1371600"/>
            <a:ext cx="1051560" cy="50292"/>
          </a:xfrm>
          <a:prstGeom prst="rect">
            <a:avLst/>
          </a:prstGeom>
          <a:solidFill>
            <a:srgbClr val="1F5CA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 name="TextBox 6"/>
          <p:cNvSpPr txBox="1"/>
          <p:nvPr/>
        </p:nvSpPr>
        <p:spPr>
          <a:xfrm>
            <a:off x="566928" y="1517904"/>
            <a:ext cx="11057839" cy="329184"/>
          </a:xfrm>
          <a:prstGeom prst="rect">
            <a:avLst/>
          </a:prstGeom>
          <a:noFill/>
        </p:spPr>
        <p:txBody>
          <a:bodyPr wrap="square" lIns="0" tIns="0" rIns="0" bIns="0">
            <a:spAutoFit/>
          </a:bodyPr>
          <a:lstStyle/>
          <a:p>
            <a:pPr algn="l">
              <a:lnSpc>
                <a:spcPct val="120000"/>
              </a:lnSpc>
              <a:spcAft>
                <a:spcPts val="0"/>
              </a:spcAft>
            </a:pPr>
            <a:r>
              <a:rPr sz="1300" b="0" i="0">
                <a:solidFill>
                  <a:srgbClr val="7A8696"/>
                </a:solidFill>
                <a:latin typeface="Segoe UI"/>
                <a:ea typeface="Segoe UI"/>
              </a:rPr>
              <a:t>No labels needed — the text supervises itself</a:t>
            </a:r>
          </a:p>
        </p:txBody>
      </p:sp>
      <p:sp>
        <p:nvSpPr>
          <p:cNvPr id="8" name="Rounded Rectangle 7"/>
          <p:cNvSpPr/>
          <p:nvPr/>
        </p:nvSpPr>
        <p:spPr>
          <a:xfrm>
            <a:off x="566928" y="1938528"/>
            <a:ext cx="5943600" cy="4754880"/>
          </a:xfrm>
          <a:prstGeom prst="roundRect">
            <a:avLst>
              <a:gd name="adj" fmla="val 3000"/>
            </a:avLst>
          </a:prstGeom>
          <a:noFill/>
          <a:ln w="12700">
            <a:solidFill>
              <a:srgbClr val="D8DEE6"/>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TextBox 8"/>
          <p:cNvSpPr txBox="1"/>
          <p:nvPr/>
        </p:nvSpPr>
        <p:spPr>
          <a:xfrm>
            <a:off x="804672" y="2139696"/>
            <a:ext cx="5486400" cy="3566160"/>
          </a:xfrm>
          <a:prstGeom prst="rect">
            <a:avLst/>
          </a:prstGeom>
          <a:noFill/>
        </p:spPr>
        <p:txBody>
          <a:bodyPr wrap="square" lIns="0" tIns="0" rIns="0" bIns="0">
            <a:spAutoFit/>
          </a:bodyPr>
          <a:lstStyle/>
          <a:p>
            <a:pPr algn="l">
              <a:lnSpc>
                <a:spcPct val="120000"/>
              </a:lnSpc>
              <a:spcAft>
                <a:spcPts val="800"/>
              </a:spcAft>
            </a:pPr>
            <a:r>
              <a:rPr sz="1500" b="1" i="0">
                <a:solidFill>
                  <a:srgbClr val="1F5CA8"/>
                </a:solidFill>
                <a:latin typeface="Segoe UI"/>
                <a:ea typeface="Segoe UI"/>
              </a:rPr>
              <a:t>1. Bidirectional MLM</a:t>
            </a:r>
          </a:p>
          <a:p>
            <a:pPr algn="l">
              <a:lnSpc>
                <a:spcPct val="115000"/>
              </a:lnSpc>
              <a:spcAft>
                <a:spcPts val="700"/>
              </a:spcAft>
            </a:pPr>
            <a:r>
              <a:rPr sz="1250" b="0" i="0">
                <a:solidFill>
                  <a:srgbClr val="334050"/>
                </a:solidFill>
                <a:latin typeface="Segoe UI"/>
                <a:ea typeface="Segoe UI"/>
              </a:rPr>
              <a:t>▪  Pick 15% of tokens; of those, 80% become [MASK], 10% become a random word, 10% stay unchanged</a:t>
            </a:r>
          </a:p>
          <a:p>
            <a:pPr algn="l">
              <a:lnSpc>
                <a:spcPct val="115000"/>
              </a:lnSpc>
              <a:spcAft>
                <a:spcPts val="700"/>
              </a:spcAft>
            </a:pPr>
            <a:r>
              <a:rPr sz="1250" b="0" i="0">
                <a:solidFill>
                  <a:srgbClr val="334050"/>
                </a:solidFill>
                <a:latin typeface="Segoe UI"/>
                <a:ea typeface="Segoe UI"/>
              </a:rPr>
              <a:t>▪  Why not mask 100%: it avoids a train/inference mismatch in the input distribution</a:t>
            </a:r>
          </a:p>
          <a:p>
            <a:pPr algn="l">
              <a:lnSpc>
                <a:spcPct val="115000"/>
              </a:lnSpc>
              <a:spcAft>
                <a:spcPts val="700"/>
              </a:spcAft>
            </a:pPr>
            <a:r>
              <a:rPr sz="1250" b="0" i="0">
                <a:solidFill>
                  <a:srgbClr val="334050"/>
                </a:solidFill>
                <a:latin typeface="Segoe UI"/>
                <a:ea typeface="Segoe UI"/>
              </a:rPr>
              <a:t>▪  Why bidirectional: seeing both sides beats left-only (GPT-style) for understanding tasks</a:t>
            </a:r>
          </a:p>
          <a:p>
            <a:pPr algn="l">
              <a:lnSpc>
                <a:spcPct val="120000"/>
              </a:lnSpc>
              <a:spcAft>
                <a:spcPts val="800"/>
              </a:spcAft>
            </a:pPr>
            <a:r>
              <a:rPr sz="1500" b="1" i="0">
                <a:solidFill>
                  <a:srgbClr val="1F5CA8"/>
                </a:solidFill>
                <a:latin typeface="Segoe UI"/>
                <a:ea typeface="Segoe UI"/>
              </a:rPr>
              <a:t>2. Next Sentence Prediction (NSP)</a:t>
            </a:r>
          </a:p>
          <a:p>
            <a:pPr algn="l">
              <a:lnSpc>
                <a:spcPct val="115000"/>
              </a:lnSpc>
              <a:spcAft>
                <a:spcPts val="700"/>
              </a:spcAft>
            </a:pPr>
            <a:r>
              <a:rPr sz="1250" b="0" i="0">
                <a:solidFill>
                  <a:srgbClr val="334050"/>
                </a:solidFill>
                <a:latin typeface="Segoe UI"/>
                <a:ea typeface="Segoe UI"/>
              </a:rPr>
              <a:t>▪  Feed two segments A and B; predict whether B truly follows A (50% positive)</a:t>
            </a:r>
          </a:p>
          <a:p>
            <a:pPr algn="l">
              <a:lnSpc>
                <a:spcPct val="115000"/>
              </a:lnSpc>
              <a:spcAft>
                <a:spcPts val="700"/>
              </a:spcAft>
            </a:pPr>
            <a:r>
              <a:rPr sz="1250" b="0" i="0">
                <a:solidFill>
                  <a:srgbClr val="334050"/>
                </a:solidFill>
                <a:latin typeface="Segoe UI"/>
                <a:ea typeface="Segoe UI"/>
              </a:rPr>
              <a:t>▪  Purpose: teach sentence-to-sentence relationships, useful for QA and NLI</a:t>
            </a:r>
          </a:p>
          <a:p>
            <a:pPr algn="l">
              <a:lnSpc>
                <a:spcPct val="115000"/>
              </a:lnSpc>
              <a:spcAft>
                <a:spcPts val="700"/>
              </a:spcAft>
            </a:pPr>
            <a:r>
              <a:rPr sz="1250" b="0" i="0">
                <a:solidFill>
                  <a:srgbClr val="334050"/>
                </a:solidFill>
                <a:latin typeface="Segoe UI"/>
                <a:ea typeface="Segoe UI"/>
              </a:rPr>
              <a:t>▪  Later work (RoBERTa) found NSP weak; Sentence-Order Prediction (SOP) works better</a:t>
            </a:r>
          </a:p>
        </p:txBody>
      </p:sp>
      <p:sp>
        <p:nvSpPr>
          <p:cNvPr id="10" name="Rounded Rectangle 9"/>
          <p:cNvSpPr/>
          <p:nvPr/>
        </p:nvSpPr>
        <p:spPr>
          <a:xfrm>
            <a:off x="6876288" y="1938528"/>
            <a:ext cx="4748479" cy="4754880"/>
          </a:xfrm>
          <a:prstGeom prst="roundRect">
            <a:avLst>
              <a:gd name="adj" fmla="val 3000"/>
            </a:avLst>
          </a:prstGeom>
          <a:solidFill>
            <a:srgbClr val="F7F9FC"/>
          </a:solidFill>
          <a:ln w="12700">
            <a:solidFill>
              <a:srgbClr val="BBC7D6"/>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 name="TextBox 10"/>
          <p:cNvSpPr txBox="1"/>
          <p:nvPr/>
        </p:nvSpPr>
        <p:spPr>
          <a:xfrm>
            <a:off x="7077456" y="2103120"/>
            <a:ext cx="4346143" cy="4425696"/>
          </a:xfrm>
          <a:prstGeom prst="rect">
            <a:avLst/>
          </a:prstGeom>
          <a:noFill/>
        </p:spPr>
        <p:txBody>
          <a:bodyPr wrap="square" lIns="0" tIns="0" rIns="0" bIns="0">
            <a:spAutoFit/>
          </a:bodyPr>
          <a:lstStyle/>
          <a:p>
            <a:pPr algn="l">
              <a:lnSpc>
                <a:spcPct val="120000"/>
              </a:lnSpc>
              <a:spcAft>
                <a:spcPts val="400"/>
              </a:spcAft>
            </a:pPr>
            <a:r>
              <a:rPr sz="1300" b="1" i="0">
                <a:solidFill>
                  <a:srgbClr val="1F5CA8"/>
                </a:solidFill>
                <a:latin typeface="Segoe UI"/>
                <a:ea typeface="Segoe UI"/>
              </a:rPr>
              <a:t>Placeholder: MLM masking example / pretraining flow</a:t>
            </a:r>
          </a:p>
          <a:p>
            <a:pPr algn="l">
              <a:lnSpc>
                <a:spcPct val="120000"/>
              </a:lnSpc>
              <a:spcAft>
                <a:spcPts val="0"/>
              </a:spcAft>
            </a:pPr>
            <a:r>
              <a:rPr sz="1150" b="0" i="0">
                <a:solidFill>
                  <a:srgbClr val="7A8696"/>
                </a:solidFill>
                <a:latin typeface="Segoe UI"/>
                <a:ea typeface="Segoe UI"/>
              </a:rPr>
              <a:t>Suggested: input string → masked positions → Encoder → loss computed only on masked positions</a:t>
            </a:r>
          </a:p>
          <a:p>
            <a:pPr algn="l">
              <a:lnSpc>
                <a:spcPct val="120000"/>
              </a:lnSpc>
              <a:spcAft>
                <a:spcPts val="200"/>
              </a:spcAft>
            </a:pPr>
            <a:r>
              <a:rPr sz="1150" b="0" i="0">
                <a:solidFill>
                  <a:srgbClr val="BBC7D6"/>
                </a:solidFill>
                <a:latin typeface="Segoe UI"/>
                <a:ea typeface="Segoe UI"/>
              </a:rPr>
              <a:t>· </a:t>
            </a:r>
          </a:p>
          <a:p>
            <a:pPr algn="l">
              <a:lnSpc>
                <a:spcPct val="120000"/>
              </a:lnSpc>
              <a:spcAft>
                <a:spcPts val="200"/>
              </a:spcAft>
            </a:pPr>
            <a:r>
              <a:rPr sz="1150" b="0" i="0">
                <a:solidFill>
                  <a:srgbClr val="BBC7D6"/>
                </a:solidFill>
                <a:latin typeface="Segoe UI"/>
                <a:ea typeface="Segoe UI"/>
              </a:rPr>
              <a:t>· </a:t>
            </a:r>
          </a:p>
          <a:p>
            <a:pPr algn="l">
              <a:lnSpc>
                <a:spcPct val="120000"/>
              </a:lnSpc>
              <a:spcAft>
                <a:spcPts val="200"/>
              </a:spcAft>
            </a:pPr>
            <a:r>
              <a:rPr sz="1150" b="0" i="0">
                <a:solidFill>
                  <a:srgbClr val="BBC7D6"/>
                </a:solidFill>
                <a:latin typeface="Segoe UI"/>
                <a:ea typeface="Segoe UI"/>
              </a:rPr>
              <a:t>· </a:t>
            </a:r>
          </a:p>
          <a:p>
            <a:pPr algn="l">
              <a:lnSpc>
                <a:spcPct val="120000"/>
              </a:lnSpc>
              <a:spcAft>
                <a:spcPts val="200"/>
              </a:spcAft>
            </a:pPr>
            <a:r>
              <a:rPr sz="1150" b="0" i="0">
                <a:solidFill>
                  <a:srgbClr val="BBC7D6"/>
                </a:solidFill>
                <a:latin typeface="Segoe UI"/>
                <a:ea typeface="Segoe UI"/>
              </a:rPr>
              <a:t>· </a:t>
            </a:r>
          </a:p>
          <a:p>
            <a:pPr algn="l">
              <a:lnSpc>
                <a:spcPct val="120000"/>
              </a:lnSpc>
              <a:spcAft>
                <a:spcPts val="200"/>
              </a:spcAft>
            </a:pPr>
            <a:r>
              <a:rPr sz="1150" b="0" i="0">
                <a:solidFill>
                  <a:srgbClr val="BBC7D6"/>
                </a:solidFill>
                <a:latin typeface="Segoe UI"/>
                <a:ea typeface="Segoe UI"/>
              </a:rPr>
              <a:t>· </a:t>
            </a:r>
          </a:p>
          <a:p>
            <a:pPr algn="l">
              <a:lnSpc>
                <a:spcPct val="120000"/>
              </a:lnSpc>
              <a:spcAft>
                <a:spcPts val="200"/>
              </a:spcAft>
            </a:pPr>
            <a:r>
              <a:rPr sz="1150" b="0" i="0">
                <a:solidFill>
                  <a:srgbClr val="BBC7D6"/>
                </a:solidFill>
                <a:latin typeface="Segoe UI"/>
                <a:ea typeface="Segoe UI"/>
              </a:rPr>
              <a:t>·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7724"/>
          </a:xfrm>
          <a:prstGeom prst="rect">
            <a:avLst/>
          </a:prstGeom>
          <a:solidFill>
            <a:srgbClr val="1F5CA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TextBox 2"/>
          <p:cNvSpPr txBox="1"/>
          <p:nvPr/>
        </p:nvSpPr>
        <p:spPr>
          <a:xfrm>
            <a:off x="566928" y="310896"/>
            <a:ext cx="8595360" cy="274320"/>
          </a:xfrm>
          <a:prstGeom prst="rect">
            <a:avLst/>
          </a:prstGeom>
          <a:noFill/>
        </p:spPr>
        <p:txBody>
          <a:bodyPr wrap="square" lIns="0" tIns="0" rIns="0" bIns="0">
            <a:spAutoFit/>
          </a:bodyPr>
          <a:lstStyle/>
          <a:p>
            <a:pPr algn="l">
              <a:lnSpc>
                <a:spcPct val="120000"/>
              </a:lnSpc>
              <a:spcAft>
                <a:spcPts val="0"/>
              </a:spcAft>
            </a:pPr>
            <a:r>
              <a:rPr sz="1050" b="1" i="0">
                <a:solidFill>
                  <a:srgbClr val="1F5CA8"/>
                </a:solidFill>
                <a:latin typeface="Segoe UI"/>
                <a:ea typeface="Segoe UI"/>
              </a:rPr>
              <a:t>PART 1 · EMBEDDING MODEL: BERT</a:t>
            </a:r>
          </a:p>
        </p:txBody>
      </p:sp>
      <p:sp>
        <p:nvSpPr>
          <p:cNvPr id="4" name="TextBox 3"/>
          <p:cNvSpPr txBox="1"/>
          <p:nvPr/>
        </p:nvSpPr>
        <p:spPr>
          <a:xfrm>
            <a:off x="10161727" y="310896"/>
            <a:ext cx="1463040" cy="274320"/>
          </a:xfrm>
          <a:prstGeom prst="rect">
            <a:avLst/>
          </a:prstGeom>
          <a:noFill/>
        </p:spPr>
        <p:txBody>
          <a:bodyPr wrap="square" lIns="0" tIns="0" rIns="0" bIns="0">
            <a:spAutoFit/>
          </a:bodyPr>
          <a:lstStyle/>
          <a:p>
            <a:pPr algn="r">
              <a:lnSpc>
                <a:spcPct val="120000"/>
              </a:lnSpc>
              <a:spcAft>
                <a:spcPts val="0"/>
              </a:spcAft>
            </a:pPr>
            <a:r>
              <a:rPr sz="1050" b="0" i="0">
                <a:solidFill>
                  <a:srgbClr val="7A8696"/>
                </a:solidFill>
                <a:latin typeface="Segoe UI"/>
                <a:ea typeface="Segoe UI"/>
              </a:rPr>
              <a:t>6</a:t>
            </a:r>
          </a:p>
        </p:txBody>
      </p:sp>
      <p:sp>
        <p:nvSpPr>
          <p:cNvPr id="5" name="TextBox 4"/>
          <p:cNvSpPr txBox="1"/>
          <p:nvPr/>
        </p:nvSpPr>
        <p:spPr>
          <a:xfrm>
            <a:off x="566928" y="658368"/>
            <a:ext cx="11057839" cy="658368"/>
          </a:xfrm>
          <a:prstGeom prst="rect">
            <a:avLst/>
          </a:prstGeom>
          <a:noFill/>
        </p:spPr>
        <p:txBody>
          <a:bodyPr wrap="square" lIns="0" tIns="0" rIns="0" bIns="0">
            <a:spAutoFit/>
          </a:bodyPr>
          <a:lstStyle/>
          <a:p>
            <a:pPr algn="l">
              <a:lnSpc>
                <a:spcPct val="120000"/>
              </a:lnSpc>
              <a:spcAft>
                <a:spcPts val="0"/>
              </a:spcAft>
            </a:pPr>
            <a:r>
              <a:rPr sz="2700" b="1" i="0">
                <a:solidFill>
                  <a:srgbClr val="1B2533"/>
                </a:solidFill>
                <a:latin typeface="Segoe UI"/>
                <a:ea typeface="Segoe UI"/>
              </a:rPr>
              <a:t>How BERT is fine-tuned: labeled downstream data</a:t>
            </a:r>
          </a:p>
        </p:txBody>
      </p:sp>
      <p:sp>
        <p:nvSpPr>
          <p:cNvPr id="6" name="Rectangle 5"/>
          <p:cNvSpPr/>
          <p:nvPr/>
        </p:nvSpPr>
        <p:spPr>
          <a:xfrm>
            <a:off x="566928" y="1371600"/>
            <a:ext cx="1051560" cy="50292"/>
          </a:xfrm>
          <a:prstGeom prst="rect">
            <a:avLst/>
          </a:prstGeom>
          <a:solidFill>
            <a:srgbClr val="1F5CA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 name="TextBox 6"/>
          <p:cNvSpPr txBox="1"/>
          <p:nvPr/>
        </p:nvSpPr>
        <p:spPr>
          <a:xfrm>
            <a:off x="566928" y="1517904"/>
            <a:ext cx="11057839" cy="329184"/>
          </a:xfrm>
          <a:prstGeom prst="rect">
            <a:avLst/>
          </a:prstGeom>
          <a:noFill/>
        </p:spPr>
        <p:txBody>
          <a:bodyPr wrap="square" lIns="0" tIns="0" rIns="0" bIns="0">
            <a:spAutoFit/>
          </a:bodyPr>
          <a:lstStyle/>
          <a:p>
            <a:pPr algn="l">
              <a:lnSpc>
                <a:spcPct val="120000"/>
              </a:lnSpc>
              <a:spcAft>
                <a:spcPts val="0"/>
              </a:spcAft>
            </a:pPr>
            <a:r>
              <a:rPr sz="1300" b="0" i="0">
                <a:solidFill>
                  <a:srgbClr val="7A8696"/>
                </a:solidFill>
                <a:latin typeface="Segoe UI"/>
                <a:ea typeface="Segoe UI"/>
              </a:rPr>
              <a:t>Including question-answer pairs</a:t>
            </a:r>
          </a:p>
        </p:txBody>
      </p:sp>
      <p:sp>
        <p:nvSpPr>
          <p:cNvPr id="8" name="Rounded Rectangle 7"/>
          <p:cNvSpPr/>
          <p:nvPr/>
        </p:nvSpPr>
        <p:spPr>
          <a:xfrm>
            <a:off x="566928" y="1938528"/>
            <a:ext cx="6035040" cy="2029968"/>
          </a:xfrm>
          <a:prstGeom prst="roundRect">
            <a:avLst>
              <a:gd name="adj" fmla="val 3000"/>
            </a:avLst>
          </a:prstGeom>
          <a:noFill/>
          <a:ln w="12700">
            <a:solidFill>
              <a:srgbClr val="D8DEE6"/>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TextBox 8"/>
          <p:cNvSpPr txBox="1"/>
          <p:nvPr/>
        </p:nvSpPr>
        <p:spPr>
          <a:xfrm>
            <a:off x="804672" y="2103120"/>
            <a:ext cx="5577840" cy="1737360"/>
          </a:xfrm>
          <a:prstGeom prst="rect">
            <a:avLst/>
          </a:prstGeom>
          <a:noFill/>
        </p:spPr>
        <p:txBody>
          <a:bodyPr wrap="square" lIns="0" tIns="0" rIns="0" bIns="0">
            <a:spAutoFit/>
          </a:bodyPr>
          <a:lstStyle/>
          <a:p>
            <a:pPr algn="l">
              <a:lnSpc>
                <a:spcPct val="120000"/>
              </a:lnSpc>
              <a:spcAft>
                <a:spcPts val="800"/>
              </a:spcAft>
            </a:pPr>
            <a:r>
              <a:rPr sz="1500" b="1" i="0">
                <a:solidFill>
                  <a:srgbClr val="1F5CA8"/>
                </a:solidFill>
                <a:latin typeface="Segoe UI"/>
                <a:ea typeface="Segoe UI"/>
              </a:rPr>
              <a:t>Standard recipe</a:t>
            </a:r>
          </a:p>
          <a:p>
            <a:pPr algn="l">
              <a:lnSpc>
                <a:spcPct val="115000"/>
              </a:lnSpc>
              <a:spcAft>
                <a:spcPts val="700"/>
              </a:spcAft>
            </a:pPr>
            <a:r>
              <a:rPr sz="1300" b="0" i="0">
                <a:solidFill>
                  <a:srgbClr val="334050"/>
                </a:solidFill>
                <a:latin typeface="Segoe UI"/>
                <a:ea typeface="Segoe UI"/>
              </a:rPr>
              <a:t>▪  Pretrained weights + task head (classification / span extraction) → end-to-end fine-tuning</a:t>
            </a:r>
          </a:p>
          <a:p>
            <a:pPr algn="l">
              <a:lnSpc>
                <a:spcPct val="115000"/>
              </a:lnSpc>
              <a:spcAft>
                <a:spcPts val="700"/>
              </a:spcAft>
            </a:pPr>
            <a:r>
              <a:rPr sz="1300" b="0" i="0">
                <a:solidFill>
                  <a:srgbClr val="334050"/>
                </a:solidFill>
                <a:latin typeface="Segoe UI"/>
                <a:ea typeface="Segoe UI"/>
              </a:rPr>
              <a:t>▪  QA (SQuAD style): input [CLS] Question [SEP] Passage [SEP]; output start / end positions of the answer span</a:t>
            </a:r>
          </a:p>
          <a:p>
            <a:pPr algn="l">
              <a:lnSpc>
                <a:spcPct val="115000"/>
              </a:lnSpc>
              <a:spcAft>
                <a:spcPts val="700"/>
              </a:spcAft>
            </a:pPr>
            <a:r>
              <a:rPr sz="1300" b="0" i="0">
                <a:solidFill>
                  <a:srgbClr val="334050"/>
                </a:solidFill>
                <a:latin typeface="Segoe UI"/>
                <a:ea typeface="Segoe UI"/>
              </a:rPr>
              <a:t>▪  Objective: cross-entropy; small LR (2e-5 to 5e-5) converges in 3-4 epochs</a:t>
            </a:r>
          </a:p>
        </p:txBody>
      </p:sp>
      <p:sp>
        <p:nvSpPr>
          <p:cNvPr id="10" name="Rounded Rectangle 9"/>
          <p:cNvSpPr/>
          <p:nvPr/>
        </p:nvSpPr>
        <p:spPr>
          <a:xfrm>
            <a:off x="566928" y="4059936"/>
            <a:ext cx="6035040" cy="2633472"/>
          </a:xfrm>
          <a:prstGeom prst="roundRect">
            <a:avLst>
              <a:gd name="adj" fmla="val 3000"/>
            </a:avLst>
          </a:prstGeom>
          <a:solidFill>
            <a:srgbClr val="F7F9FC"/>
          </a:solidFill>
          <a:ln w="12700">
            <a:solidFill>
              <a:srgbClr val="BBC7D6"/>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 name="TextBox 10"/>
          <p:cNvSpPr txBox="1"/>
          <p:nvPr/>
        </p:nvSpPr>
        <p:spPr>
          <a:xfrm>
            <a:off x="804672" y="4206240"/>
            <a:ext cx="5577840" cy="2377440"/>
          </a:xfrm>
          <a:prstGeom prst="rect">
            <a:avLst/>
          </a:prstGeom>
          <a:noFill/>
        </p:spPr>
        <p:txBody>
          <a:bodyPr wrap="square" lIns="0" tIns="0" rIns="0" bIns="0">
            <a:spAutoFit/>
          </a:bodyPr>
          <a:lstStyle/>
          <a:p>
            <a:endParaRPr/>
          </a:p>
          <a:p>
            <a:pPr algn="l">
              <a:lnSpc>
                <a:spcPct val="120000"/>
              </a:lnSpc>
              <a:spcAft>
                <a:spcPts val="700"/>
              </a:spcAft>
            </a:pPr>
            <a:r>
              <a:rPr sz="1400" b="1" i="0">
                <a:solidFill>
                  <a:srgbClr val="C0502A"/>
                </a:solidFill>
                <a:latin typeface="Segoe UI"/>
                <a:ea typeface="Segoe UI"/>
              </a:rPr>
              <a:t>The catch: BERT is not an off-the-shelf embedding model</a:t>
            </a:r>
          </a:p>
          <a:p>
            <a:pPr algn="l">
              <a:lnSpc>
                <a:spcPct val="115000"/>
              </a:lnSpc>
              <a:spcAft>
                <a:spcPts val="700"/>
              </a:spcAft>
            </a:pPr>
            <a:r>
              <a:rPr sz="1200" b="0" i="0">
                <a:solidFill>
                  <a:srgbClr val="334050"/>
                </a:solidFill>
                <a:latin typeface="Segoe UI"/>
                <a:ea typeface="Segoe UI"/>
              </a:rPr>
              <a:t>▪  BERT was never trained on sentence similarity, so CLS vectors are anisotropic and cosine similarity barely discriminates</a:t>
            </a:r>
          </a:p>
          <a:p>
            <a:pPr algn="l">
              <a:lnSpc>
                <a:spcPct val="115000"/>
              </a:lnSpc>
              <a:spcAft>
                <a:spcPts val="700"/>
              </a:spcAft>
            </a:pPr>
            <a:r>
              <a:rPr sz="1200" b="0" i="0">
                <a:solidFill>
                  <a:srgbClr val="334050"/>
                </a:solidFill>
                <a:latin typeface="Segoe UI"/>
                <a:ea typeface="Segoe UI"/>
              </a:rPr>
              <a:t>▪  Common mitigations: mean pooling, or whitening / normalizing the vectors</a:t>
            </a:r>
          </a:p>
          <a:p>
            <a:pPr algn="l">
              <a:lnSpc>
                <a:spcPct val="115000"/>
              </a:lnSpc>
              <a:spcAft>
                <a:spcPts val="700"/>
              </a:spcAft>
            </a:pPr>
            <a:r>
              <a:rPr sz="1200" b="0" i="0">
                <a:solidFill>
                  <a:srgbClr val="334050"/>
                </a:solidFill>
                <a:latin typeface="Segoe UI"/>
                <a:ea typeface="Segoe UI"/>
              </a:rPr>
              <a:t>▪  Feeding pairs jointly (a Cross-Encoder) works well but is O(n²) at inference — not viable for large-scale retrieval</a:t>
            </a:r>
          </a:p>
        </p:txBody>
      </p:sp>
      <p:sp>
        <p:nvSpPr>
          <p:cNvPr id="12" name="Rounded Rectangle 11"/>
          <p:cNvSpPr/>
          <p:nvPr/>
        </p:nvSpPr>
        <p:spPr>
          <a:xfrm>
            <a:off x="6967728" y="1938528"/>
            <a:ext cx="4657039" cy="4754880"/>
          </a:xfrm>
          <a:prstGeom prst="roundRect">
            <a:avLst>
              <a:gd name="adj" fmla="val 3000"/>
            </a:avLst>
          </a:prstGeom>
          <a:solidFill>
            <a:srgbClr val="F7F9FC"/>
          </a:solidFill>
          <a:ln w="12700">
            <a:solidFill>
              <a:srgbClr val="BBC7D6"/>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3" name="TextBox 12"/>
          <p:cNvSpPr txBox="1"/>
          <p:nvPr/>
        </p:nvSpPr>
        <p:spPr>
          <a:xfrm>
            <a:off x="7168896" y="2103120"/>
            <a:ext cx="4254703" cy="4425696"/>
          </a:xfrm>
          <a:prstGeom prst="rect">
            <a:avLst/>
          </a:prstGeom>
          <a:noFill/>
        </p:spPr>
        <p:txBody>
          <a:bodyPr wrap="square" lIns="0" tIns="0" rIns="0" bIns="0">
            <a:spAutoFit/>
          </a:bodyPr>
          <a:lstStyle/>
          <a:p>
            <a:pPr algn="l">
              <a:lnSpc>
                <a:spcPct val="120000"/>
              </a:lnSpc>
              <a:spcAft>
                <a:spcPts val="400"/>
              </a:spcAft>
            </a:pPr>
            <a:r>
              <a:rPr sz="1300" b="1" i="0">
                <a:solidFill>
                  <a:srgbClr val="1F5CA8"/>
                </a:solidFill>
                <a:latin typeface="Segoe UI"/>
                <a:ea typeface="Segoe UI"/>
              </a:rPr>
              <a:t>Placeholder: fine-tuning data sample / code</a:t>
            </a:r>
          </a:p>
          <a:p>
            <a:pPr algn="l">
              <a:lnSpc>
                <a:spcPct val="120000"/>
              </a:lnSpc>
              <a:spcAft>
                <a:spcPts val="0"/>
              </a:spcAft>
            </a:pPr>
            <a:r>
              <a:rPr sz="1150" b="0" i="0">
                <a:solidFill>
                  <a:srgbClr val="7A8696"/>
                </a:solidFill>
                <a:latin typeface="Segoe UI"/>
                <a:ea typeface="Segoe UI"/>
              </a:rPr>
              <a:t>Suggested: a question-answer pair example (question, passage, label) plus 3-5 lines of HuggingFace fine-tuning code</a:t>
            </a:r>
          </a:p>
          <a:p>
            <a:pPr algn="l">
              <a:lnSpc>
                <a:spcPct val="120000"/>
              </a:lnSpc>
              <a:spcAft>
                <a:spcPts val="200"/>
              </a:spcAft>
            </a:pPr>
            <a:r>
              <a:rPr sz="1150" b="0" i="0">
                <a:solidFill>
                  <a:srgbClr val="BBC7D6"/>
                </a:solidFill>
                <a:latin typeface="Segoe UI"/>
                <a:ea typeface="Segoe UI"/>
              </a:rPr>
              <a:t>· </a:t>
            </a:r>
          </a:p>
          <a:p>
            <a:pPr algn="l">
              <a:lnSpc>
                <a:spcPct val="120000"/>
              </a:lnSpc>
              <a:spcAft>
                <a:spcPts val="200"/>
              </a:spcAft>
            </a:pPr>
            <a:r>
              <a:rPr sz="1150" b="0" i="0">
                <a:solidFill>
                  <a:srgbClr val="BBC7D6"/>
                </a:solidFill>
                <a:latin typeface="Segoe UI"/>
                <a:ea typeface="Segoe UI"/>
              </a:rPr>
              <a:t>· </a:t>
            </a:r>
          </a:p>
          <a:p>
            <a:pPr algn="l">
              <a:lnSpc>
                <a:spcPct val="120000"/>
              </a:lnSpc>
              <a:spcAft>
                <a:spcPts val="200"/>
              </a:spcAft>
            </a:pPr>
            <a:r>
              <a:rPr sz="1150" b="0" i="0">
                <a:solidFill>
                  <a:srgbClr val="BBC7D6"/>
                </a:solidFill>
                <a:latin typeface="Segoe UI"/>
                <a:ea typeface="Segoe UI"/>
              </a:rPr>
              <a:t>· </a:t>
            </a:r>
          </a:p>
          <a:p>
            <a:pPr algn="l">
              <a:lnSpc>
                <a:spcPct val="120000"/>
              </a:lnSpc>
              <a:spcAft>
                <a:spcPts val="200"/>
              </a:spcAft>
            </a:pPr>
            <a:r>
              <a:rPr sz="1150" b="0" i="0">
                <a:solidFill>
                  <a:srgbClr val="BBC7D6"/>
                </a:solidFill>
                <a:latin typeface="Segoe UI"/>
                <a:ea typeface="Segoe UI"/>
              </a:rPr>
              <a:t>· </a:t>
            </a:r>
          </a:p>
          <a:p>
            <a:pPr algn="l">
              <a:lnSpc>
                <a:spcPct val="120000"/>
              </a:lnSpc>
              <a:spcAft>
                <a:spcPts val="200"/>
              </a:spcAft>
            </a:pPr>
            <a:r>
              <a:rPr sz="1150" b="0" i="0">
                <a:solidFill>
                  <a:srgbClr val="BBC7D6"/>
                </a:solidFill>
                <a:latin typeface="Segoe UI"/>
                <a:ea typeface="Segoe UI"/>
              </a:rPr>
              <a:t>· </a:t>
            </a:r>
          </a:p>
          <a:p>
            <a:pPr algn="l">
              <a:lnSpc>
                <a:spcPct val="120000"/>
              </a:lnSpc>
              <a:spcAft>
                <a:spcPts val="200"/>
              </a:spcAft>
            </a:pPr>
            <a:r>
              <a:rPr sz="1150" b="0" i="0">
                <a:solidFill>
                  <a:srgbClr val="BBC7D6"/>
                </a:solidFill>
                <a:latin typeface="Segoe UI"/>
                <a:ea typeface="Segoe UI"/>
              </a:rPr>
              <a:t>· </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7724"/>
          </a:xfrm>
          <a:prstGeom prst="rect">
            <a:avLst/>
          </a:prstGeom>
          <a:solidFill>
            <a:srgbClr val="1F5CA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TextBox 2"/>
          <p:cNvSpPr txBox="1"/>
          <p:nvPr/>
        </p:nvSpPr>
        <p:spPr>
          <a:xfrm>
            <a:off x="566928" y="310896"/>
            <a:ext cx="8595360" cy="274320"/>
          </a:xfrm>
          <a:prstGeom prst="rect">
            <a:avLst/>
          </a:prstGeom>
          <a:noFill/>
        </p:spPr>
        <p:txBody>
          <a:bodyPr wrap="square" lIns="0" tIns="0" rIns="0" bIns="0">
            <a:spAutoFit/>
          </a:bodyPr>
          <a:lstStyle/>
          <a:p>
            <a:pPr algn="l">
              <a:lnSpc>
                <a:spcPct val="120000"/>
              </a:lnSpc>
              <a:spcAft>
                <a:spcPts val="0"/>
              </a:spcAft>
            </a:pPr>
            <a:r>
              <a:rPr sz="1050" b="1" i="0">
                <a:solidFill>
                  <a:srgbClr val="1F5CA8"/>
                </a:solidFill>
                <a:latin typeface="Segoe UI"/>
                <a:ea typeface="Segoe UI"/>
              </a:rPr>
              <a:t>PART 1 · EMBEDDING MODEL: SBERT</a:t>
            </a:r>
          </a:p>
        </p:txBody>
      </p:sp>
      <p:sp>
        <p:nvSpPr>
          <p:cNvPr id="4" name="TextBox 3"/>
          <p:cNvSpPr txBox="1"/>
          <p:nvPr/>
        </p:nvSpPr>
        <p:spPr>
          <a:xfrm>
            <a:off x="10161727" y="310896"/>
            <a:ext cx="1463040" cy="274320"/>
          </a:xfrm>
          <a:prstGeom prst="rect">
            <a:avLst/>
          </a:prstGeom>
          <a:noFill/>
        </p:spPr>
        <p:txBody>
          <a:bodyPr wrap="square" lIns="0" tIns="0" rIns="0" bIns="0">
            <a:spAutoFit/>
          </a:bodyPr>
          <a:lstStyle/>
          <a:p>
            <a:pPr algn="r">
              <a:lnSpc>
                <a:spcPct val="120000"/>
              </a:lnSpc>
              <a:spcAft>
                <a:spcPts val="0"/>
              </a:spcAft>
            </a:pPr>
            <a:r>
              <a:rPr sz="1050" b="0" i="0">
                <a:solidFill>
                  <a:srgbClr val="7A8696"/>
                </a:solidFill>
                <a:latin typeface="Segoe UI"/>
                <a:ea typeface="Segoe UI"/>
              </a:rPr>
              <a:t>7</a:t>
            </a:r>
          </a:p>
        </p:txBody>
      </p:sp>
      <p:sp>
        <p:nvSpPr>
          <p:cNvPr id="5" name="TextBox 4"/>
          <p:cNvSpPr txBox="1"/>
          <p:nvPr/>
        </p:nvSpPr>
        <p:spPr>
          <a:xfrm>
            <a:off x="566928" y="658368"/>
            <a:ext cx="11057839" cy="658368"/>
          </a:xfrm>
          <a:prstGeom prst="rect">
            <a:avLst/>
          </a:prstGeom>
          <a:noFill/>
        </p:spPr>
        <p:txBody>
          <a:bodyPr wrap="square" lIns="0" tIns="0" rIns="0" bIns="0">
            <a:spAutoFit/>
          </a:bodyPr>
          <a:lstStyle/>
          <a:p>
            <a:pPr algn="l">
              <a:lnSpc>
                <a:spcPct val="120000"/>
              </a:lnSpc>
              <a:spcAft>
                <a:spcPts val="0"/>
              </a:spcAft>
            </a:pPr>
            <a:r>
              <a:rPr sz="2700" b="1" i="0">
                <a:solidFill>
                  <a:srgbClr val="1B2533"/>
                </a:solidFill>
                <a:latin typeface="Segoe UI"/>
                <a:ea typeface="Segoe UI"/>
              </a:rPr>
              <a:t>Why BERT is bad at sentence-level similarity</a:t>
            </a:r>
          </a:p>
        </p:txBody>
      </p:sp>
      <p:sp>
        <p:nvSpPr>
          <p:cNvPr id="6" name="Rectangle 5"/>
          <p:cNvSpPr/>
          <p:nvPr/>
        </p:nvSpPr>
        <p:spPr>
          <a:xfrm>
            <a:off x="566928" y="1371600"/>
            <a:ext cx="1051560" cy="50292"/>
          </a:xfrm>
          <a:prstGeom prst="rect">
            <a:avLst/>
          </a:prstGeom>
          <a:solidFill>
            <a:srgbClr val="1F5CA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 name="TextBox 6"/>
          <p:cNvSpPr txBox="1"/>
          <p:nvPr/>
        </p:nvSpPr>
        <p:spPr>
          <a:xfrm>
            <a:off x="566928" y="1517904"/>
            <a:ext cx="11057839" cy="329184"/>
          </a:xfrm>
          <a:prstGeom prst="rect">
            <a:avLst/>
          </a:prstGeom>
          <a:noFill/>
        </p:spPr>
        <p:txBody>
          <a:bodyPr wrap="square" lIns="0" tIns="0" rIns="0" bIns="0">
            <a:spAutoFit/>
          </a:bodyPr>
          <a:lstStyle/>
          <a:p>
            <a:pPr algn="l">
              <a:lnSpc>
                <a:spcPct val="120000"/>
              </a:lnSpc>
              <a:spcAft>
                <a:spcPts val="0"/>
              </a:spcAft>
            </a:pPr>
            <a:r>
              <a:rPr sz="1300" b="0" i="0">
                <a:solidFill>
                  <a:srgbClr val="7A8696"/>
                </a:solidFill>
                <a:latin typeface="Segoe UI"/>
                <a:ea typeface="Segoe UI"/>
              </a:rPr>
              <a:t>The training objective simply does not match the task</a:t>
            </a:r>
          </a:p>
        </p:txBody>
      </p:sp>
      <p:sp>
        <p:nvSpPr>
          <p:cNvPr id="8" name="Rounded Rectangle 7"/>
          <p:cNvSpPr/>
          <p:nvPr/>
        </p:nvSpPr>
        <p:spPr>
          <a:xfrm>
            <a:off x="566928" y="1938528"/>
            <a:ext cx="5669280" cy="2029968"/>
          </a:xfrm>
          <a:prstGeom prst="roundRect">
            <a:avLst>
              <a:gd name="adj" fmla="val 3000"/>
            </a:avLst>
          </a:prstGeom>
          <a:solidFill>
            <a:srgbClr val="F7F9FC"/>
          </a:solidFill>
          <a:ln w="12700">
            <a:solidFill>
              <a:srgbClr val="BBC7D6"/>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TextBox 8"/>
          <p:cNvSpPr txBox="1"/>
          <p:nvPr/>
        </p:nvSpPr>
        <p:spPr>
          <a:xfrm>
            <a:off x="786384" y="2103120"/>
            <a:ext cx="5212080" cy="1737360"/>
          </a:xfrm>
          <a:prstGeom prst="rect">
            <a:avLst/>
          </a:prstGeom>
          <a:noFill/>
        </p:spPr>
        <p:txBody>
          <a:bodyPr wrap="square" lIns="0" tIns="0" rIns="0" bIns="0">
            <a:spAutoFit/>
          </a:bodyPr>
          <a:lstStyle/>
          <a:p>
            <a:pPr algn="l">
              <a:lnSpc>
                <a:spcPct val="120000"/>
              </a:lnSpc>
              <a:spcAft>
                <a:spcPts val="600"/>
              </a:spcAft>
            </a:pPr>
            <a:r>
              <a:rPr sz="1400" b="1" i="0">
                <a:solidFill>
                  <a:srgbClr val="C0502A"/>
                </a:solidFill>
                <a:latin typeface="Segoe UI"/>
                <a:ea typeface="Segoe UI"/>
              </a:rPr>
              <a:t>Root cause: a mismatch of objectives</a:t>
            </a:r>
          </a:p>
          <a:p>
            <a:pPr algn="l">
              <a:lnSpc>
                <a:spcPct val="120000"/>
              </a:lnSpc>
              <a:spcAft>
                <a:spcPts val="0"/>
              </a:spcAft>
            </a:pPr>
            <a:r>
              <a:rPr sz="1200" b="0" i="0">
                <a:solidFill>
                  <a:srgbClr val="334050"/>
                </a:solidFill>
                <a:latin typeface="Segoe UI"/>
                <a:ea typeface="Segoe UI"/>
              </a:rPr>
              <a:t>MLM and NSP optimize token-level and sentence-level coherence. Neither ever optimizes “how close in meaning are these two sentences”, so nothing pushes similar meanings to nearby vectors.</a:t>
            </a:r>
          </a:p>
        </p:txBody>
      </p:sp>
      <p:graphicFrame>
        <p:nvGraphicFramePr>
          <p:cNvPr id="10" name="Table 9"/>
          <p:cNvGraphicFramePr>
            <a:graphicFrameLocks noGrp="1"/>
          </p:cNvGraphicFramePr>
          <p:nvPr/>
        </p:nvGraphicFramePr>
        <p:xfrm>
          <a:off x="566928" y="4133087"/>
          <a:ext cx="5669279" cy="2084832"/>
        </p:xfrm>
        <a:graphic>
          <a:graphicData uri="http://schemas.openxmlformats.org/drawingml/2006/table">
            <a:tbl>
              <a:tblPr firstRow="1" bandRow="1">
                <a:tableStyleId>{5C22544A-7EE6-4342-B048-85BDC9FD1C3A}</a:tableStyleId>
              </a:tblPr>
              <a:tblGrid>
                <a:gridCol w="1318437">
                  <a:extLst>
                    <a:ext uri="{9D8B030D-6E8A-4147-A177-3AD203B41FA5}">
                      <a16:colId xmlns:a16="http://schemas.microsoft.com/office/drawing/2014/main" val="20000"/>
                    </a:ext>
                  </a:extLst>
                </a:gridCol>
                <a:gridCol w="2109499">
                  <a:extLst>
                    <a:ext uri="{9D8B030D-6E8A-4147-A177-3AD203B41FA5}">
                      <a16:colId xmlns:a16="http://schemas.microsoft.com/office/drawing/2014/main" val="20001"/>
                    </a:ext>
                  </a:extLst>
                </a:gridCol>
                <a:gridCol w="2241343">
                  <a:extLst>
                    <a:ext uri="{9D8B030D-6E8A-4147-A177-3AD203B41FA5}">
                      <a16:colId xmlns:a16="http://schemas.microsoft.com/office/drawing/2014/main" val="20002"/>
                    </a:ext>
                  </a:extLst>
                </a:gridCol>
              </a:tblGrid>
              <a:tr h="329184">
                <a:tc>
                  <a:txBody>
                    <a:bodyPr/>
                    <a:lstStyle/>
                    <a:p>
                      <a:pPr algn="l">
                        <a:lnSpc>
                          <a:spcPct val="108000"/>
                        </a:lnSpc>
                        <a:spcAft>
                          <a:spcPts val="0"/>
                        </a:spcAft>
                      </a:pPr>
                      <a:endParaRPr/>
                    </a:p>
                  </a:txBody>
                  <a:tcPr marL="82296" marR="64008" marT="18288" marB="18288" anchor="ctr">
                    <a:solidFill>
                      <a:srgbClr val="1F5CA8"/>
                    </a:solidFill>
                  </a:tcPr>
                </a:tc>
                <a:tc>
                  <a:txBody>
                    <a:bodyPr/>
                    <a:lstStyle/>
                    <a:p>
                      <a:pPr algn="l">
                        <a:lnSpc>
                          <a:spcPct val="108000"/>
                        </a:lnSpc>
                        <a:spcAft>
                          <a:spcPts val="0"/>
                        </a:spcAft>
                      </a:pPr>
                      <a:r>
                        <a:rPr sz="1050" b="1" i="0">
                          <a:solidFill>
                            <a:srgbClr val="FFFFFF"/>
                          </a:solidFill>
                          <a:latin typeface="Segoe UI"/>
                          <a:ea typeface="Segoe UI"/>
                        </a:rPr>
                        <a:t>Cross-Encoder</a:t>
                      </a:r>
                    </a:p>
                  </a:txBody>
                  <a:tcPr marL="82296" marR="64008" marT="18288" marB="18288" anchor="ctr">
                    <a:solidFill>
                      <a:srgbClr val="1F5CA8"/>
                    </a:solidFill>
                  </a:tcPr>
                </a:tc>
                <a:tc>
                  <a:txBody>
                    <a:bodyPr/>
                    <a:lstStyle/>
                    <a:p>
                      <a:pPr algn="l">
                        <a:lnSpc>
                          <a:spcPct val="108000"/>
                        </a:lnSpc>
                        <a:spcAft>
                          <a:spcPts val="0"/>
                        </a:spcAft>
                      </a:pPr>
                      <a:r>
                        <a:rPr sz="1050" b="1" i="0">
                          <a:solidFill>
                            <a:srgbClr val="FFFFFF"/>
                          </a:solidFill>
                          <a:latin typeface="Segoe UI"/>
                          <a:ea typeface="Segoe UI"/>
                        </a:rPr>
                        <a:t>Bi-Encoder (SBERT)</a:t>
                      </a:r>
                    </a:p>
                  </a:txBody>
                  <a:tcPr marL="82296" marR="64008" marT="18288" marB="18288" anchor="ctr">
                    <a:solidFill>
                      <a:srgbClr val="1F5CA8"/>
                    </a:solidFill>
                  </a:tcPr>
                </a:tc>
                <a:extLst>
                  <a:ext uri="{0D108BD9-81ED-4DB2-BD59-A6C34878D82A}">
                    <a16:rowId xmlns:a16="http://schemas.microsoft.com/office/drawing/2014/main" val="10000"/>
                  </a:ext>
                </a:extLst>
              </a:tr>
              <a:tr h="292608">
                <a:tc>
                  <a:txBody>
                    <a:bodyPr/>
                    <a:lstStyle/>
                    <a:p>
                      <a:pPr algn="l">
                        <a:lnSpc>
                          <a:spcPct val="108000"/>
                        </a:lnSpc>
                        <a:spcAft>
                          <a:spcPts val="0"/>
                        </a:spcAft>
                      </a:pPr>
                      <a:r>
                        <a:rPr sz="1050" b="0" i="0">
                          <a:solidFill>
                            <a:srgbClr val="334050"/>
                          </a:solidFill>
                          <a:latin typeface="Segoe UI"/>
                          <a:ea typeface="Segoe UI"/>
                        </a:rPr>
                        <a:t>Input</a:t>
                      </a:r>
                    </a:p>
                  </a:txBody>
                  <a:tcPr marL="82296" marR="64008" marT="18288" marB="18288" anchor="ctr">
                    <a:solidFill>
                      <a:srgbClr val="FFFFFF"/>
                    </a:solidFill>
                  </a:tcPr>
                </a:tc>
                <a:tc>
                  <a:txBody>
                    <a:bodyPr/>
                    <a:lstStyle/>
                    <a:p>
                      <a:pPr algn="l">
                        <a:lnSpc>
                          <a:spcPct val="108000"/>
                        </a:lnSpc>
                        <a:spcAft>
                          <a:spcPts val="0"/>
                        </a:spcAft>
                      </a:pPr>
                      <a:r>
                        <a:rPr sz="1050" b="0" i="0">
                          <a:solidFill>
                            <a:srgbClr val="334050"/>
                          </a:solidFill>
                          <a:latin typeface="Segoe UI"/>
                          <a:ea typeface="Segoe UI"/>
                        </a:rPr>
                        <a:t>[Q][SEP][D] encoded together</a:t>
                      </a:r>
                    </a:p>
                  </a:txBody>
                  <a:tcPr marL="82296" marR="64008" marT="18288" marB="18288" anchor="ctr">
                    <a:solidFill>
                      <a:srgbClr val="FFFFFF"/>
                    </a:solidFill>
                  </a:tcPr>
                </a:tc>
                <a:tc>
                  <a:txBody>
                    <a:bodyPr/>
                    <a:lstStyle/>
                    <a:p>
                      <a:pPr algn="l">
                        <a:lnSpc>
                          <a:spcPct val="108000"/>
                        </a:lnSpc>
                        <a:spcAft>
                          <a:spcPts val="0"/>
                        </a:spcAft>
                      </a:pPr>
                      <a:r>
                        <a:rPr sz="1050" b="0" i="0">
                          <a:solidFill>
                            <a:srgbClr val="334050"/>
                          </a:solidFill>
                          <a:latin typeface="Segoe UI"/>
                          <a:ea typeface="Segoe UI"/>
                        </a:rPr>
                        <a:t>Q and D encoded separately</a:t>
                      </a:r>
                    </a:p>
                  </a:txBody>
                  <a:tcPr marL="82296" marR="64008" marT="18288" marB="18288" anchor="ctr">
                    <a:solidFill>
                      <a:srgbClr val="FFFFFF"/>
                    </a:solidFill>
                  </a:tcPr>
                </a:tc>
                <a:extLst>
                  <a:ext uri="{0D108BD9-81ED-4DB2-BD59-A6C34878D82A}">
                    <a16:rowId xmlns:a16="http://schemas.microsoft.com/office/drawing/2014/main" val="10001"/>
                  </a:ext>
                </a:extLst>
              </a:tr>
              <a:tr h="292608">
                <a:tc>
                  <a:txBody>
                    <a:bodyPr/>
                    <a:lstStyle/>
                    <a:p>
                      <a:pPr algn="l">
                        <a:lnSpc>
                          <a:spcPct val="108000"/>
                        </a:lnSpc>
                        <a:spcAft>
                          <a:spcPts val="0"/>
                        </a:spcAft>
                      </a:pPr>
                      <a:r>
                        <a:rPr sz="1050" b="0" i="0">
                          <a:solidFill>
                            <a:srgbClr val="334050"/>
                          </a:solidFill>
                          <a:latin typeface="Segoe UI"/>
                          <a:ea typeface="Segoe UI"/>
                        </a:rPr>
                        <a:t>Interaction</a:t>
                      </a:r>
                    </a:p>
                  </a:txBody>
                  <a:tcPr marL="82296" marR="64008" marT="18288" marB="18288" anchor="ctr">
                    <a:solidFill>
                      <a:srgbClr val="F4F7FB"/>
                    </a:solidFill>
                  </a:tcPr>
                </a:tc>
                <a:tc>
                  <a:txBody>
                    <a:bodyPr/>
                    <a:lstStyle/>
                    <a:p>
                      <a:pPr algn="l">
                        <a:lnSpc>
                          <a:spcPct val="108000"/>
                        </a:lnSpc>
                        <a:spcAft>
                          <a:spcPts val="0"/>
                        </a:spcAft>
                      </a:pPr>
                      <a:r>
                        <a:rPr sz="1050" b="0" i="0">
                          <a:solidFill>
                            <a:srgbClr val="334050"/>
                          </a:solidFill>
                          <a:latin typeface="Segoe UI"/>
                          <a:ea typeface="Segoe UI"/>
                        </a:rPr>
                        <a:t>Token-level cross-attention</a:t>
                      </a:r>
                    </a:p>
                  </a:txBody>
                  <a:tcPr marL="82296" marR="64008" marT="18288" marB="18288" anchor="ctr">
                    <a:solidFill>
                      <a:srgbClr val="F4F7FB"/>
                    </a:solidFill>
                  </a:tcPr>
                </a:tc>
                <a:tc>
                  <a:txBody>
                    <a:bodyPr/>
                    <a:lstStyle/>
                    <a:p>
                      <a:pPr algn="l">
                        <a:lnSpc>
                          <a:spcPct val="108000"/>
                        </a:lnSpc>
                        <a:spcAft>
                          <a:spcPts val="0"/>
                        </a:spcAft>
                      </a:pPr>
                      <a:r>
                        <a:rPr sz="1050" b="0" i="0">
                          <a:solidFill>
                            <a:srgbClr val="334050"/>
                          </a:solidFill>
                          <a:latin typeface="Segoe UI"/>
                          <a:ea typeface="Segoe UI"/>
                        </a:rPr>
                        <a:t>Only at the final similarity step</a:t>
                      </a:r>
                    </a:p>
                  </a:txBody>
                  <a:tcPr marL="82296" marR="64008" marT="18288" marB="18288" anchor="ctr">
                    <a:solidFill>
                      <a:srgbClr val="F4F7FB"/>
                    </a:solidFill>
                  </a:tcPr>
                </a:tc>
                <a:extLst>
                  <a:ext uri="{0D108BD9-81ED-4DB2-BD59-A6C34878D82A}">
                    <a16:rowId xmlns:a16="http://schemas.microsoft.com/office/drawing/2014/main" val="10002"/>
                  </a:ext>
                </a:extLst>
              </a:tr>
              <a:tr h="292608">
                <a:tc>
                  <a:txBody>
                    <a:bodyPr/>
                    <a:lstStyle/>
                    <a:p>
                      <a:pPr algn="l">
                        <a:lnSpc>
                          <a:spcPct val="108000"/>
                        </a:lnSpc>
                        <a:spcAft>
                          <a:spcPts val="0"/>
                        </a:spcAft>
                      </a:pPr>
                      <a:r>
                        <a:rPr sz="1050" b="0" i="0">
                          <a:solidFill>
                            <a:srgbClr val="334050"/>
                          </a:solidFill>
                          <a:latin typeface="Segoe UI"/>
                          <a:ea typeface="Segoe UI"/>
                        </a:rPr>
                        <a:t>Accuracy</a:t>
                      </a:r>
                    </a:p>
                  </a:txBody>
                  <a:tcPr marL="82296" marR="64008" marT="18288" marB="18288" anchor="ctr">
                    <a:solidFill>
                      <a:srgbClr val="FFFFFF"/>
                    </a:solidFill>
                  </a:tcPr>
                </a:tc>
                <a:tc>
                  <a:txBody>
                    <a:bodyPr/>
                    <a:lstStyle/>
                    <a:p>
                      <a:pPr algn="l">
                        <a:lnSpc>
                          <a:spcPct val="108000"/>
                        </a:lnSpc>
                        <a:spcAft>
                          <a:spcPts val="0"/>
                        </a:spcAft>
                      </a:pPr>
                      <a:r>
                        <a:rPr sz="1050" b="0" i="0">
                          <a:solidFill>
                            <a:srgbClr val="334050"/>
                          </a:solidFill>
                          <a:latin typeface="Segoe UI"/>
                          <a:ea typeface="Segoe UI"/>
                        </a:rPr>
                        <a:t>Higher on STS</a:t>
                      </a:r>
                    </a:p>
                  </a:txBody>
                  <a:tcPr marL="82296" marR="64008" marT="18288" marB="18288" anchor="ctr">
                    <a:solidFill>
                      <a:srgbClr val="FFFFFF"/>
                    </a:solidFill>
                  </a:tcPr>
                </a:tc>
                <a:tc>
                  <a:txBody>
                    <a:bodyPr/>
                    <a:lstStyle/>
                    <a:p>
                      <a:pPr algn="l">
                        <a:lnSpc>
                          <a:spcPct val="108000"/>
                        </a:lnSpc>
                        <a:spcAft>
                          <a:spcPts val="0"/>
                        </a:spcAft>
                      </a:pPr>
                      <a:r>
                        <a:rPr sz="1050" b="0" i="0">
                          <a:solidFill>
                            <a:srgbClr val="334050"/>
                          </a:solidFill>
                          <a:latin typeface="Segoe UI"/>
                          <a:ea typeface="Segoe UI"/>
                        </a:rPr>
                        <a:t>Slightly lower, very close</a:t>
                      </a:r>
                    </a:p>
                  </a:txBody>
                  <a:tcPr marL="82296" marR="64008" marT="18288" marB="18288" anchor="ctr">
                    <a:solidFill>
                      <a:srgbClr val="FFFFFF"/>
                    </a:solidFill>
                  </a:tcPr>
                </a:tc>
                <a:extLst>
                  <a:ext uri="{0D108BD9-81ED-4DB2-BD59-A6C34878D82A}">
                    <a16:rowId xmlns:a16="http://schemas.microsoft.com/office/drawing/2014/main" val="10003"/>
                  </a:ext>
                </a:extLst>
              </a:tr>
              <a:tr h="292608">
                <a:tc>
                  <a:txBody>
                    <a:bodyPr/>
                    <a:lstStyle/>
                    <a:p>
                      <a:pPr algn="l">
                        <a:lnSpc>
                          <a:spcPct val="108000"/>
                        </a:lnSpc>
                        <a:spcAft>
                          <a:spcPts val="0"/>
                        </a:spcAft>
                      </a:pPr>
                      <a:r>
                        <a:rPr sz="1050" b="0" i="0">
                          <a:solidFill>
                            <a:srgbClr val="334050"/>
                          </a:solidFill>
                          <a:latin typeface="Segoe UI"/>
                          <a:ea typeface="Segoe UI"/>
                        </a:rPr>
                        <a:t>Speed</a:t>
                      </a:r>
                    </a:p>
                  </a:txBody>
                  <a:tcPr marL="82296" marR="64008" marT="18288" marB="18288" anchor="ctr">
                    <a:solidFill>
                      <a:srgbClr val="F4F7FB"/>
                    </a:solidFill>
                  </a:tcPr>
                </a:tc>
                <a:tc>
                  <a:txBody>
                    <a:bodyPr/>
                    <a:lstStyle/>
                    <a:p>
                      <a:pPr algn="l">
                        <a:lnSpc>
                          <a:spcPct val="108000"/>
                        </a:lnSpc>
                        <a:spcAft>
                          <a:spcPts val="0"/>
                        </a:spcAft>
                      </a:pPr>
                      <a:r>
                        <a:rPr sz="1050" b="0" i="0">
                          <a:solidFill>
                            <a:srgbClr val="334050"/>
                          </a:solidFill>
                          <a:latin typeface="Segoe UI"/>
                          <a:ea typeface="Segoe UI"/>
                        </a:rPr>
                        <a:t>n documents = n forward passes</a:t>
                      </a:r>
                    </a:p>
                  </a:txBody>
                  <a:tcPr marL="82296" marR="64008" marT="18288" marB="18288" anchor="ctr">
                    <a:solidFill>
                      <a:srgbClr val="F4F7FB"/>
                    </a:solidFill>
                  </a:tcPr>
                </a:tc>
                <a:tc>
                  <a:txBody>
                    <a:bodyPr/>
                    <a:lstStyle/>
                    <a:p>
                      <a:pPr algn="l">
                        <a:lnSpc>
                          <a:spcPct val="108000"/>
                        </a:lnSpc>
                        <a:spcAft>
                          <a:spcPts val="0"/>
                        </a:spcAft>
                      </a:pPr>
                      <a:r>
                        <a:rPr sz="1050" b="0" i="0">
                          <a:solidFill>
                            <a:srgbClr val="334050"/>
                          </a:solidFill>
                          <a:latin typeface="Segoe UI"/>
                          <a:ea typeface="Segoe UI"/>
                        </a:rPr>
                        <a:t>Doc vectors precomputed offline</a:t>
                      </a:r>
                    </a:p>
                  </a:txBody>
                  <a:tcPr marL="82296" marR="64008" marT="18288" marB="18288" anchor="ctr">
                    <a:solidFill>
                      <a:srgbClr val="F4F7FB"/>
                    </a:solidFill>
                  </a:tcPr>
                </a:tc>
                <a:extLst>
                  <a:ext uri="{0D108BD9-81ED-4DB2-BD59-A6C34878D82A}">
                    <a16:rowId xmlns:a16="http://schemas.microsoft.com/office/drawing/2014/main" val="10004"/>
                  </a:ext>
                </a:extLst>
              </a:tr>
              <a:tr h="292608">
                <a:tc>
                  <a:txBody>
                    <a:bodyPr/>
                    <a:lstStyle/>
                    <a:p>
                      <a:pPr algn="l">
                        <a:lnSpc>
                          <a:spcPct val="108000"/>
                        </a:lnSpc>
                        <a:spcAft>
                          <a:spcPts val="0"/>
                        </a:spcAft>
                      </a:pPr>
                      <a:r>
                        <a:rPr sz="1050" b="0" i="0">
                          <a:solidFill>
                            <a:srgbClr val="334050"/>
                          </a:solidFill>
                          <a:latin typeface="Segoe UI"/>
                          <a:ea typeface="Segoe UI"/>
                        </a:rPr>
                        <a:t>10k sentences</a:t>
                      </a:r>
                    </a:p>
                  </a:txBody>
                  <a:tcPr marL="82296" marR="64008" marT="18288" marB="18288" anchor="ctr">
                    <a:solidFill>
                      <a:srgbClr val="FFFFFF"/>
                    </a:solidFill>
                  </a:tcPr>
                </a:tc>
                <a:tc>
                  <a:txBody>
                    <a:bodyPr/>
                    <a:lstStyle/>
                    <a:p>
                      <a:pPr algn="l">
                        <a:lnSpc>
                          <a:spcPct val="108000"/>
                        </a:lnSpc>
                        <a:spcAft>
                          <a:spcPts val="0"/>
                        </a:spcAft>
                      </a:pPr>
                      <a:r>
                        <a:rPr sz="1050" b="0" i="0">
                          <a:solidFill>
                            <a:srgbClr val="334050"/>
                          </a:solidFill>
                          <a:latin typeface="Segoe UI"/>
                          <a:ea typeface="Segoe UI"/>
                        </a:rPr>
                        <a:t>~65 hours</a:t>
                      </a:r>
                    </a:p>
                  </a:txBody>
                  <a:tcPr marL="82296" marR="64008" marT="18288" marB="18288" anchor="ctr">
                    <a:solidFill>
                      <a:srgbClr val="FFFFFF"/>
                    </a:solidFill>
                  </a:tcPr>
                </a:tc>
                <a:tc>
                  <a:txBody>
                    <a:bodyPr/>
                    <a:lstStyle/>
                    <a:p>
                      <a:pPr algn="l">
                        <a:lnSpc>
                          <a:spcPct val="108000"/>
                        </a:lnSpc>
                        <a:spcAft>
                          <a:spcPts val="0"/>
                        </a:spcAft>
                      </a:pPr>
                      <a:r>
                        <a:rPr sz="1050" b="0" i="0">
                          <a:solidFill>
                            <a:srgbClr val="334050"/>
                          </a:solidFill>
                          <a:latin typeface="Segoe UI"/>
                          <a:ea typeface="Segoe UI"/>
                        </a:rPr>
                        <a:t>~5 seconds (~46,000x faster)</a:t>
                      </a:r>
                    </a:p>
                  </a:txBody>
                  <a:tcPr marL="82296" marR="64008" marT="18288" marB="18288" anchor="ctr">
                    <a:solidFill>
                      <a:srgbClr val="FFFFFF"/>
                    </a:solidFill>
                  </a:tcPr>
                </a:tc>
                <a:extLst>
                  <a:ext uri="{0D108BD9-81ED-4DB2-BD59-A6C34878D82A}">
                    <a16:rowId xmlns:a16="http://schemas.microsoft.com/office/drawing/2014/main" val="10005"/>
                  </a:ext>
                </a:extLst>
              </a:tr>
              <a:tr h="292608">
                <a:tc>
                  <a:txBody>
                    <a:bodyPr/>
                    <a:lstStyle/>
                    <a:p>
                      <a:pPr algn="l">
                        <a:lnSpc>
                          <a:spcPct val="108000"/>
                        </a:lnSpc>
                        <a:spcAft>
                          <a:spcPts val="0"/>
                        </a:spcAft>
                      </a:pPr>
                      <a:r>
                        <a:rPr sz="1050" b="0" i="0">
                          <a:solidFill>
                            <a:srgbClr val="334050"/>
                          </a:solidFill>
                          <a:latin typeface="Segoe UI"/>
                          <a:ea typeface="Segoe UI"/>
                        </a:rPr>
                        <a:t>Best for</a:t>
                      </a:r>
                    </a:p>
                  </a:txBody>
                  <a:tcPr marL="82296" marR="64008" marT="18288" marB="18288" anchor="ctr">
                    <a:solidFill>
                      <a:srgbClr val="F4F7FB"/>
                    </a:solidFill>
                  </a:tcPr>
                </a:tc>
                <a:tc>
                  <a:txBody>
                    <a:bodyPr/>
                    <a:lstStyle/>
                    <a:p>
                      <a:pPr algn="l">
                        <a:lnSpc>
                          <a:spcPct val="108000"/>
                        </a:lnSpc>
                        <a:spcAft>
                          <a:spcPts val="0"/>
                        </a:spcAft>
                      </a:pPr>
                      <a:r>
                        <a:rPr sz="1050" b="0" i="0">
                          <a:solidFill>
                            <a:srgbClr val="334050"/>
                          </a:solidFill>
                          <a:latin typeface="Segoe UI"/>
                          <a:ea typeface="Segoe UI"/>
                        </a:rPr>
                        <a:t>Reranking a small candidate set</a:t>
                      </a:r>
                    </a:p>
                  </a:txBody>
                  <a:tcPr marL="82296" marR="64008" marT="18288" marB="18288" anchor="ctr">
                    <a:solidFill>
                      <a:srgbClr val="F4F7FB"/>
                    </a:solidFill>
                  </a:tcPr>
                </a:tc>
                <a:tc>
                  <a:txBody>
                    <a:bodyPr/>
                    <a:lstStyle/>
                    <a:p>
                      <a:pPr algn="l">
                        <a:lnSpc>
                          <a:spcPct val="108000"/>
                        </a:lnSpc>
                        <a:spcAft>
                          <a:spcPts val="0"/>
                        </a:spcAft>
                      </a:pPr>
                      <a:r>
                        <a:rPr sz="1050" b="0" i="0">
                          <a:solidFill>
                            <a:srgbClr val="334050"/>
                          </a:solidFill>
                          <a:latin typeface="Segoe UI"/>
                          <a:ea typeface="Segoe UI"/>
                        </a:rPr>
                        <a:t>Recall / large-scale retrieval</a:t>
                      </a:r>
                    </a:p>
                  </a:txBody>
                  <a:tcPr marL="82296" marR="64008" marT="18288" marB="18288" anchor="ctr">
                    <a:solidFill>
                      <a:srgbClr val="F4F7FB"/>
                    </a:solidFill>
                  </a:tcPr>
                </a:tc>
                <a:extLst>
                  <a:ext uri="{0D108BD9-81ED-4DB2-BD59-A6C34878D82A}">
                    <a16:rowId xmlns:a16="http://schemas.microsoft.com/office/drawing/2014/main" val="10006"/>
                  </a:ext>
                </a:extLst>
              </a:tr>
            </a:tbl>
          </a:graphicData>
        </a:graphic>
      </p:graphicFrame>
      <p:sp>
        <p:nvSpPr>
          <p:cNvPr id="11" name="Rounded Rectangle 10"/>
          <p:cNvSpPr/>
          <p:nvPr/>
        </p:nvSpPr>
        <p:spPr>
          <a:xfrm>
            <a:off x="6601968" y="1938528"/>
            <a:ext cx="5022799" cy="4754880"/>
          </a:xfrm>
          <a:prstGeom prst="roundRect">
            <a:avLst>
              <a:gd name="adj" fmla="val 3000"/>
            </a:avLst>
          </a:prstGeom>
          <a:solidFill>
            <a:srgbClr val="F7F9FC"/>
          </a:solidFill>
          <a:ln w="12700">
            <a:solidFill>
              <a:srgbClr val="BBC7D6"/>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2" name="TextBox 11"/>
          <p:cNvSpPr txBox="1"/>
          <p:nvPr/>
        </p:nvSpPr>
        <p:spPr>
          <a:xfrm>
            <a:off x="6803136" y="2103120"/>
            <a:ext cx="4620463" cy="4425696"/>
          </a:xfrm>
          <a:prstGeom prst="rect">
            <a:avLst/>
          </a:prstGeom>
          <a:noFill/>
        </p:spPr>
        <p:txBody>
          <a:bodyPr wrap="square" lIns="0" tIns="0" rIns="0" bIns="0">
            <a:spAutoFit/>
          </a:bodyPr>
          <a:lstStyle/>
          <a:p>
            <a:pPr algn="l">
              <a:lnSpc>
                <a:spcPct val="120000"/>
              </a:lnSpc>
              <a:spcAft>
                <a:spcPts val="400"/>
              </a:spcAft>
            </a:pPr>
            <a:r>
              <a:rPr sz="1300" b="1" i="0">
                <a:solidFill>
                  <a:srgbClr val="1F5CA8"/>
                </a:solidFill>
                <a:latin typeface="Segoe UI"/>
                <a:ea typeface="Segoe UI"/>
              </a:rPr>
              <a:t>Placeholder: architecture comparison</a:t>
            </a:r>
          </a:p>
          <a:p>
            <a:pPr algn="l">
              <a:lnSpc>
                <a:spcPct val="120000"/>
              </a:lnSpc>
              <a:spcAft>
                <a:spcPts val="0"/>
              </a:spcAft>
            </a:pPr>
            <a:r>
              <a:rPr sz="1150" b="0" i="0">
                <a:solidFill>
                  <a:srgbClr val="7A8696"/>
                </a:solidFill>
                <a:latin typeface="Segoe UI"/>
                <a:ea typeface="Segoe UI"/>
              </a:rPr>
              <a:t>Suggested: top = Cross-Encoder (Q and D concatenated → one score); bottom = Bi-Encoder (Q → u, D → v → cosine)</a:t>
            </a:r>
          </a:p>
          <a:p>
            <a:pPr algn="l">
              <a:lnSpc>
                <a:spcPct val="120000"/>
              </a:lnSpc>
              <a:spcAft>
                <a:spcPts val="200"/>
              </a:spcAft>
            </a:pPr>
            <a:r>
              <a:rPr sz="1150" b="0" i="0">
                <a:solidFill>
                  <a:srgbClr val="BBC7D6"/>
                </a:solidFill>
                <a:latin typeface="Segoe UI"/>
                <a:ea typeface="Segoe UI"/>
              </a:rPr>
              <a:t>· </a:t>
            </a:r>
          </a:p>
          <a:p>
            <a:pPr algn="l">
              <a:lnSpc>
                <a:spcPct val="120000"/>
              </a:lnSpc>
              <a:spcAft>
                <a:spcPts val="200"/>
              </a:spcAft>
            </a:pPr>
            <a:r>
              <a:rPr sz="1150" b="0" i="0">
                <a:solidFill>
                  <a:srgbClr val="BBC7D6"/>
                </a:solidFill>
                <a:latin typeface="Segoe UI"/>
                <a:ea typeface="Segoe UI"/>
              </a:rPr>
              <a:t>· </a:t>
            </a:r>
          </a:p>
          <a:p>
            <a:pPr algn="l">
              <a:lnSpc>
                <a:spcPct val="120000"/>
              </a:lnSpc>
              <a:spcAft>
                <a:spcPts val="200"/>
              </a:spcAft>
            </a:pPr>
            <a:r>
              <a:rPr sz="1150" b="0" i="0">
                <a:solidFill>
                  <a:srgbClr val="BBC7D6"/>
                </a:solidFill>
                <a:latin typeface="Segoe UI"/>
                <a:ea typeface="Segoe UI"/>
              </a:rPr>
              <a:t>· </a:t>
            </a:r>
          </a:p>
          <a:p>
            <a:pPr algn="l">
              <a:lnSpc>
                <a:spcPct val="120000"/>
              </a:lnSpc>
              <a:spcAft>
                <a:spcPts val="200"/>
              </a:spcAft>
            </a:pPr>
            <a:r>
              <a:rPr sz="1150" b="0" i="0">
                <a:solidFill>
                  <a:srgbClr val="BBC7D6"/>
                </a:solidFill>
                <a:latin typeface="Segoe UI"/>
                <a:ea typeface="Segoe UI"/>
              </a:rPr>
              <a:t>· </a:t>
            </a:r>
          </a:p>
          <a:p>
            <a:pPr algn="l">
              <a:lnSpc>
                <a:spcPct val="120000"/>
              </a:lnSpc>
              <a:spcAft>
                <a:spcPts val="200"/>
              </a:spcAft>
            </a:pPr>
            <a:r>
              <a:rPr sz="1150" b="0" i="0">
                <a:solidFill>
                  <a:srgbClr val="BBC7D6"/>
                </a:solidFill>
                <a:latin typeface="Segoe UI"/>
                <a:ea typeface="Segoe UI"/>
              </a:rPr>
              <a:t>· </a:t>
            </a:r>
          </a:p>
          <a:p>
            <a:pPr algn="l">
              <a:lnSpc>
                <a:spcPct val="120000"/>
              </a:lnSpc>
              <a:spcAft>
                <a:spcPts val="200"/>
              </a:spcAft>
            </a:pPr>
            <a:r>
              <a:rPr sz="1150" b="0" i="0">
                <a:solidFill>
                  <a:srgbClr val="BBC7D6"/>
                </a:solidFill>
                <a:latin typeface="Segoe UI"/>
                <a:ea typeface="Segoe UI"/>
              </a:rPr>
              <a:t>· </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7724"/>
          </a:xfrm>
          <a:prstGeom prst="rect">
            <a:avLst/>
          </a:prstGeom>
          <a:solidFill>
            <a:srgbClr val="1F5CA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TextBox 2"/>
          <p:cNvSpPr txBox="1"/>
          <p:nvPr/>
        </p:nvSpPr>
        <p:spPr>
          <a:xfrm>
            <a:off x="566928" y="310896"/>
            <a:ext cx="8595360" cy="274320"/>
          </a:xfrm>
          <a:prstGeom prst="rect">
            <a:avLst/>
          </a:prstGeom>
          <a:noFill/>
        </p:spPr>
        <p:txBody>
          <a:bodyPr wrap="square" lIns="0" tIns="0" rIns="0" bIns="0">
            <a:spAutoFit/>
          </a:bodyPr>
          <a:lstStyle/>
          <a:p>
            <a:pPr algn="l">
              <a:lnSpc>
                <a:spcPct val="120000"/>
              </a:lnSpc>
              <a:spcAft>
                <a:spcPts val="0"/>
              </a:spcAft>
            </a:pPr>
            <a:r>
              <a:rPr sz="1050" b="1" i="0">
                <a:solidFill>
                  <a:srgbClr val="1F5CA8"/>
                </a:solidFill>
                <a:latin typeface="Segoe UI"/>
                <a:ea typeface="Segoe UI"/>
              </a:rPr>
              <a:t>PART 1 · EMBEDDING MODEL: SBERT</a:t>
            </a:r>
          </a:p>
        </p:txBody>
      </p:sp>
      <p:sp>
        <p:nvSpPr>
          <p:cNvPr id="4" name="TextBox 3"/>
          <p:cNvSpPr txBox="1"/>
          <p:nvPr/>
        </p:nvSpPr>
        <p:spPr>
          <a:xfrm>
            <a:off x="10161727" y="310896"/>
            <a:ext cx="1463040" cy="274320"/>
          </a:xfrm>
          <a:prstGeom prst="rect">
            <a:avLst/>
          </a:prstGeom>
          <a:noFill/>
        </p:spPr>
        <p:txBody>
          <a:bodyPr wrap="square" lIns="0" tIns="0" rIns="0" bIns="0">
            <a:spAutoFit/>
          </a:bodyPr>
          <a:lstStyle/>
          <a:p>
            <a:pPr algn="r">
              <a:lnSpc>
                <a:spcPct val="120000"/>
              </a:lnSpc>
              <a:spcAft>
                <a:spcPts val="0"/>
              </a:spcAft>
            </a:pPr>
            <a:r>
              <a:rPr sz="1050" b="0" i="0">
                <a:solidFill>
                  <a:srgbClr val="7A8696"/>
                </a:solidFill>
                <a:latin typeface="Segoe UI"/>
                <a:ea typeface="Segoe UI"/>
              </a:rPr>
              <a:t>8</a:t>
            </a:r>
          </a:p>
        </p:txBody>
      </p:sp>
      <p:sp>
        <p:nvSpPr>
          <p:cNvPr id="5" name="TextBox 4"/>
          <p:cNvSpPr txBox="1"/>
          <p:nvPr/>
        </p:nvSpPr>
        <p:spPr>
          <a:xfrm>
            <a:off x="566928" y="658368"/>
            <a:ext cx="11057839" cy="658368"/>
          </a:xfrm>
          <a:prstGeom prst="rect">
            <a:avLst/>
          </a:prstGeom>
          <a:noFill/>
        </p:spPr>
        <p:txBody>
          <a:bodyPr wrap="square" lIns="0" tIns="0" rIns="0" bIns="0">
            <a:spAutoFit/>
          </a:bodyPr>
          <a:lstStyle/>
          <a:p>
            <a:pPr algn="l">
              <a:lnSpc>
                <a:spcPct val="120000"/>
              </a:lnSpc>
              <a:spcAft>
                <a:spcPts val="0"/>
              </a:spcAft>
            </a:pPr>
            <a:r>
              <a:rPr sz="2700" b="1" i="0">
                <a:solidFill>
                  <a:srgbClr val="1B2533"/>
                </a:solidFill>
                <a:latin typeface="Segoe UI"/>
                <a:ea typeface="Segoe UI"/>
              </a:rPr>
              <a:t>The Siamese network and its training objectives</a:t>
            </a:r>
          </a:p>
        </p:txBody>
      </p:sp>
      <p:sp>
        <p:nvSpPr>
          <p:cNvPr id="6" name="Rectangle 5"/>
          <p:cNvSpPr/>
          <p:nvPr/>
        </p:nvSpPr>
        <p:spPr>
          <a:xfrm>
            <a:off x="566928" y="1371600"/>
            <a:ext cx="1051560" cy="50292"/>
          </a:xfrm>
          <a:prstGeom prst="rect">
            <a:avLst/>
          </a:prstGeom>
          <a:solidFill>
            <a:srgbClr val="1F5CA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 name="TextBox 6"/>
          <p:cNvSpPr txBox="1"/>
          <p:nvPr/>
        </p:nvSpPr>
        <p:spPr>
          <a:xfrm>
            <a:off x="566928" y="1517904"/>
            <a:ext cx="11057839" cy="329184"/>
          </a:xfrm>
          <a:prstGeom prst="rect">
            <a:avLst/>
          </a:prstGeom>
          <a:noFill/>
        </p:spPr>
        <p:txBody>
          <a:bodyPr wrap="square" lIns="0" tIns="0" rIns="0" bIns="0">
            <a:spAutoFit/>
          </a:bodyPr>
          <a:lstStyle/>
          <a:p>
            <a:pPr algn="l">
              <a:lnSpc>
                <a:spcPct val="120000"/>
              </a:lnSpc>
              <a:spcAft>
                <a:spcPts val="0"/>
              </a:spcAft>
            </a:pPr>
            <a:r>
              <a:rPr sz="1300" b="0" i="0">
                <a:solidFill>
                  <a:srgbClr val="7A8696"/>
                </a:solidFill>
                <a:latin typeface="Segoe UI"/>
                <a:ea typeface="Segoe UI"/>
              </a:rPr>
              <a:t>Shared weights, pooled vectors, and three loss families</a:t>
            </a:r>
          </a:p>
        </p:txBody>
      </p:sp>
      <p:sp>
        <p:nvSpPr>
          <p:cNvPr id="8" name="Rounded Rectangle 7"/>
          <p:cNvSpPr/>
          <p:nvPr/>
        </p:nvSpPr>
        <p:spPr>
          <a:xfrm>
            <a:off x="566928" y="1938528"/>
            <a:ext cx="5943600" cy="2286000"/>
          </a:xfrm>
          <a:prstGeom prst="roundRect">
            <a:avLst>
              <a:gd name="adj" fmla="val 3000"/>
            </a:avLst>
          </a:prstGeom>
          <a:noFill/>
          <a:ln w="12700">
            <a:solidFill>
              <a:srgbClr val="D8DEE6"/>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TextBox 8"/>
          <p:cNvSpPr txBox="1"/>
          <p:nvPr/>
        </p:nvSpPr>
        <p:spPr>
          <a:xfrm>
            <a:off x="804672" y="2139696"/>
            <a:ext cx="5486400" cy="1920240"/>
          </a:xfrm>
          <a:prstGeom prst="rect">
            <a:avLst/>
          </a:prstGeom>
          <a:noFill/>
        </p:spPr>
        <p:txBody>
          <a:bodyPr wrap="square" lIns="0" tIns="0" rIns="0" bIns="0">
            <a:spAutoFit/>
          </a:bodyPr>
          <a:lstStyle/>
          <a:p>
            <a:pPr algn="l">
              <a:lnSpc>
                <a:spcPct val="120000"/>
              </a:lnSpc>
              <a:spcAft>
                <a:spcPts val="800"/>
              </a:spcAft>
            </a:pPr>
            <a:r>
              <a:rPr sz="1500" b="1" i="0">
                <a:solidFill>
                  <a:srgbClr val="1F5CA8"/>
                </a:solidFill>
                <a:latin typeface="Segoe UI"/>
                <a:ea typeface="Segoe UI"/>
              </a:rPr>
              <a:t>Network structure</a:t>
            </a:r>
          </a:p>
          <a:p>
            <a:pPr algn="l">
              <a:lnSpc>
                <a:spcPct val="115000"/>
              </a:lnSpc>
              <a:spcAft>
                <a:spcPts val="700"/>
              </a:spcAft>
            </a:pPr>
            <a:r>
              <a:rPr sz="1300" b="0" i="0">
                <a:solidFill>
                  <a:srgbClr val="334050"/>
                </a:solidFill>
                <a:latin typeface="Segoe UI"/>
                <a:ea typeface="Segoe UI"/>
              </a:rPr>
              <a:t>▪  Two towers with shared weights (Siamese): the same encoder embeds sentence A and sentence B</a:t>
            </a:r>
          </a:p>
          <a:p>
            <a:pPr algn="l">
              <a:lnSpc>
                <a:spcPct val="115000"/>
              </a:lnSpc>
              <a:spcAft>
                <a:spcPts val="700"/>
              </a:spcAft>
            </a:pPr>
            <a:r>
              <a:rPr sz="1300" b="0" i="0">
                <a:solidFill>
                  <a:srgbClr val="334050"/>
                </a:solidFill>
                <a:latin typeface="Segoe UI"/>
                <a:ea typeface="Segoe UI"/>
              </a:rPr>
              <a:t>▪  Pooling layer: mean or max (mean by default) compresses token vectors into one fixed-length sentence vector; CLS also works</a:t>
            </a:r>
          </a:p>
          <a:p>
            <a:pPr algn="l">
              <a:lnSpc>
                <a:spcPct val="115000"/>
              </a:lnSpc>
              <a:spcAft>
                <a:spcPts val="700"/>
              </a:spcAft>
            </a:pPr>
            <a:r>
              <a:rPr sz="1300" b="0" i="0">
                <a:solidFill>
                  <a:srgbClr val="334050"/>
                </a:solidFill>
                <a:latin typeface="Segoe UI"/>
                <a:ea typeface="Segoe UI"/>
              </a:rPr>
              <a:t>▪  Default output is 768-dim, optionally projected down to 256/512</a:t>
            </a:r>
          </a:p>
        </p:txBody>
      </p:sp>
      <p:sp>
        <p:nvSpPr>
          <p:cNvPr id="10" name="Rounded Rectangle 9"/>
          <p:cNvSpPr/>
          <p:nvPr/>
        </p:nvSpPr>
        <p:spPr>
          <a:xfrm>
            <a:off x="566928" y="4407408"/>
            <a:ext cx="5943600" cy="2286000"/>
          </a:xfrm>
          <a:prstGeom prst="roundRect">
            <a:avLst>
              <a:gd name="adj" fmla="val 3000"/>
            </a:avLst>
          </a:prstGeom>
          <a:noFill/>
          <a:ln w="12700">
            <a:solidFill>
              <a:srgbClr val="D8DEE6"/>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 name="TextBox 10"/>
          <p:cNvSpPr txBox="1"/>
          <p:nvPr/>
        </p:nvSpPr>
        <p:spPr>
          <a:xfrm>
            <a:off x="804672" y="4572000"/>
            <a:ext cx="5486400" cy="2011680"/>
          </a:xfrm>
          <a:prstGeom prst="rect">
            <a:avLst/>
          </a:prstGeom>
          <a:noFill/>
        </p:spPr>
        <p:txBody>
          <a:bodyPr wrap="square" lIns="0" tIns="0" rIns="0" bIns="0">
            <a:spAutoFit/>
          </a:bodyPr>
          <a:lstStyle/>
          <a:p>
            <a:pPr algn="l">
              <a:lnSpc>
                <a:spcPct val="120000"/>
              </a:lnSpc>
              <a:spcAft>
                <a:spcPts val="800"/>
              </a:spcAft>
            </a:pPr>
            <a:r>
              <a:rPr sz="1500" b="1" i="0">
                <a:solidFill>
                  <a:srgbClr val="1F5CA8"/>
                </a:solidFill>
                <a:latin typeface="Segoe UI"/>
                <a:ea typeface="Segoe UI"/>
              </a:rPr>
              <a:t>Engineering notes</a:t>
            </a:r>
          </a:p>
          <a:p>
            <a:pPr algn="l">
              <a:lnSpc>
                <a:spcPct val="115000"/>
              </a:lnSpc>
              <a:spcAft>
                <a:spcPts val="700"/>
              </a:spcAft>
            </a:pPr>
            <a:r>
              <a:rPr sz="1300" b="0" i="0">
                <a:solidFill>
                  <a:srgbClr val="334050"/>
                </a:solidFill>
                <a:latin typeface="Segoe UI"/>
                <a:ea typeface="Segoe UI"/>
              </a:rPr>
              <a:t>▪  Large batches matter: the original batch size of 16 was too small, SBERT later trained with 1024</a:t>
            </a:r>
          </a:p>
          <a:p>
            <a:pPr algn="l">
              <a:lnSpc>
                <a:spcPct val="115000"/>
              </a:lnSpc>
              <a:spcAft>
                <a:spcPts val="700"/>
              </a:spcAft>
            </a:pPr>
            <a:r>
              <a:rPr sz="1300" b="0" i="0">
                <a:solidFill>
                  <a:srgbClr val="334050"/>
                </a:solidFill>
                <a:latin typeface="Segoe UI"/>
                <a:ea typeface="Segoe UI"/>
              </a:rPr>
              <a:t>▪  In-batch negatives are free: every other example in the batch is a natural negative</a:t>
            </a:r>
          </a:p>
        </p:txBody>
      </p:sp>
      <p:sp>
        <p:nvSpPr>
          <p:cNvPr id="12" name="Rounded Rectangle 11"/>
          <p:cNvSpPr/>
          <p:nvPr/>
        </p:nvSpPr>
        <p:spPr>
          <a:xfrm>
            <a:off x="6876288" y="1938528"/>
            <a:ext cx="4748479" cy="4754880"/>
          </a:xfrm>
          <a:prstGeom prst="roundRect">
            <a:avLst>
              <a:gd name="adj" fmla="val 3000"/>
            </a:avLst>
          </a:prstGeom>
          <a:solidFill>
            <a:srgbClr val="F7F9FC"/>
          </a:solidFill>
          <a:ln w="12700">
            <a:solidFill>
              <a:srgbClr val="BBC7D6"/>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3" name="TextBox 12"/>
          <p:cNvSpPr txBox="1"/>
          <p:nvPr/>
        </p:nvSpPr>
        <p:spPr>
          <a:xfrm>
            <a:off x="7077456" y="2103120"/>
            <a:ext cx="4346143" cy="4425696"/>
          </a:xfrm>
          <a:prstGeom prst="rect">
            <a:avLst/>
          </a:prstGeom>
          <a:noFill/>
        </p:spPr>
        <p:txBody>
          <a:bodyPr wrap="square" lIns="0" tIns="0" rIns="0" bIns="0">
            <a:spAutoFit/>
          </a:bodyPr>
          <a:lstStyle/>
          <a:p>
            <a:pPr algn="l">
              <a:lnSpc>
                <a:spcPct val="120000"/>
              </a:lnSpc>
              <a:spcAft>
                <a:spcPts val="400"/>
              </a:spcAft>
            </a:pPr>
            <a:r>
              <a:rPr sz="1300" b="1" i="0">
                <a:solidFill>
                  <a:srgbClr val="1F5CA8"/>
                </a:solidFill>
                <a:latin typeface="Segoe UI"/>
                <a:ea typeface="Segoe UI"/>
              </a:rPr>
              <a:t>Placeholder: Siamese diagram + the three losses</a:t>
            </a:r>
          </a:p>
          <a:p>
            <a:pPr algn="l">
              <a:lnSpc>
                <a:spcPct val="120000"/>
              </a:lnSpc>
              <a:spcAft>
                <a:spcPts val="0"/>
              </a:spcAft>
            </a:pPr>
            <a:r>
              <a:rPr sz="1150" b="0" i="0">
                <a:solidFill>
                  <a:srgbClr val="7A8696"/>
                </a:solidFill>
                <a:latin typeface="Segoe UI"/>
                <a:ea typeface="Segoe UI"/>
              </a:rPr>
              <a:t>Suggested: left tower BERT→pooling→u, right tower (shared weights)→pooling→v, similarity in the middle; below, write the cosine / MSE / triplet objectives</a:t>
            </a:r>
          </a:p>
          <a:p>
            <a:pPr algn="l">
              <a:lnSpc>
                <a:spcPct val="120000"/>
              </a:lnSpc>
              <a:spcAft>
                <a:spcPts val="200"/>
              </a:spcAft>
            </a:pPr>
            <a:r>
              <a:rPr sz="1150" b="0" i="0">
                <a:solidFill>
                  <a:srgbClr val="BBC7D6"/>
                </a:solidFill>
                <a:latin typeface="Segoe UI"/>
                <a:ea typeface="Segoe UI"/>
              </a:rPr>
              <a:t>· </a:t>
            </a:r>
          </a:p>
          <a:p>
            <a:pPr algn="l">
              <a:lnSpc>
                <a:spcPct val="120000"/>
              </a:lnSpc>
              <a:spcAft>
                <a:spcPts val="200"/>
              </a:spcAft>
            </a:pPr>
            <a:r>
              <a:rPr sz="1150" b="0" i="0">
                <a:solidFill>
                  <a:srgbClr val="BBC7D6"/>
                </a:solidFill>
                <a:latin typeface="Segoe UI"/>
                <a:ea typeface="Segoe UI"/>
              </a:rPr>
              <a:t>· </a:t>
            </a:r>
          </a:p>
          <a:p>
            <a:pPr algn="l">
              <a:lnSpc>
                <a:spcPct val="120000"/>
              </a:lnSpc>
              <a:spcAft>
                <a:spcPts val="200"/>
              </a:spcAft>
            </a:pPr>
            <a:r>
              <a:rPr sz="1150" b="0" i="0">
                <a:solidFill>
                  <a:srgbClr val="BBC7D6"/>
                </a:solidFill>
                <a:latin typeface="Segoe UI"/>
                <a:ea typeface="Segoe UI"/>
              </a:rPr>
              <a:t>· </a:t>
            </a:r>
          </a:p>
          <a:p>
            <a:pPr algn="l">
              <a:lnSpc>
                <a:spcPct val="120000"/>
              </a:lnSpc>
              <a:spcAft>
                <a:spcPts val="200"/>
              </a:spcAft>
            </a:pPr>
            <a:r>
              <a:rPr sz="1150" b="0" i="0">
                <a:solidFill>
                  <a:srgbClr val="BBC7D6"/>
                </a:solidFill>
                <a:latin typeface="Segoe UI"/>
                <a:ea typeface="Segoe UI"/>
              </a:rPr>
              <a:t>· </a:t>
            </a:r>
          </a:p>
          <a:p>
            <a:pPr algn="l">
              <a:lnSpc>
                <a:spcPct val="120000"/>
              </a:lnSpc>
              <a:spcAft>
                <a:spcPts val="200"/>
              </a:spcAft>
            </a:pPr>
            <a:r>
              <a:rPr sz="1150" b="0" i="0">
                <a:solidFill>
                  <a:srgbClr val="BBC7D6"/>
                </a:solidFill>
                <a:latin typeface="Segoe UI"/>
                <a:ea typeface="Segoe UI"/>
              </a:rPr>
              <a:t>· </a:t>
            </a:r>
          </a:p>
          <a:p>
            <a:pPr algn="l">
              <a:lnSpc>
                <a:spcPct val="120000"/>
              </a:lnSpc>
              <a:spcAft>
                <a:spcPts val="200"/>
              </a:spcAft>
            </a:pPr>
            <a:r>
              <a:rPr sz="1150" b="0" i="0">
                <a:solidFill>
                  <a:srgbClr val="BBC7D6"/>
                </a:solidFill>
                <a:latin typeface="Segoe UI"/>
                <a:ea typeface="Segoe UI"/>
              </a:rPr>
              <a:t>· </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7724"/>
          </a:xfrm>
          <a:prstGeom prst="rect">
            <a:avLst/>
          </a:prstGeom>
          <a:solidFill>
            <a:srgbClr val="1F5CA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TextBox 2"/>
          <p:cNvSpPr txBox="1"/>
          <p:nvPr/>
        </p:nvSpPr>
        <p:spPr>
          <a:xfrm>
            <a:off x="566928" y="310896"/>
            <a:ext cx="8595360" cy="274320"/>
          </a:xfrm>
          <a:prstGeom prst="rect">
            <a:avLst/>
          </a:prstGeom>
          <a:noFill/>
        </p:spPr>
        <p:txBody>
          <a:bodyPr wrap="square" lIns="0" tIns="0" rIns="0" bIns="0">
            <a:spAutoFit/>
          </a:bodyPr>
          <a:lstStyle/>
          <a:p>
            <a:pPr algn="l">
              <a:lnSpc>
                <a:spcPct val="120000"/>
              </a:lnSpc>
              <a:spcAft>
                <a:spcPts val="0"/>
              </a:spcAft>
            </a:pPr>
            <a:r>
              <a:rPr sz="1050" b="1" i="0">
                <a:solidFill>
                  <a:srgbClr val="1F5CA8"/>
                </a:solidFill>
                <a:latin typeface="Segoe UI"/>
                <a:ea typeface="Segoe UI"/>
              </a:rPr>
              <a:t>PART 1 · EMBEDDING MODEL: SBERT</a:t>
            </a:r>
          </a:p>
        </p:txBody>
      </p:sp>
      <p:sp>
        <p:nvSpPr>
          <p:cNvPr id="4" name="TextBox 3"/>
          <p:cNvSpPr txBox="1"/>
          <p:nvPr/>
        </p:nvSpPr>
        <p:spPr>
          <a:xfrm>
            <a:off x="10161727" y="310896"/>
            <a:ext cx="1463040" cy="274320"/>
          </a:xfrm>
          <a:prstGeom prst="rect">
            <a:avLst/>
          </a:prstGeom>
          <a:noFill/>
        </p:spPr>
        <p:txBody>
          <a:bodyPr wrap="square" lIns="0" tIns="0" rIns="0" bIns="0">
            <a:spAutoFit/>
          </a:bodyPr>
          <a:lstStyle/>
          <a:p>
            <a:pPr algn="r">
              <a:lnSpc>
                <a:spcPct val="120000"/>
              </a:lnSpc>
              <a:spcAft>
                <a:spcPts val="0"/>
              </a:spcAft>
            </a:pPr>
            <a:r>
              <a:rPr sz="1050" b="0" i="0">
                <a:solidFill>
                  <a:srgbClr val="7A8696"/>
                </a:solidFill>
                <a:latin typeface="Segoe UI"/>
                <a:ea typeface="Segoe UI"/>
              </a:rPr>
              <a:t>9</a:t>
            </a:r>
          </a:p>
        </p:txBody>
      </p:sp>
      <p:sp>
        <p:nvSpPr>
          <p:cNvPr id="5" name="TextBox 4"/>
          <p:cNvSpPr txBox="1"/>
          <p:nvPr/>
        </p:nvSpPr>
        <p:spPr>
          <a:xfrm>
            <a:off x="566928" y="658368"/>
            <a:ext cx="11057839" cy="658368"/>
          </a:xfrm>
          <a:prstGeom prst="rect">
            <a:avLst/>
          </a:prstGeom>
          <a:noFill/>
        </p:spPr>
        <p:txBody>
          <a:bodyPr wrap="square" lIns="0" tIns="0" rIns="0" bIns="0">
            <a:spAutoFit/>
          </a:bodyPr>
          <a:lstStyle/>
          <a:p>
            <a:pPr algn="l">
              <a:lnSpc>
                <a:spcPct val="120000"/>
              </a:lnSpc>
              <a:spcAft>
                <a:spcPts val="0"/>
              </a:spcAft>
            </a:pPr>
            <a:r>
              <a:rPr sz="2700" b="1" i="0">
                <a:solidFill>
                  <a:srgbClr val="1B2533"/>
                </a:solidFill>
                <a:latin typeface="Segoe UI"/>
                <a:ea typeface="Segoe UI"/>
              </a:rPr>
              <a:t>Results: from roughly 0.5 to roughly 0.8</a:t>
            </a:r>
          </a:p>
        </p:txBody>
      </p:sp>
      <p:sp>
        <p:nvSpPr>
          <p:cNvPr id="6" name="Rectangle 5"/>
          <p:cNvSpPr/>
          <p:nvPr/>
        </p:nvSpPr>
        <p:spPr>
          <a:xfrm>
            <a:off x="566928" y="1371600"/>
            <a:ext cx="1051560" cy="50292"/>
          </a:xfrm>
          <a:prstGeom prst="rect">
            <a:avLst/>
          </a:prstGeom>
          <a:solidFill>
            <a:srgbClr val="1F5CA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 name="TextBox 6"/>
          <p:cNvSpPr txBox="1"/>
          <p:nvPr/>
        </p:nvSpPr>
        <p:spPr>
          <a:xfrm>
            <a:off x="566928" y="1517904"/>
            <a:ext cx="11057839" cy="329184"/>
          </a:xfrm>
          <a:prstGeom prst="rect">
            <a:avLst/>
          </a:prstGeom>
          <a:noFill/>
        </p:spPr>
        <p:txBody>
          <a:bodyPr wrap="square" lIns="0" tIns="0" rIns="0" bIns="0">
            <a:spAutoFit/>
          </a:bodyPr>
          <a:lstStyle/>
          <a:p>
            <a:pPr algn="l">
              <a:lnSpc>
                <a:spcPct val="120000"/>
              </a:lnSpc>
              <a:spcAft>
                <a:spcPts val="0"/>
              </a:spcAft>
            </a:pPr>
            <a:r>
              <a:rPr sz="1300" b="0" i="0">
                <a:solidFill>
                  <a:srgbClr val="7A8696"/>
                </a:solidFill>
                <a:latin typeface="Segoe UI"/>
                <a:ea typeface="Segoe UI"/>
              </a:rPr>
              <a:t>Same BERT weights, a different objective</a:t>
            </a:r>
          </a:p>
        </p:txBody>
      </p:sp>
      <p:graphicFrame>
        <p:nvGraphicFramePr>
          <p:cNvPr id="8" name="Table 7"/>
          <p:cNvGraphicFramePr>
            <a:graphicFrameLocks noGrp="1"/>
          </p:cNvGraphicFramePr>
          <p:nvPr/>
        </p:nvGraphicFramePr>
        <p:xfrm>
          <a:off x="566928" y="1965960"/>
          <a:ext cx="6766560" cy="1755648"/>
        </p:xfrm>
        <a:graphic>
          <a:graphicData uri="http://schemas.openxmlformats.org/drawingml/2006/table">
            <a:tbl>
              <a:tblPr firstRow="1" bandRow="1">
                <a:tableStyleId>{5C22544A-7EE6-4342-B048-85BDC9FD1C3A}</a:tableStyleId>
              </a:tblPr>
              <a:tblGrid>
                <a:gridCol w="2537460">
                  <a:extLst>
                    <a:ext uri="{9D8B030D-6E8A-4147-A177-3AD203B41FA5}">
                      <a16:colId xmlns:a16="http://schemas.microsoft.com/office/drawing/2014/main" val="20000"/>
                    </a:ext>
                  </a:extLst>
                </a:gridCol>
                <a:gridCol w="1860804">
                  <a:extLst>
                    <a:ext uri="{9D8B030D-6E8A-4147-A177-3AD203B41FA5}">
                      <a16:colId xmlns:a16="http://schemas.microsoft.com/office/drawing/2014/main" val="20001"/>
                    </a:ext>
                  </a:extLst>
                </a:gridCol>
                <a:gridCol w="2368296">
                  <a:extLst>
                    <a:ext uri="{9D8B030D-6E8A-4147-A177-3AD203B41FA5}">
                      <a16:colId xmlns:a16="http://schemas.microsoft.com/office/drawing/2014/main" val="20002"/>
                    </a:ext>
                  </a:extLst>
                </a:gridCol>
              </a:tblGrid>
              <a:tr h="365760">
                <a:tc>
                  <a:txBody>
                    <a:bodyPr/>
                    <a:lstStyle/>
                    <a:p>
                      <a:pPr algn="l">
                        <a:lnSpc>
                          <a:spcPct val="108000"/>
                        </a:lnSpc>
                        <a:spcAft>
                          <a:spcPts val="0"/>
                        </a:spcAft>
                      </a:pPr>
                      <a:r>
                        <a:rPr sz="1150" b="1" i="0">
                          <a:solidFill>
                            <a:srgbClr val="FFFFFF"/>
                          </a:solidFill>
                          <a:latin typeface="Segoe UI"/>
                          <a:ea typeface="Segoe UI"/>
                        </a:rPr>
                        <a:t>Approach</a:t>
                      </a:r>
                    </a:p>
                  </a:txBody>
                  <a:tcPr marL="82296" marR="64008" marT="18288" marB="18288" anchor="ctr">
                    <a:solidFill>
                      <a:srgbClr val="1F5CA8"/>
                    </a:solidFill>
                  </a:tcPr>
                </a:tc>
                <a:tc>
                  <a:txBody>
                    <a:bodyPr/>
                    <a:lstStyle/>
                    <a:p>
                      <a:pPr algn="l">
                        <a:lnSpc>
                          <a:spcPct val="108000"/>
                        </a:lnSpc>
                        <a:spcAft>
                          <a:spcPts val="0"/>
                        </a:spcAft>
                      </a:pPr>
                      <a:r>
                        <a:rPr sz="1150" b="1" i="0">
                          <a:solidFill>
                            <a:srgbClr val="FFFFFF"/>
                          </a:solidFill>
                          <a:latin typeface="Segoe UI"/>
                          <a:ea typeface="Segoe UI"/>
                        </a:rPr>
                        <a:t>STS performance</a:t>
                      </a:r>
                    </a:p>
                  </a:txBody>
                  <a:tcPr marL="82296" marR="64008" marT="18288" marB="18288" anchor="ctr">
                    <a:solidFill>
                      <a:srgbClr val="1F5CA8"/>
                    </a:solidFill>
                  </a:tcPr>
                </a:tc>
                <a:tc>
                  <a:txBody>
                    <a:bodyPr/>
                    <a:lstStyle/>
                    <a:p>
                      <a:pPr algn="l">
                        <a:lnSpc>
                          <a:spcPct val="108000"/>
                        </a:lnSpc>
                        <a:spcAft>
                          <a:spcPts val="0"/>
                        </a:spcAft>
                      </a:pPr>
                      <a:r>
                        <a:rPr sz="1150" b="1" i="0">
                          <a:solidFill>
                            <a:srgbClr val="FFFFFF"/>
                          </a:solidFill>
                          <a:latin typeface="Segoe UI"/>
                          <a:ea typeface="Segoe UI"/>
                        </a:rPr>
                        <a:t>Notes</a:t>
                      </a:r>
                    </a:p>
                  </a:txBody>
                  <a:tcPr marL="82296" marR="64008" marT="18288" marB="18288" anchor="ctr">
                    <a:solidFill>
                      <a:srgbClr val="1F5CA8"/>
                    </a:solidFill>
                  </a:tcPr>
                </a:tc>
                <a:extLst>
                  <a:ext uri="{0D108BD9-81ED-4DB2-BD59-A6C34878D82A}">
                    <a16:rowId xmlns:a16="http://schemas.microsoft.com/office/drawing/2014/main" val="10000"/>
                  </a:ext>
                </a:extLst>
              </a:tr>
              <a:tr h="347472">
                <a:tc>
                  <a:txBody>
                    <a:bodyPr/>
                    <a:lstStyle/>
                    <a:p>
                      <a:pPr algn="l">
                        <a:lnSpc>
                          <a:spcPct val="108000"/>
                        </a:lnSpc>
                        <a:spcAft>
                          <a:spcPts val="0"/>
                        </a:spcAft>
                      </a:pPr>
                      <a:r>
                        <a:rPr sz="1150" b="0" i="0">
                          <a:solidFill>
                            <a:srgbClr val="334050"/>
                          </a:solidFill>
                          <a:latin typeface="Segoe UI"/>
                          <a:ea typeface="Segoe UI"/>
                        </a:rPr>
                        <a:t>Avg. GloVe embeddings</a:t>
                      </a:r>
                    </a:p>
                  </a:txBody>
                  <a:tcPr marL="82296" marR="64008" marT="18288" marB="18288" anchor="ctr">
                    <a:solidFill>
                      <a:srgbClr val="FFFFFF"/>
                    </a:solidFill>
                  </a:tcPr>
                </a:tc>
                <a:tc>
                  <a:txBody>
                    <a:bodyPr/>
                    <a:lstStyle/>
                    <a:p>
                      <a:pPr algn="l">
                        <a:lnSpc>
                          <a:spcPct val="108000"/>
                        </a:lnSpc>
                        <a:spcAft>
                          <a:spcPts val="0"/>
                        </a:spcAft>
                      </a:pPr>
                      <a:r>
                        <a:rPr sz="1150" b="0" i="0">
                          <a:solidFill>
                            <a:srgbClr val="334050"/>
                          </a:solidFill>
                          <a:latin typeface="Segoe UI"/>
                          <a:ea typeface="Segoe UI"/>
                        </a:rPr>
                        <a:t>Spearman ≈ 0.52</a:t>
                      </a:r>
                    </a:p>
                  </a:txBody>
                  <a:tcPr marL="82296" marR="64008" marT="18288" marB="18288" anchor="ctr">
                    <a:solidFill>
                      <a:srgbClr val="FFFFFF"/>
                    </a:solidFill>
                  </a:tcPr>
                </a:tc>
                <a:tc>
                  <a:txBody>
                    <a:bodyPr/>
                    <a:lstStyle/>
                    <a:p>
                      <a:pPr algn="l">
                        <a:lnSpc>
                          <a:spcPct val="108000"/>
                        </a:lnSpc>
                        <a:spcAft>
                          <a:spcPts val="0"/>
                        </a:spcAft>
                      </a:pPr>
                      <a:r>
                        <a:rPr sz="1150" b="0" i="0">
                          <a:solidFill>
                            <a:srgbClr val="334050"/>
                          </a:solidFill>
                          <a:latin typeface="Segoe UI"/>
                          <a:ea typeface="Segoe UI"/>
                        </a:rPr>
                        <a:t>Averaged word vectors; weak baseline</a:t>
                      </a:r>
                    </a:p>
                  </a:txBody>
                  <a:tcPr marL="82296" marR="64008" marT="18288" marB="18288" anchor="ctr">
                    <a:solidFill>
                      <a:srgbClr val="FFFFFF"/>
                    </a:solidFill>
                  </a:tcPr>
                </a:tc>
                <a:extLst>
                  <a:ext uri="{0D108BD9-81ED-4DB2-BD59-A6C34878D82A}">
                    <a16:rowId xmlns:a16="http://schemas.microsoft.com/office/drawing/2014/main" val="10001"/>
                  </a:ext>
                </a:extLst>
              </a:tr>
              <a:tr h="347472">
                <a:tc>
                  <a:txBody>
                    <a:bodyPr/>
                    <a:lstStyle/>
                    <a:p>
                      <a:pPr algn="l">
                        <a:lnSpc>
                          <a:spcPct val="108000"/>
                        </a:lnSpc>
                        <a:spcAft>
                          <a:spcPts val="0"/>
                        </a:spcAft>
                      </a:pPr>
                      <a:r>
                        <a:rPr sz="1150" b="0" i="0">
                          <a:solidFill>
                            <a:srgbClr val="334050"/>
                          </a:solidFill>
                          <a:latin typeface="Segoe UI"/>
                          <a:ea typeface="Segoe UI"/>
                        </a:rPr>
                        <a:t>BERT CLS / mean vectors</a:t>
                      </a:r>
                    </a:p>
                  </a:txBody>
                  <a:tcPr marL="82296" marR="64008" marT="18288" marB="18288" anchor="ctr">
                    <a:solidFill>
                      <a:srgbClr val="F4F7FB"/>
                    </a:solidFill>
                  </a:tcPr>
                </a:tc>
                <a:tc>
                  <a:txBody>
                    <a:bodyPr/>
                    <a:lstStyle/>
                    <a:p>
                      <a:pPr algn="l">
                        <a:lnSpc>
                          <a:spcPct val="108000"/>
                        </a:lnSpc>
                        <a:spcAft>
                          <a:spcPts val="0"/>
                        </a:spcAft>
                      </a:pPr>
                      <a:r>
                        <a:rPr sz="1150" b="0" i="0">
                          <a:solidFill>
                            <a:srgbClr val="334050"/>
                          </a:solidFill>
                          <a:latin typeface="Segoe UI"/>
                          <a:ea typeface="Segoe UI"/>
                        </a:rPr>
                        <a:t>≈ 0.51 - 0.60</a:t>
                      </a:r>
                    </a:p>
                  </a:txBody>
                  <a:tcPr marL="82296" marR="64008" marT="18288" marB="18288" anchor="ctr">
                    <a:solidFill>
                      <a:srgbClr val="F4F7FB"/>
                    </a:solidFill>
                  </a:tcPr>
                </a:tc>
                <a:tc>
                  <a:txBody>
                    <a:bodyPr/>
                    <a:lstStyle/>
                    <a:p>
                      <a:pPr algn="l">
                        <a:lnSpc>
                          <a:spcPct val="108000"/>
                        </a:lnSpc>
                        <a:spcAft>
                          <a:spcPts val="0"/>
                        </a:spcAft>
                      </a:pPr>
                      <a:r>
                        <a:rPr sz="1150" b="0" i="0">
                          <a:solidFill>
                            <a:srgbClr val="334050"/>
                          </a:solidFill>
                          <a:latin typeface="Segoe UI"/>
                          <a:ea typeface="Segoe UI"/>
                        </a:rPr>
                        <a:t>Never trained for similarity</a:t>
                      </a:r>
                    </a:p>
                  </a:txBody>
                  <a:tcPr marL="82296" marR="64008" marT="18288" marB="18288" anchor="ctr">
                    <a:solidFill>
                      <a:srgbClr val="F4F7FB"/>
                    </a:solidFill>
                  </a:tcPr>
                </a:tc>
                <a:extLst>
                  <a:ext uri="{0D108BD9-81ED-4DB2-BD59-A6C34878D82A}">
                    <a16:rowId xmlns:a16="http://schemas.microsoft.com/office/drawing/2014/main" val="10002"/>
                  </a:ext>
                </a:extLst>
              </a:tr>
              <a:tr h="347472">
                <a:tc>
                  <a:txBody>
                    <a:bodyPr/>
                    <a:lstStyle/>
                    <a:p>
                      <a:pPr algn="l">
                        <a:lnSpc>
                          <a:spcPct val="108000"/>
                        </a:lnSpc>
                        <a:spcAft>
                          <a:spcPts val="0"/>
                        </a:spcAft>
                      </a:pPr>
                      <a:r>
                        <a:rPr sz="1150" b="0" i="0">
                          <a:solidFill>
                            <a:srgbClr val="334050"/>
                          </a:solidFill>
                          <a:latin typeface="Segoe UI"/>
                          <a:ea typeface="Segoe UI"/>
                        </a:rPr>
                        <a:t>SBERT (base)</a:t>
                      </a:r>
                    </a:p>
                  </a:txBody>
                  <a:tcPr marL="82296" marR="64008" marT="18288" marB="18288" anchor="ctr">
                    <a:solidFill>
                      <a:srgbClr val="FFFFFF"/>
                    </a:solidFill>
                  </a:tcPr>
                </a:tc>
                <a:tc>
                  <a:txBody>
                    <a:bodyPr/>
                    <a:lstStyle/>
                    <a:p>
                      <a:pPr algn="l">
                        <a:lnSpc>
                          <a:spcPct val="108000"/>
                        </a:lnSpc>
                        <a:spcAft>
                          <a:spcPts val="0"/>
                        </a:spcAft>
                      </a:pPr>
                      <a:r>
                        <a:rPr sz="1150" b="0" i="0">
                          <a:solidFill>
                            <a:srgbClr val="334050"/>
                          </a:solidFill>
                          <a:latin typeface="Segoe UI"/>
                          <a:ea typeface="Segoe UI"/>
                        </a:rPr>
                        <a:t>≈ 0.76</a:t>
                      </a:r>
                    </a:p>
                  </a:txBody>
                  <a:tcPr marL="82296" marR="64008" marT="18288" marB="18288" anchor="ctr">
                    <a:solidFill>
                      <a:srgbClr val="FFFFFF"/>
                    </a:solidFill>
                  </a:tcPr>
                </a:tc>
                <a:tc>
                  <a:txBody>
                    <a:bodyPr/>
                    <a:lstStyle/>
                    <a:p>
                      <a:pPr algn="l">
                        <a:lnSpc>
                          <a:spcPct val="108000"/>
                        </a:lnSpc>
                        <a:spcAft>
                          <a:spcPts val="0"/>
                        </a:spcAft>
                      </a:pPr>
                      <a:r>
                        <a:rPr sz="1150" b="0" i="0">
                          <a:solidFill>
                            <a:srgbClr val="334050"/>
                          </a:solidFill>
                          <a:latin typeface="Segoe UI"/>
                          <a:ea typeface="Segoe UI"/>
                        </a:rPr>
                        <a:t>Siamese + NLI fine-tuning</a:t>
                      </a:r>
                    </a:p>
                  </a:txBody>
                  <a:tcPr marL="82296" marR="64008" marT="18288" marB="18288" anchor="ctr">
                    <a:solidFill>
                      <a:srgbClr val="FFFFFF"/>
                    </a:solidFill>
                  </a:tcPr>
                </a:tc>
                <a:extLst>
                  <a:ext uri="{0D108BD9-81ED-4DB2-BD59-A6C34878D82A}">
                    <a16:rowId xmlns:a16="http://schemas.microsoft.com/office/drawing/2014/main" val="10003"/>
                  </a:ext>
                </a:extLst>
              </a:tr>
              <a:tr h="347472">
                <a:tc>
                  <a:txBody>
                    <a:bodyPr/>
                    <a:lstStyle/>
                    <a:p>
                      <a:pPr algn="l">
                        <a:lnSpc>
                          <a:spcPct val="108000"/>
                        </a:lnSpc>
                        <a:spcAft>
                          <a:spcPts val="0"/>
                        </a:spcAft>
                      </a:pPr>
                      <a:r>
                        <a:rPr sz="1150" b="0" i="0">
                          <a:solidFill>
                            <a:srgbClr val="334050"/>
                          </a:solidFill>
                          <a:latin typeface="Segoe UI"/>
                          <a:ea typeface="Segoe UI"/>
                        </a:rPr>
                        <a:t>SBERT (roberta-large)</a:t>
                      </a:r>
                    </a:p>
                  </a:txBody>
                  <a:tcPr marL="82296" marR="64008" marT="18288" marB="18288" anchor="ctr">
                    <a:solidFill>
                      <a:srgbClr val="F4F7FB"/>
                    </a:solidFill>
                  </a:tcPr>
                </a:tc>
                <a:tc>
                  <a:txBody>
                    <a:bodyPr/>
                    <a:lstStyle/>
                    <a:p>
                      <a:pPr algn="l">
                        <a:lnSpc>
                          <a:spcPct val="108000"/>
                        </a:lnSpc>
                        <a:spcAft>
                          <a:spcPts val="0"/>
                        </a:spcAft>
                      </a:pPr>
                      <a:r>
                        <a:rPr sz="1150" b="0" i="0">
                          <a:solidFill>
                            <a:srgbClr val="334050"/>
                          </a:solidFill>
                          <a:latin typeface="Segoe UI"/>
                          <a:ea typeface="Segoe UI"/>
                        </a:rPr>
                        <a:t>≈ 0.79</a:t>
                      </a:r>
                    </a:p>
                  </a:txBody>
                  <a:tcPr marL="82296" marR="64008" marT="18288" marB="18288" anchor="ctr">
                    <a:solidFill>
                      <a:srgbClr val="F4F7FB"/>
                    </a:solidFill>
                  </a:tcPr>
                </a:tc>
                <a:tc>
                  <a:txBody>
                    <a:bodyPr/>
                    <a:lstStyle/>
                    <a:p>
                      <a:pPr algn="l">
                        <a:lnSpc>
                          <a:spcPct val="108000"/>
                        </a:lnSpc>
                        <a:spcAft>
                          <a:spcPts val="0"/>
                        </a:spcAft>
                      </a:pPr>
                      <a:r>
                        <a:rPr sz="1150" b="0" i="0">
                          <a:solidFill>
                            <a:srgbClr val="334050"/>
                          </a:solidFill>
                          <a:latin typeface="Segoe UI"/>
                          <a:ea typeface="Segoe UI"/>
                        </a:rPr>
                        <a:t>Bigger backbone, longer training</a:t>
                      </a:r>
                    </a:p>
                  </a:txBody>
                  <a:tcPr marL="82296" marR="64008" marT="18288" marB="18288" anchor="ctr">
                    <a:solidFill>
                      <a:srgbClr val="F4F7FB"/>
                    </a:solidFill>
                  </a:tcPr>
                </a:tc>
                <a:extLst>
                  <a:ext uri="{0D108BD9-81ED-4DB2-BD59-A6C34878D82A}">
                    <a16:rowId xmlns:a16="http://schemas.microsoft.com/office/drawing/2014/main" val="10004"/>
                  </a:ext>
                </a:extLst>
              </a:tr>
            </a:tbl>
          </a:graphicData>
        </a:graphic>
      </p:graphicFrame>
      <p:sp>
        <p:nvSpPr>
          <p:cNvPr id="9" name="TextBox 8"/>
          <p:cNvSpPr txBox="1"/>
          <p:nvPr/>
        </p:nvSpPr>
        <p:spPr>
          <a:xfrm>
            <a:off x="566928" y="4617720"/>
            <a:ext cx="6766560" cy="1280160"/>
          </a:xfrm>
          <a:prstGeom prst="rect">
            <a:avLst/>
          </a:prstGeom>
          <a:noFill/>
        </p:spPr>
        <p:txBody>
          <a:bodyPr wrap="square" lIns="0" tIns="0" rIns="0" bIns="0">
            <a:spAutoFit/>
          </a:bodyPr>
          <a:lstStyle/>
          <a:p>
            <a:pPr algn="l">
              <a:lnSpc>
                <a:spcPct val="120000"/>
              </a:lnSpc>
              <a:spcAft>
                <a:spcPts val="600"/>
              </a:spcAft>
            </a:pPr>
            <a:r>
              <a:rPr sz="1400" b="1" i="0">
                <a:solidFill>
                  <a:srgbClr val="1F5CA8"/>
                </a:solidFill>
                <a:latin typeface="Segoe UI"/>
                <a:ea typeface="Segoe UI"/>
              </a:rPr>
              <a:t>Takeaway</a:t>
            </a:r>
          </a:p>
          <a:p>
            <a:pPr algn="l">
              <a:lnSpc>
                <a:spcPct val="115000"/>
              </a:lnSpc>
              <a:spcAft>
                <a:spcPts val="700"/>
              </a:spcAft>
            </a:pPr>
            <a:r>
              <a:rPr sz="1250" b="0" i="0">
                <a:solidFill>
                  <a:srgbClr val="334050"/>
                </a:solidFill>
                <a:latin typeface="Segoe UI"/>
                <a:ea typeface="Segoe UI"/>
              </a:rPr>
              <a:t>▪  Same BERT weights, different training objective — sentence similarity jumps a full tier</a:t>
            </a:r>
          </a:p>
          <a:p>
            <a:pPr algn="l">
              <a:lnSpc>
                <a:spcPct val="115000"/>
              </a:lnSpc>
              <a:spcAft>
                <a:spcPts val="700"/>
              </a:spcAft>
            </a:pPr>
            <a:r>
              <a:rPr sz="1250" b="0" i="0">
                <a:solidFill>
                  <a:srgbClr val="334050"/>
                </a:solidFill>
                <a:latin typeface="Segoe UI"/>
                <a:ea typeface="Segoe UI"/>
              </a:rPr>
              <a:t>▪  And it keeps the engineering property that made RAG possible: precomputed vectors + ANN search</a:t>
            </a:r>
          </a:p>
        </p:txBody>
      </p:sp>
      <p:sp>
        <p:nvSpPr>
          <p:cNvPr id="10" name="Rounded Rectangle 9"/>
          <p:cNvSpPr/>
          <p:nvPr/>
        </p:nvSpPr>
        <p:spPr>
          <a:xfrm>
            <a:off x="7699248" y="1965960"/>
            <a:ext cx="3925519" cy="3931920"/>
          </a:xfrm>
          <a:prstGeom prst="roundRect">
            <a:avLst>
              <a:gd name="adj" fmla="val 3000"/>
            </a:avLst>
          </a:prstGeom>
          <a:solidFill>
            <a:srgbClr val="F7F9FC"/>
          </a:solidFill>
          <a:ln w="12700">
            <a:solidFill>
              <a:srgbClr val="BBC7D6"/>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 name="TextBox 10"/>
          <p:cNvSpPr txBox="1"/>
          <p:nvPr/>
        </p:nvSpPr>
        <p:spPr>
          <a:xfrm>
            <a:off x="7900416" y="2130552"/>
            <a:ext cx="3523183" cy="3602736"/>
          </a:xfrm>
          <a:prstGeom prst="rect">
            <a:avLst/>
          </a:prstGeom>
          <a:noFill/>
        </p:spPr>
        <p:txBody>
          <a:bodyPr wrap="square" lIns="0" tIns="0" rIns="0" bIns="0">
            <a:spAutoFit/>
          </a:bodyPr>
          <a:lstStyle/>
          <a:p>
            <a:pPr algn="l">
              <a:lnSpc>
                <a:spcPct val="120000"/>
              </a:lnSpc>
              <a:spcAft>
                <a:spcPts val="400"/>
              </a:spcAft>
            </a:pPr>
            <a:r>
              <a:rPr sz="1300" b="1" i="0">
                <a:solidFill>
                  <a:srgbClr val="1F5CA8"/>
                </a:solidFill>
                <a:latin typeface="Segoe UI"/>
                <a:ea typeface="Segoe UI"/>
              </a:rPr>
              <a:t>Placeholder: per-dataset STS bar chart</a:t>
            </a:r>
          </a:p>
          <a:p>
            <a:pPr algn="l">
              <a:lnSpc>
                <a:spcPct val="120000"/>
              </a:lnSpc>
              <a:spcAft>
                <a:spcPts val="0"/>
              </a:spcAft>
            </a:pPr>
            <a:r>
              <a:rPr sz="1150" b="0" i="0">
                <a:solidFill>
                  <a:srgbClr val="7A8696"/>
                </a:solidFill>
                <a:latin typeface="Segoe UI"/>
                <a:ea typeface="Segoe UI"/>
              </a:rPr>
              <a:t>Source: Sentence-BERT paper (Reimers &amp; Gurevych, 2019), Table 2 / official docs; the original figure works well here</a:t>
            </a:r>
          </a:p>
          <a:p>
            <a:pPr algn="l">
              <a:lnSpc>
                <a:spcPct val="120000"/>
              </a:lnSpc>
              <a:spcAft>
                <a:spcPts val="200"/>
              </a:spcAft>
            </a:pPr>
            <a:r>
              <a:rPr sz="1150" b="0" i="0">
                <a:solidFill>
                  <a:srgbClr val="BBC7D6"/>
                </a:solidFill>
                <a:latin typeface="Segoe UI"/>
                <a:ea typeface="Segoe UI"/>
              </a:rPr>
              <a:t>· </a:t>
            </a:r>
          </a:p>
          <a:p>
            <a:pPr algn="l">
              <a:lnSpc>
                <a:spcPct val="120000"/>
              </a:lnSpc>
              <a:spcAft>
                <a:spcPts val="200"/>
              </a:spcAft>
            </a:pPr>
            <a:r>
              <a:rPr sz="1150" b="0" i="0">
                <a:solidFill>
                  <a:srgbClr val="BBC7D6"/>
                </a:solidFill>
                <a:latin typeface="Segoe UI"/>
                <a:ea typeface="Segoe UI"/>
              </a:rPr>
              <a:t>· </a:t>
            </a:r>
          </a:p>
          <a:p>
            <a:pPr algn="l">
              <a:lnSpc>
                <a:spcPct val="120000"/>
              </a:lnSpc>
              <a:spcAft>
                <a:spcPts val="200"/>
              </a:spcAft>
            </a:pPr>
            <a:r>
              <a:rPr sz="1150" b="0" i="0">
                <a:solidFill>
                  <a:srgbClr val="BBC7D6"/>
                </a:solidFill>
                <a:latin typeface="Segoe UI"/>
                <a:ea typeface="Segoe UI"/>
              </a:rPr>
              <a:t>· </a:t>
            </a:r>
          </a:p>
          <a:p>
            <a:pPr algn="l">
              <a:lnSpc>
                <a:spcPct val="120000"/>
              </a:lnSpc>
              <a:spcAft>
                <a:spcPts val="200"/>
              </a:spcAft>
            </a:pPr>
            <a:r>
              <a:rPr sz="1150" b="0" i="0">
                <a:solidFill>
                  <a:srgbClr val="BBC7D6"/>
                </a:solidFill>
                <a:latin typeface="Segoe UI"/>
                <a:ea typeface="Segoe UI"/>
              </a:rPr>
              <a:t>· </a:t>
            </a:r>
          </a:p>
          <a:p>
            <a:pPr algn="l">
              <a:lnSpc>
                <a:spcPct val="120000"/>
              </a:lnSpc>
              <a:spcAft>
                <a:spcPts val="200"/>
              </a:spcAft>
            </a:pPr>
            <a:r>
              <a:rPr sz="1150" b="0" i="0">
                <a:solidFill>
                  <a:srgbClr val="BBC7D6"/>
                </a:solidFill>
                <a:latin typeface="Segoe UI"/>
                <a:ea typeface="Segoe UI"/>
              </a:rPr>
              <a:t>· </a:t>
            </a:r>
          </a:p>
          <a:p>
            <a:pPr algn="l">
              <a:lnSpc>
                <a:spcPct val="120000"/>
              </a:lnSpc>
              <a:spcAft>
                <a:spcPts val="200"/>
              </a:spcAft>
            </a:pPr>
            <a:r>
              <a:rPr sz="1150" b="0" i="0">
                <a:solidFill>
                  <a:srgbClr val="BBC7D6"/>
                </a:solidFill>
                <a:latin typeface="Segoe UI"/>
                <a:ea typeface="Segoe UI"/>
              </a:rPr>
              <a:t>· </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7724"/>
          </a:xfrm>
          <a:prstGeom prst="rect">
            <a:avLst/>
          </a:prstGeom>
          <a:solidFill>
            <a:srgbClr val="1F5CA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TextBox 2"/>
          <p:cNvSpPr txBox="1"/>
          <p:nvPr/>
        </p:nvSpPr>
        <p:spPr>
          <a:xfrm>
            <a:off x="566928" y="310896"/>
            <a:ext cx="8595360" cy="274320"/>
          </a:xfrm>
          <a:prstGeom prst="rect">
            <a:avLst/>
          </a:prstGeom>
          <a:noFill/>
        </p:spPr>
        <p:txBody>
          <a:bodyPr wrap="square" lIns="0" tIns="0" rIns="0" bIns="0">
            <a:spAutoFit/>
          </a:bodyPr>
          <a:lstStyle/>
          <a:p>
            <a:pPr algn="l">
              <a:lnSpc>
                <a:spcPct val="120000"/>
              </a:lnSpc>
              <a:spcAft>
                <a:spcPts val="0"/>
              </a:spcAft>
            </a:pPr>
            <a:r>
              <a:rPr sz="1050" b="1" i="0">
                <a:solidFill>
                  <a:srgbClr val="1F5CA8"/>
                </a:solidFill>
                <a:latin typeface="Segoe UI"/>
                <a:ea typeface="Segoe UI"/>
              </a:rPr>
              <a:t>PART 1 · EMBEDDING MODEL: MTEB</a:t>
            </a:r>
          </a:p>
        </p:txBody>
      </p:sp>
      <p:sp>
        <p:nvSpPr>
          <p:cNvPr id="4" name="TextBox 3"/>
          <p:cNvSpPr txBox="1"/>
          <p:nvPr/>
        </p:nvSpPr>
        <p:spPr>
          <a:xfrm>
            <a:off x="10161727" y="310896"/>
            <a:ext cx="1463040" cy="274320"/>
          </a:xfrm>
          <a:prstGeom prst="rect">
            <a:avLst/>
          </a:prstGeom>
          <a:noFill/>
        </p:spPr>
        <p:txBody>
          <a:bodyPr wrap="square" lIns="0" tIns="0" rIns="0" bIns="0">
            <a:spAutoFit/>
          </a:bodyPr>
          <a:lstStyle/>
          <a:p>
            <a:pPr algn="r">
              <a:lnSpc>
                <a:spcPct val="120000"/>
              </a:lnSpc>
              <a:spcAft>
                <a:spcPts val="0"/>
              </a:spcAft>
            </a:pPr>
            <a:r>
              <a:rPr sz="1050" b="0" i="0">
                <a:solidFill>
                  <a:srgbClr val="7A8696"/>
                </a:solidFill>
                <a:latin typeface="Segoe UI"/>
                <a:ea typeface="Segoe UI"/>
              </a:rPr>
              <a:t>10</a:t>
            </a:r>
          </a:p>
        </p:txBody>
      </p:sp>
      <p:sp>
        <p:nvSpPr>
          <p:cNvPr id="5" name="TextBox 4"/>
          <p:cNvSpPr txBox="1"/>
          <p:nvPr/>
        </p:nvSpPr>
        <p:spPr>
          <a:xfrm>
            <a:off x="566928" y="658368"/>
            <a:ext cx="11057839" cy="658368"/>
          </a:xfrm>
          <a:prstGeom prst="rect">
            <a:avLst/>
          </a:prstGeom>
          <a:noFill/>
        </p:spPr>
        <p:txBody>
          <a:bodyPr wrap="square" lIns="0" tIns="0" rIns="0" bIns="0">
            <a:spAutoFit/>
          </a:bodyPr>
          <a:lstStyle/>
          <a:p>
            <a:pPr algn="l">
              <a:lnSpc>
                <a:spcPct val="120000"/>
              </a:lnSpc>
              <a:spcAft>
                <a:spcPts val="0"/>
              </a:spcAft>
            </a:pPr>
            <a:r>
              <a:rPr sz="2700" b="1" i="0">
                <a:solidFill>
                  <a:srgbClr val="1B2533"/>
                </a:solidFill>
                <a:latin typeface="Segoe UI"/>
                <a:ea typeface="Segoe UI"/>
              </a:rPr>
              <a:t>MTEB: one benchmark for every embedding model</a:t>
            </a:r>
          </a:p>
        </p:txBody>
      </p:sp>
      <p:sp>
        <p:nvSpPr>
          <p:cNvPr id="6" name="Rectangle 5"/>
          <p:cNvSpPr/>
          <p:nvPr/>
        </p:nvSpPr>
        <p:spPr>
          <a:xfrm>
            <a:off x="566928" y="1371600"/>
            <a:ext cx="1051560" cy="50292"/>
          </a:xfrm>
          <a:prstGeom prst="rect">
            <a:avLst/>
          </a:prstGeom>
          <a:solidFill>
            <a:srgbClr val="1F5CA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 name="TextBox 6"/>
          <p:cNvSpPr txBox="1"/>
          <p:nvPr/>
        </p:nvSpPr>
        <p:spPr>
          <a:xfrm>
            <a:off x="566928" y="1517904"/>
            <a:ext cx="11057839" cy="329184"/>
          </a:xfrm>
          <a:prstGeom prst="rect">
            <a:avLst/>
          </a:prstGeom>
          <a:noFill/>
        </p:spPr>
        <p:txBody>
          <a:bodyPr wrap="square" lIns="0" tIns="0" rIns="0" bIns="0">
            <a:spAutoFit/>
          </a:bodyPr>
          <a:lstStyle/>
          <a:p>
            <a:pPr algn="l">
              <a:lnSpc>
                <a:spcPct val="120000"/>
              </a:lnSpc>
              <a:spcAft>
                <a:spcPts val="0"/>
              </a:spcAft>
            </a:pPr>
            <a:r>
              <a:rPr sz="1300" b="0" i="0">
                <a:solidFill>
                  <a:srgbClr val="7A8696"/>
                </a:solidFill>
                <a:latin typeface="Segoe UI"/>
                <a:ea typeface="Segoe UI"/>
              </a:rPr>
              <a:t>Massive Text Embedding Benchmark — making models comparable</a:t>
            </a:r>
          </a:p>
        </p:txBody>
      </p:sp>
      <p:sp>
        <p:nvSpPr>
          <p:cNvPr id="8" name="Rounded Rectangle 7"/>
          <p:cNvSpPr/>
          <p:nvPr/>
        </p:nvSpPr>
        <p:spPr>
          <a:xfrm>
            <a:off x="566928" y="1938528"/>
            <a:ext cx="5760720" cy="4754880"/>
          </a:xfrm>
          <a:prstGeom prst="roundRect">
            <a:avLst>
              <a:gd name="adj" fmla="val 3000"/>
            </a:avLst>
          </a:prstGeom>
          <a:noFill/>
          <a:ln w="12700">
            <a:solidFill>
              <a:srgbClr val="D8DEE6"/>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TextBox 8"/>
          <p:cNvSpPr txBox="1"/>
          <p:nvPr/>
        </p:nvSpPr>
        <p:spPr>
          <a:xfrm>
            <a:off x="804672" y="2139696"/>
            <a:ext cx="5303520" cy="3566160"/>
          </a:xfrm>
          <a:prstGeom prst="rect">
            <a:avLst/>
          </a:prstGeom>
          <a:noFill/>
        </p:spPr>
        <p:txBody>
          <a:bodyPr wrap="square" lIns="0" tIns="0" rIns="0" bIns="0">
            <a:spAutoFit/>
          </a:bodyPr>
          <a:lstStyle/>
          <a:p>
            <a:pPr algn="l">
              <a:lnSpc>
                <a:spcPct val="120000"/>
              </a:lnSpc>
              <a:spcAft>
                <a:spcPts val="800"/>
              </a:spcAft>
            </a:pPr>
            <a:r>
              <a:rPr sz="1500" b="1" i="0">
                <a:solidFill>
                  <a:srgbClr val="1F5CA8"/>
                </a:solidFill>
                <a:latin typeface="Segoe UI"/>
                <a:ea typeface="Segoe UI"/>
              </a:rPr>
              <a:t>What it is</a:t>
            </a:r>
          </a:p>
          <a:p>
            <a:pPr algn="l">
              <a:lnSpc>
                <a:spcPct val="115000"/>
              </a:lnSpc>
              <a:spcAft>
                <a:spcPts val="700"/>
              </a:spcAft>
            </a:pPr>
            <a:r>
              <a:rPr sz="1300" b="0" i="0">
                <a:solidFill>
                  <a:srgbClr val="334050"/>
                </a:solidFill>
                <a:latin typeface="Segoe UI"/>
                <a:ea typeface="Segoe UI"/>
              </a:rPr>
              <a:t>▪  An open evaluation suite for text embeddings (MTEB paper, 2022)</a:t>
            </a:r>
          </a:p>
          <a:p>
            <a:pPr algn="l">
              <a:lnSpc>
                <a:spcPct val="115000"/>
              </a:lnSpc>
              <a:spcAft>
                <a:spcPts val="700"/>
              </a:spcAft>
            </a:pPr>
            <a:r>
              <a:rPr sz="1300" b="0" i="0">
                <a:solidFill>
                  <a:srgbClr val="334050"/>
                </a:solidFill>
                <a:latin typeface="Segoe UI"/>
                <a:ea typeface="Segoe UI"/>
              </a:rPr>
              <a:t>▪  Eight task types: Retrieval, Reranking, Clustering, Classification, Pair Classification, STS, Summarization, Bitext Mining</a:t>
            </a:r>
          </a:p>
          <a:p>
            <a:pPr algn="l">
              <a:lnSpc>
                <a:spcPct val="115000"/>
              </a:lnSpc>
              <a:spcAft>
                <a:spcPts val="700"/>
              </a:spcAft>
            </a:pPr>
            <a:r>
              <a:rPr sz="1300" b="0" i="0">
                <a:solidFill>
                  <a:srgbClr val="334050"/>
                </a:solidFill>
                <a:latin typeface="Segoe UI"/>
                <a:ea typeface="Segoe UI"/>
              </a:rPr>
              <a:t>▪  Started at ~56 datasets across 112 languages; has since grown to well over a hundred datasets</a:t>
            </a:r>
          </a:p>
          <a:p>
            <a:pPr algn="l">
              <a:lnSpc>
                <a:spcPct val="115000"/>
              </a:lnSpc>
              <a:spcAft>
                <a:spcPts val="700"/>
              </a:spcAft>
            </a:pPr>
            <a:r>
              <a:rPr sz="1300" b="0" i="0">
                <a:solidFill>
                  <a:srgbClr val="334050"/>
                </a:solidFill>
                <a:latin typeface="Segoe UI"/>
                <a:ea typeface="Segoe UI"/>
              </a:rPr>
              <a:t>▪  Comes with C-MTEB (Chinese) and MMTEB (multilingual), plus a public leaderboard</a:t>
            </a:r>
          </a:p>
        </p:txBody>
      </p:sp>
      <p:sp>
        <p:nvSpPr>
          <p:cNvPr id="10" name="Rounded Rectangle 9"/>
          <p:cNvSpPr/>
          <p:nvPr/>
        </p:nvSpPr>
        <p:spPr>
          <a:xfrm>
            <a:off x="6693408" y="1938528"/>
            <a:ext cx="4931359" cy="4754880"/>
          </a:xfrm>
          <a:prstGeom prst="roundRect">
            <a:avLst>
              <a:gd name="adj" fmla="val 3000"/>
            </a:avLst>
          </a:prstGeom>
          <a:solidFill>
            <a:srgbClr val="F7F9FC"/>
          </a:solidFill>
          <a:ln w="12700">
            <a:solidFill>
              <a:srgbClr val="BBC7D6"/>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 name="TextBox 10"/>
          <p:cNvSpPr txBox="1"/>
          <p:nvPr/>
        </p:nvSpPr>
        <p:spPr>
          <a:xfrm>
            <a:off x="6894576" y="2103120"/>
            <a:ext cx="4529023" cy="4425696"/>
          </a:xfrm>
          <a:prstGeom prst="rect">
            <a:avLst/>
          </a:prstGeom>
          <a:noFill/>
        </p:spPr>
        <p:txBody>
          <a:bodyPr wrap="square" lIns="0" tIns="0" rIns="0" bIns="0">
            <a:spAutoFit/>
          </a:bodyPr>
          <a:lstStyle/>
          <a:p>
            <a:pPr algn="l">
              <a:lnSpc>
                <a:spcPct val="120000"/>
              </a:lnSpc>
              <a:spcAft>
                <a:spcPts val="400"/>
              </a:spcAft>
            </a:pPr>
            <a:r>
              <a:rPr sz="1300" b="1" i="0">
                <a:solidFill>
                  <a:srgbClr val="1F5CA8"/>
                </a:solidFill>
                <a:latin typeface="Segoe UI"/>
                <a:ea typeface="Segoe UI"/>
              </a:rPr>
              <a:t>Placeholder: task taxonomy + leaderboard snapshot</a:t>
            </a:r>
          </a:p>
          <a:p>
            <a:pPr algn="l">
              <a:lnSpc>
                <a:spcPct val="120000"/>
              </a:lnSpc>
              <a:spcAft>
                <a:spcPts val="0"/>
              </a:spcAft>
            </a:pPr>
            <a:r>
              <a:rPr sz="1150" b="0" i="0">
                <a:solidFill>
                  <a:srgbClr val="7A8696"/>
                </a:solidFill>
                <a:latin typeface="Segoe UI"/>
                <a:ea typeface="Segoe UI"/>
              </a:rPr>
              <a:t>Suggested: the 8 task types, plus the current top entries on the Multilingual and Chinese leaderboards</a:t>
            </a:r>
          </a:p>
          <a:p>
            <a:pPr algn="l">
              <a:lnSpc>
                <a:spcPct val="120000"/>
              </a:lnSpc>
              <a:spcAft>
                <a:spcPts val="200"/>
              </a:spcAft>
            </a:pPr>
            <a:r>
              <a:rPr sz="1150" b="0" i="0">
                <a:solidFill>
                  <a:srgbClr val="BBC7D6"/>
                </a:solidFill>
                <a:latin typeface="Segoe UI"/>
                <a:ea typeface="Segoe UI"/>
              </a:rPr>
              <a:t>· </a:t>
            </a:r>
          </a:p>
          <a:p>
            <a:pPr algn="l">
              <a:lnSpc>
                <a:spcPct val="120000"/>
              </a:lnSpc>
              <a:spcAft>
                <a:spcPts val="200"/>
              </a:spcAft>
            </a:pPr>
            <a:r>
              <a:rPr sz="1150" b="0" i="0">
                <a:solidFill>
                  <a:srgbClr val="BBC7D6"/>
                </a:solidFill>
                <a:latin typeface="Segoe UI"/>
                <a:ea typeface="Segoe UI"/>
              </a:rPr>
              <a:t>· </a:t>
            </a:r>
          </a:p>
          <a:p>
            <a:pPr algn="l">
              <a:lnSpc>
                <a:spcPct val="120000"/>
              </a:lnSpc>
              <a:spcAft>
                <a:spcPts val="200"/>
              </a:spcAft>
            </a:pPr>
            <a:r>
              <a:rPr sz="1150" b="0" i="0">
                <a:solidFill>
                  <a:srgbClr val="BBC7D6"/>
                </a:solidFill>
                <a:latin typeface="Segoe UI"/>
                <a:ea typeface="Segoe UI"/>
              </a:rPr>
              <a:t>· </a:t>
            </a:r>
          </a:p>
          <a:p>
            <a:pPr algn="l">
              <a:lnSpc>
                <a:spcPct val="120000"/>
              </a:lnSpc>
              <a:spcAft>
                <a:spcPts val="200"/>
              </a:spcAft>
            </a:pPr>
            <a:r>
              <a:rPr sz="1150" b="0" i="0">
                <a:solidFill>
                  <a:srgbClr val="BBC7D6"/>
                </a:solidFill>
                <a:latin typeface="Segoe UI"/>
                <a:ea typeface="Segoe UI"/>
              </a:rPr>
              <a:t>· </a:t>
            </a:r>
          </a:p>
          <a:p>
            <a:pPr algn="l">
              <a:lnSpc>
                <a:spcPct val="120000"/>
              </a:lnSpc>
              <a:spcAft>
                <a:spcPts val="200"/>
              </a:spcAft>
            </a:pPr>
            <a:r>
              <a:rPr sz="1150" b="0" i="0">
                <a:solidFill>
                  <a:srgbClr val="BBC7D6"/>
                </a:solidFill>
                <a:latin typeface="Segoe UI"/>
                <a:ea typeface="Segoe UI"/>
              </a:rPr>
              <a:t>· </a:t>
            </a:r>
          </a:p>
          <a:p>
            <a:pPr algn="l">
              <a:lnSpc>
                <a:spcPct val="120000"/>
              </a:lnSpc>
              <a:spcAft>
                <a:spcPts val="200"/>
              </a:spcAft>
            </a:pPr>
            <a:r>
              <a:rPr sz="1150" b="0" i="0">
                <a:solidFill>
                  <a:srgbClr val="BBC7D6"/>
                </a:solidFill>
                <a:latin typeface="Segoe UI"/>
                <a:ea typeface="Segoe UI"/>
              </a:rPr>
              <a:t>· </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7724"/>
          </a:xfrm>
          <a:prstGeom prst="rect">
            <a:avLst/>
          </a:prstGeom>
          <a:solidFill>
            <a:srgbClr val="1F5CA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TextBox 2"/>
          <p:cNvSpPr txBox="1"/>
          <p:nvPr/>
        </p:nvSpPr>
        <p:spPr>
          <a:xfrm>
            <a:off x="566928" y="310896"/>
            <a:ext cx="8595360" cy="274320"/>
          </a:xfrm>
          <a:prstGeom prst="rect">
            <a:avLst/>
          </a:prstGeom>
          <a:noFill/>
        </p:spPr>
        <p:txBody>
          <a:bodyPr wrap="square" lIns="0" tIns="0" rIns="0" bIns="0">
            <a:spAutoFit/>
          </a:bodyPr>
          <a:lstStyle/>
          <a:p>
            <a:pPr algn="l">
              <a:lnSpc>
                <a:spcPct val="120000"/>
              </a:lnSpc>
              <a:spcAft>
                <a:spcPts val="0"/>
              </a:spcAft>
            </a:pPr>
            <a:r>
              <a:rPr sz="1050" b="1" i="0">
                <a:solidFill>
                  <a:srgbClr val="1F5CA8"/>
                </a:solidFill>
                <a:latin typeface="Segoe UI"/>
                <a:ea typeface="Segoe UI"/>
              </a:rPr>
              <a:t>PART 1 · EMBEDDING MODEL: BGE</a:t>
            </a:r>
          </a:p>
        </p:txBody>
      </p:sp>
      <p:sp>
        <p:nvSpPr>
          <p:cNvPr id="4" name="TextBox 3"/>
          <p:cNvSpPr txBox="1"/>
          <p:nvPr/>
        </p:nvSpPr>
        <p:spPr>
          <a:xfrm>
            <a:off x="10161727" y="310896"/>
            <a:ext cx="1463040" cy="274320"/>
          </a:xfrm>
          <a:prstGeom prst="rect">
            <a:avLst/>
          </a:prstGeom>
          <a:noFill/>
        </p:spPr>
        <p:txBody>
          <a:bodyPr wrap="square" lIns="0" tIns="0" rIns="0" bIns="0">
            <a:spAutoFit/>
          </a:bodyPr>
          <a:lstStyle/>
          <a:p>
            <a:pPr algn="r">
              <a:lnSpc>
                <a:spcPct val="120000"/>
              </a:lnSpc>
              <a:spcAft>
                <a:spcPts val="0"/>
              </a:spcAft>
            </a:pPr>
            <a:r>
              <a:rPr sz="1050" b="0" i="0">
                <a:solidFill>
                  <a:srgbClr val="7A8696"/>
                </a:solidFill>
                <a:latin typeface="Segoe UI"/>
                <a:ea typeface="Segoe UI"/>
              </a:rPr>
              <a:t>11</a:t>
            </a:r>
          </a:p>
        </p:txBody>
      </p:sp>
      <p:sp>
        <p:nvSpPr>
          <p:cNvPr id="5" name="TextBox 4"/>
          <p:cNvSpPr txBox="1"/>
          <p:nvPr/>
        </p:nvSpPr>
        <p:spPr>
          <a:xfrm>
            <a:off x="566928" y="658368"/>
            <a:ext cx="11057839" cy="658368"/>
          </a:xfrm>
          <a:prstGeom prst="rect">
            <a:avLst/>
          </a:prstGeom>
          <a:noFill/>
        </p:spPr>
        <p:txBody>
          <a:bodyPr wrap="square" lIns="0" tIns="0" rIns="0" bIns="0">
            <a:spAutoFit/>
          </a:bodyPr>
          <a:lstStyle/>
          <a:p>
            <a:pPr algn="l">
              <a:lnSpc>
                <a:spcPct val="120000"/>
              </a:lnSpc>
              <a:spcAft>
                <a:spcPts val="0"/>
              </a:spcAft>
            </a:pPr>
            <a:r>
              <a:rPr sz="2700" b="1" i="0">
                <a:solidFill>
                  <a:srgbClr val="1B2533"/>
                </a:solidFill>
                <a:latin typeface="Segoe UI"/>
                <a:ea typeface="Segoe UI"/>
              </a:rPr>
              <a:t>BGE: the strong option for Chinese</a:t>
            </a:r>
          </a:p>
        </p:txBody>
      </p:sp>
      <p:sp>
        <p:nvSpPr>
          <p:cNvPr id="6" name="Rectangle 5"/>
          <p:cNvSpPr/>
          <p:nvPr/>
        </p:nvSpPr>
        <p:spPr>
          <a:xfrm>
            <a:off x="566928" y="1371600"/>
            <a:ext cx="1051560" cy="50292"/>
          </a:xfrm>
          <a:prstGeom prst="rect">
            <a:avLst/>
          </a:prstGeom>
          <a:solidFill>
            <a:srgbClr val="1F5CA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 name="TextBox 6"/>
          <p:cNvSpPr txBox="1"/>
          <p:nvPr/>
        </p:nvSpPr>
        <p:spPr>
          <a:xfrm>
            <a:off x="566928" y="1517904"/>
            <a:ext cx="11057839" cy="329184"/>
          </a:xfrm>
          <a:prstGeom prst="rect">
            <a:avLst/>
          </a:prstGeom>
          <a:noFill/>
        </p:spPr>
        <p:txBody>
          <a:bodyPr wrap="square" lIns="0" tIns="0" rIns="0" bIns="0">
            <a:spAutoFit/>
          </a:bodyPr>
          <a:lstStyle/>
          <a:p>
            <a:pPr algn="l">
              <a:lnSpc>
                <a:spcPct val="120000"/>
              </a:lnSpc>
              <a:spcAft>
                <a:spcPts val="0"/>
              </a:spcAft>
            </a:pPr>
            <a:r>
              <a:rPr sz="1300" b="0" i="0">
                <a:solidFill>
                  <a:srgbClr val="7A8696"/>
                </a:solidFill>
                <a:latin typeface="Segoe UI"/>
                <a:ea typeface="Segoe UI"/>
              </a:rPr>
              <a:t>BAAI General Embedding — starting from C-MTEB</a:t>
            </a:r>
          </a:p>
        </p:txBody>
      </p:sp>
      <p:sp>
        <p:nvSpPr>
          <p:cNvPr id="8" name="Rounded Rectangle 7"/>
          <p:cNvSpPr/>
          <p:nvPr/>
        </p:nvSpPr>
        <p:spPr>
          <a:xfrm>
            <a:off x="566928" y="1938528"/>
            <a:ext cx="5760720" cy="4754880"/>
          </a:xfrm>
          <a:prstGeom prst="roundRect">
            <a:avLst>
              <a:gd name="adj" fmla="val 3000"/>
            </a:avLst>
          </a:prstGeom>
          <a:noFill/>
          <a:ln w="12700">
            <a:solidFill>
              <a:srgbClr val="D8DEE6"/>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TextBox 8"/>
          <p:cNvSpPr txBox="1"/>
          <p:nvPr/>
        </p:nvSpPr>
        <p:spPr>
          <a:xfrm>
            <a:off x="804672" y="2139696"/>
            <a:ext cx="5303520" cy="3566160"/>
          </a:xfrm>
          <a:prstGeom prst="rect">
            <a:avLst/>
          </a:prstGeom>
          <a:noFill/>
        </p:spPr>
        <p:txBody>
          <a:bodyPr wrap="square" lIns="0" tIns="0" rIns="0" bIns="0">
            <a:spAutoFit/>
          </a:bodyPr>
          <a:lstStyle/>
          <a:p>
            <a:pPr algn="l">
              <a:lnSpc>
                <a:spcPct val="120000"/>
              </a:lnSpc>
              <a:spcAft>
                <a:spcPts val="800"/>
              </a:spcAft>
            </a:pPr>
            <a:r>
              <a:rPr sz="1500" b="1" i="0">
                <a:solidFill>
                  <a:srgbClr val="1F5CA8"/>
                </a:solidFill>
                <a:latin typeface="Segoe UI"/>
                <a:ea typeface="Segoe UI"/>
              </a:rPr>
              <a:t>C-MTEB (Chinese MTEB)</a:t>
            </a:r>
          </a:p>
          <a:p>
            <a:pPr algn="l">
              <a:lnSpc>
                <a:spcPct val="115000"/>
              </a:lnSpc>
              <a:spcAft>
                <a:spcPts val="700"/>
              </a:spcAft>
            </a:pPr>
            <a:r>
              <a:rPr sz="1300" b="0" i="0">
                <a:solidFill>
                  <a:srgbClr val="334050"/>
                </a:solidFill>
                <a:latin typeface="Segoe UI"/>
                <a:ea typeface="Segoe UI"/>
              </a:rPr>
              <a:t>▪  Chinese evaluation suite built by the BGE team: 6 task types, ~35 datasets covering retrieval, reranking, clustering, classification, STS, pair classification</a:t>
            </a:r>
          </a:p>
          <a:p>
            <a:pPr algn="l">
              <a:lnSpc>
                <a:spcPct val="115000"/>
              </a:lnSpc>
              <a:spcAft>
                <a:spcPts val="700"/>
              </a:spcAft>
            </a:pPr>
            <a:r>
              <a:rPr sz="1300" b="0" i="0">
                <a:solidFill>
                  <a:srgbClr val="334050"/>
                </a:solidFill>
                <a:latin typeface="Segoe UI"/>
                <a:ea typeface="Segoe UI"/>
              </a:rPr>
              <a:t>▪  Datasets are re-split and standardized so Chinese models are finally comparable</a:t>
            </a:r>
          </a:p>
          <a:p>
            <a:pPr algn="l">
              <a:lnSpc>
                <a:spcPct val="115000"/>
              </a:lnSpc>
              <a:spcAft>
                <a:spcPts val="700"/>
              </a:spcAft>
            </a:pPr>
            <a:r>
              <a:rPr sz="1300" b="0" i="0">
                <a:solidFill>
                  <a:srgbClr val="334050"/>
                </a:solidFill>
                <a:latin typeface="Segoe UI"/>
                <a:ea typeface="Segoe UI"/>
              </a:rPr>
              <a:t>▪  The BGE family spans English (bge-large-en), Chinese (bge-large-zh), multilingual (bge-m3), plus small/base sizes</a:t>
            </a:r>
          </a:p>
          <a:p>
            <a:pPr algn="l">
              <a:lnSpc>
                <a:spcPct val="120000"/>
              </a:lnSpc>
              <a:spcAft>
                <a:spcPts val="600"/>
              </a:spcAft>
            </a:pPr>
            <a:r>
              <a:rPr sz="1400" b="1" i="0">
                <a:solidFill>
                  <a:srgbClr val="1F5CA8"/>
                </a:solidFill>
                <a:latin typeface="Segoe UI"/>
                <a:ea typeface="Segoe UI"/>
              </a:rPr>
              <a:t>Why Chinese needs its own board</a:t>
            </a:r>
          </a:p>
          <a:p>
            <a:pPr algn="l">
              <a:lnSpc>
                <a:spcPct val="115000"/>
              </a:lnSpc>
              <a:spcAft>
                <a:spcPts val="700"/>
              </a:spcAft>
            </a:pPr>
            <a:r>
              <a:rPr sz="1300" b="0" i="0">
                <a:solidFill>
                  <a:srgbClr val="334050"/>
                </a:solidFill>
                <a:latin typeface="Segoe UI"/>
                <a:ea typeface="Segoe UI"/>
              </a:rPr>
              <a:t>▪  Tokenization and semantic distribution differ; a top English model can drop noticeably on Chinese</a:t>
            </a:r>
          </a:p>
          <a:p>
            <a:pPr algn="l">
              <a:lnSpc>
                <a:spcPct val="115000"/>
              </a:lnSpc>
              <a:spcAft>
                <a:spcPts val="700"/>
              </a:spcAft>
            </a:pPr>
            <a:r>
              <a:rPr sz="1300" b="0" i="0">
                <a:solidFill>
                  <a:srgbClr val="334050"/>
                </a:solidFill>
                <a:latin typeface="Segoe UI"/>
                <a:ea typeface="Segoe UI"/>
              </a:rPr>
              <a:t>▪  Chinese retrieval often means short queries against long documents with many proper nouns — the eval set should reflect that</a:t>
            </a:r>
          </a:p>
        </p:txBody>
      </p:sp>
      <p:sp>
        <p:nvSpPr>
          <p:cNvPr id="10" name="Rounded Rectangle 9"/>
          <p:cNvSpPr/>
          <p:nvPr/>
        </p:nvSpPr>
        <p:spPr>
          <a:xfrm>
            <a:off x="6693408" y="1938528"/>
            <a:ext cx="4931359" cy="4754880"/>
          </a:xfrm>
          <a:prstGeom prst="roundRect">
            <a:avLst>
              <a:gd name="adj" fmla="val 3000"/>
            </a:avLst>
          </a:prstGeom>
          <a:solidFill>
            <a:srgbClr val="F7F9FC"/>
          </a:solidFill>
          <a:ln w="12700">
            <a:solidFill>
              <a:srgbClr val="BBC7D6"/>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 name="TextBox 10"/>
          <p:cNvSpPr txBox="1"/>
          <p:nvPr/>
        </p:nvSpPr>
        <p:spPr>
          <a:xfrm>
            <a:off x="6894576" y="2103120"/>
            <a:ext cx="4529023" cy="4425696"/>
          </a:xfrm>
          <a:prstGeom prst="rect">
            <a:avLst/>
          </a:prstGeom>
          <a:noFill/>
        </p:spPr>
        <p:txBody>
          <a:bodyPr wrap="square" lIns="0" tIns="0" rIns="0" bIns="0">
            <a:spAutoFit/>
          </a:bodyPr>
          <a:lstStyle/>
          <a:p>
            <a:pPr algn="l">
              <a:lnSpc>
                <a:spcPct val="120000"/>
              </a:lnSpc>
              <a:spcAft>
                <a:spcPts val="400"/>
              </a:spcAft>
            </a:pPr>
            <a:r>
              <a:rPr sz="1300" b="1" i="0">
                <a:solidFill>
                  <a:srgbClr val="1F5CA8"/>
                </a:solidFill>
                <a:latin typeface="Segoe UI"/>
                <a:ea typeface="Segoe UI"/>
              </a:rPr>
              <a:t>Placeholder: C-MTEB scores / model spec table</a:t>
            </a:r>
          </a:p>
          <a:p>
            <a:pPr algn="l">
              <a:lnSpc>
                <a:spcPct val="120000"/>
              </a:lnSpc>
              <a:spcAft>
                <a:spcPts val="0"/>
              </a:spcAft>
            </a:pPr>
            <a:r>
              <a:rPr sz="1150" b="0" i="0">
                <a:solidFill>
                  <a:srgbClr val="7A8696"/>
                </a:solidFill>
                <a:latin typeface="Segoe UI"/>
                <a:ea typeface="Segoe UI"/>
              </a:rPr>
              <a:t>Suggested: bge-large-zh-v1.5 average and per-task C-MTEB scores, plus bge-m3's dense / sparse / ColBERT outputs</a:t>
            </a:r>
          </a:p>
          <a:p>
            <a:pPr algn="l">
              <a:lnSpc>
                <a:spcPct val="120000"/>
              </a:lnSpc>
              <a:spcAft>
                <a:spcPts val="200"/>
              </a:spcAft>
            </a:pPr>
            <a:r>
              <a:rPr sz="1150" b="0" i="0">
                <a:solidFill>
                  <a:srgbClr val="BBC7D6"/>
                </a:solidFill>
                <a:latin typeface="Segoe UI"/>
                <a:ea typeface="Segoe UI"/>
              </a:rPr>
              <a:t>· </a:t>
            </a:r>
          </a:p>
          <a:p>
            <a:pPr algn="l">
              <a:lnSpc>
                <a:spcPct val="120000"/>
              </a:lnSpc>
              <a:spcAft>
                <a:spcPts val="200"/>
              </a:spcAft>
            </a:pPr>
            <a:r>
              <a:rPr sz="1150" b="0" i="0">
                <a:solidFill>
                  <a:srgbClr val="BBC7D6"/>
                </a:solidFill>
                <a:latin typeface="Segoe UI"/>
                <a:ea typeface="Segoe UI"/>
              </a:rPr>
              <a:t>· </a:t>
            </a:r>
          </a:p>
          <a:p>
            <a:pPr algn="l">
              <a:lnSpc>
                <a:spcPct val="120000"/>
              </a:lnSpc>
              <a:spcAft>
                <a:spcPts val="200"/>
              </a:spcAft>
            </a:pPr>
            <a:r>
              <a:rPr sz="1150" b="0" i="0">
                <a:solidFill>
                  <a:srgbClr val="BBC7D6"/>
                </a:solidFill>
                <a:latin typeface="Segoe UI"/>
                <a:ea typeface="Segoe UI"/>
              </a:rPr>
              <a:t>· </a:t>
            </a:r>
          </a:p>
          <a:p>
            <a:pPr algn="l">
              <a:lnSpc>
                <a:spcPct val="120000"/>
              </a:lnSpc>
              <a:spcAft>
                <a:spcPts val="200"/>
              </a:spcAft>
            </a:pPr>
            <a:r>
              <a:rPr sz="1150" b="0" i="0">
                <a:solidFill>
                  <a:srgbClr val="BBC7D6"/>
                </a:solidFill>
                <a:latin typeface="Segoe UI"/>
                <a:ea typeface="Segoe UI"/>
              </a:rPr>
              <a:t>· </a:t>
            </a:r>
          </a:p>
          <a:p>
            <a:pPr algn="l">
              <a:lnSpc>
                <a:spcPct val="120000"/>
              </a:lnSpc>
              <a:spcAft>
                <a:spcPts val="200"/>
              </a:spcAft>
            </a:pPr>
            <a:r>
              <a:rPr sz="1150" b="0" i="0">
                <a:solidFill>
                  <a:srgbClr val="BBC7D6"/>
                </a:solidFill>
                <a:latin typeface="Segoe UI"/>
                <a:ea typeface="Segoe UI"/>
              </a:rPr>
              <a:t>· </a:t>
            </a:r>
          </a:p>
          <a:p>
            <a:pPr algn="l">
              <a:lnSpc>
                <a:spcPct val="120000"/>
              </a:lnSpc>
              <a:spcAft>
                <a:spcPts val="200"/>
              </a:spcAft>
            </a:pPr>
            <a:r>
              <a:rPr sz="1150" b="0" i="0">
                <a:solidFill>
                  <a:srgbClr val="BBC7D6"/>
                </a:solidFill>
                <a:latin typeface="Segoe UI"/>
                <a:ea typeface="Segoe UI"/>
              </a:rPr>
              <a:t>· </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7724"/>
          </a:xfrm>
          <a:prstGeom prst="rect">
            <a:avLst/>
          </a:prstGeom>
          <a:solidFill>
            <a:srgbClr val="1F5CA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TextBox 2"/>
          <p:cNvSpPr txBox="1"/>
          <p:nvPr/>
        </p:nvSpPr>
        <p:spPr>
          <a:xfrm>
            <a:off x="566928" y="310896"/>
            <a:ext cx="8595360" cy="274320"/>
          </a:xfrm>
          <a:prstGeom prst="rect">
            <a:avLst/>
          </a:prstGeom>
          <a:noFill/>
        </p:spPr>
        <p:txBody>
          <a:bodyPr wrap="square" lIns="0" tIns="0" rIns="0" bIns="0">
            <a:spAutoFit/>
          </a:bodyPr>
          <a:lstStyle/>
          <a:p>
            <a:pPr algn="l">
              <a:lnSpc>
                <a:spcPct val="120000"/>
              </a:lnSpc>
              <a:spcAft>
                <a:spcPts val="0"/>
              </a:spcAft>
            </a:pPr>
            <a:r>
              <a:rPr sz="1050" b="1" i="0">
                <a:solidFill>
                  <a:srgbClr val="1F5CA8"/>
                </a:solidFill>
                <a:latin typeface="Segoe UI"/>
                <a:ea typeface="Segoe UI"/>
              </a:rPr>
              <a:t>PART 1 · EMBEDDING MODEL: BGE</a:t>
            </a:r>
          </a:p>
        </p:txBody>
      </p:sp>
      <p:sp>
        <p:nvSpPr>
          <p:cNvPr id="4" name="TextBox 3"/>
          <p:cNvSpPr txBox="1"/>
          <p:nvPr/>
        </p:nvSpPr>
        <p:spPr>
          <a:xfrm>
            <a:off x="10161727" y="310896"/>
            <a:ext cx="1463040" cy="274320"/>
          </a:xfrm>
          <a:prstGeom prst="rect">
            <a:avLst/>
          </a:prstGeom>
          <a:noFill/>
        </p:spPr>
        <p:txBody>
          <a:bodyPr wrap="square" lIns="0" tIns="0" rIns="0" bIns="0">
            <a:spAutoFit/>
          </a:bodyPr>
          <a:lstStyle/>
          <a:p>
            <a:pPr algn="r">
              <a:lnSpc>
                <a:spcPct val="120000"/>
              </a:lnSpc>
              <a:spcAft>
                <a:spcPts val="0"/>
              </a:spcAft>
            </a:pPr>
            <a:r>
              <a:rPr sz="1050" b="0" i="0">
                <a:solidFill>
                  <a:srgbClr val="7A8696"/>
                </a:solidFill>
                <a:latin typeface="Segoe UI"/>
                <a:ea typeface="Segoe UI"/>
              </a:rPr>
              <a:t>12</a:t>
            </a:r>
          </a:p>
        </p:txBody>
      </p:sp>
      <p:sp>
        <p:nvSpPr>
          <p:cNvPr id="5" name="TextBox 4"/>
          <p:cNvSpPr txBox="1"/>
          <p:nvPr/>
        </p:nvSpPr>
        <p:spPr>
          <a:xfrm>
            <a:off x="566928" y="658368"/>
            <a:ext cx="11057839" cy="658368"/>
          </a:xfrm>
          <a:prstGeom prst="rect">
            <a:avLst/>
          </a:prstGeom>
          <a:noFill/>
        </p:spPr>
        <p:txBody>
          <a:bodyPr wrap="square" lIns="0" tIns="0" rIns="0" bIns="0">
            <a:spAutoFit/>
          </a:bodyPr>
          <a:lstStyle/>
          <a:p>
            <a:pPr algn="l">
              <a:lnSpc>
                <a:spcPct val="120000"/>
              </a:lnSpc>
              <a:spcAft>
                <a:spcPts val="0"/>
              </a:spcAft>
            </a:pPr>
            <a:r>
              <a:rPr sz="2700" b="1" i="0">
                <a:solidFill>
                  <a:srgbClr val="1B2533"/>
                </a:solidFill>
                <a:latin typeface="Segoe UI"/>
                <a:ea typeface="Segoe UI"/>
              </a:rPr>
              <a:t>Three-stage training (1/3): RetroMAE pretraining</a:t>
            </a:r>
          </a:p>
        </p:txBody>
      </p:sp>
      <p:sp>
        <p:nvSpPr>
          <p:cNvPr id="6" name="Rectangle 5"/>
          <p:cNvSpPr/>
          <p:nvPr/>
        </p:nvSpPr>
        <p:spPr>
          <a:xfrm>
            <a:off x="566928" y="1371600"/>
            <a:ext cx="1051560" cy="50292"/>
          </a:xfrm>
          <a:prstGeom prst="rect">
            <a:avLst/>
          </a:prstGeom>
          <a:solidFill>
            <a:srgbClr val="1F5CA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 name="TextBox 6"/>
          <p:cNvSpPr txBox="1"/>
          <p:nvPr/>
        </p:nvSpPr>
        <p:spPr>
          <a:xfrm>
            <a:off x="566928" y="1517904"/>
            <a:ext cx="11057839" cy="329184"/>
          </a:xfrm>
          <a:prstGeom prst="rect">
            <a:avLst/>
          </a:prstGeom>
          <a:noFill/>
        </p:spPr>
        <p:txBody>
          <a:bodyPr wrap="square" lIns="0" tIns="0" rIns="0" bIns="0">
            <a:spAutoFit/>
          </a:bodyPr>
          <a:lstStyle/>
          <a:p>
            <a:pPr algn="l">
              <a:lnSpc>
                <a:spcPct val="120000"/>
              </a:lnSpc>
              <a:spcAft>
                <a:spcPts val="0"/>
              </a:spcAft>
            </a:pPr>
            <a:r>
              <a:rPr sz="1300" b="0" i="0">
                <a:solidFill>
                  <a:srgbClr val="7A8696"/>
                </a:solidFill>
                <a:latin typeface="Segoe UI"/>
                <a:ea typeface="Segoe UI"/>
              </a:rPr>
              <a:t>Stage 1 — build a strong language and semantics foundation first</a:t>
            </a:r>
          </a:p>
        </p:txBody>
      </p:sp>
      <p:sp>
        <p:nvSpPr>
          <p:cNvPr id="8" name="Rounded Rectangle 7"/>
          <p:cNvSpPr/>
          <p:nvPr/>
        </p:nvSpPr>
        <p:spPr>
          <a:xfrm>
            <a:off x="566928" y="1938528"/>
            <a:ext cx="5852160" cy="4754880"/>
          </a:xfrm>
          <a:prstGeom prst="roundRect">
            <a:avLst>
              <a:gd name="adj" fmla="val 3000"/>
            </a:avLst>
          </a:prstGeom>
          <a:noFill/>
          <a:ln w="12700">
            <a:solidFill>
              <a:srgbClr val="D8DEE6"/>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TextBox 8"/>
          <p:cNvSpPr txBox="1"/>
          <p:nvPr/>
        </p:nvSpPr>
        <p:spPr>
          <a:xfrm>
            <a:off x="804672" y="2103120"/>
            <a:ext cx="5394960" cy="4114800"/>
          </a:xfrm>
          <a:prstGeom prst="rect">
            <a:avLst/>
          </a:prstGeom>
          <a:noFill/>
        </p:spPr>
        <p:txBody>
          <a:bodyPr wrap="square" lIns="0" tIns="0" rIns="0" bIns="0">
            <a:spAutoFit/>
          </a:bodyPr>
          <a:lstStyle/>
          <a:p>
            <a:pPr algn="l">
              <a:lnSpc>
                <a:spcPct val="120000"/>
              </a:lnSpc>
              <a:spcAft>
                <a:spcPts val="800"/>
              </a:spcAft>
            </a:pPr>
            <a:r>
              <a:rPr sz="1500" b="1" i="0">
                <a:solidFill>
                  <a:srgbClr val="1F5CA8"/>
                </a:solidFill>
                <a:latin typeface="Segoe UI"/>
                <a:ea typeface="Segoe UI"/>
              </a:rPr>
              <a:t>What RetroMAE is</a:t>
            </a:r>
          </a:p>
          <a:p>
            <a:pPr algn="l">
              <a:lnSpc>
                <a:spcPct val="115000"/>
              </a:lnSpc>
              <a:spcAft>
                <a:spcPts val="700"/>
              </a:spcAft>
            </a:pPr>
            <a:r>
              <a:rPr sz="1300" b="0" i="0">
                <a:solidFill>
                  <a:srgbClr val="334050"/>
                </a:solidFill>
                <a:latin typeface="Segoe UI"/>
                <a:ea typeface="Segoe UI"/>
              </a:rPr>
              <a:t>▪  A masked-autoencoder pretraining method designed with retrieval in mind</a:t>
            </a:r>
          </a:p>
          <a:p>
            <a:pPr algn="l">
              <a:lnSpc>
                <a:spcPct val="115000"/>
              </a:lnSpc>
              <a:spcAft>
                <a:spcPts val="700"/>
              </a:spcAft>
            </a:pPr>
            <a:r>
              <a:rPr sz="1300" b="0" i="0">
                <a:solidFill>
                  <a:srgbClr val="334050"/>
                </a:solidFill>
                <a:latin typeface="Segoe UI"/>
                <a:ea typeface="Segoe UI"/>
              </a:rPr>
              <a:t>▪  Encoder side: heavily mask the input (e.g. 15-30%) and encode a sentence representation</a:t>
            </a:r>
          </a:p>
          <a:p>
            <a:pPr algn="l">
              <a:lnSpc>
                <a:spcPct val="115000"/>
              </a:lnSpc>
              <a:spcAft>
                <a:spcPts val="700"/>
              </a:spcAft>
            </a:pPr>
            <a:r>
              <a:rPr sz="1300" b="0" i="0">
                <a:solidFill>
                  <a:srgbClr val="334050"/>
                </a:solidFill>
                <a:latin typeface="Segoe UI"/>
                <a:ea typeface="Segoe UI"/>
              </a:rPr>
              <a:t>▪  Decoder side: a shallow, asymmetric decoder reconstructs the masked tokens from that single representation</a:t>
            </a:r>
          </a:p>
          <a:p>
            <a:pPr algn="l">
              <a:lnSpc>
                <a:spcPct val="115000"/>
              </a:lnSpc>
              <a:spcAft>
                <a:spcPts val="700"/>
              </a:spcAft>
            </a:pPr>
            <a:r>
              <a:rPr sz="1300" b="0" i="0">
                <a:solidFill>
                  <a:srgbClr val="334050"/>
                </a:solidFill>
                <a:latin typeface="Segoe UI"/>
                <a:ea typeface="Segoe UI"/>
              </a:rPr>
              <a:t>▪  Key point: the decoder exists only for pretraining and is discarded at inference — zero serving cost</a:t>
            </a:r>
          </a:p>
          <a:p>
            <a:pPr algn="l">
              <a:lnSpc>
                <a:spcPct val="120000"/>
              </a:lnSpc>
              <a:spcAft>
                <a:spcPts val="600"/>
              </a:spcAft>
            </a:pPr>
            <a:r>
              <a:rPr sz="1400" b="1" i="0">
                <a:solidFill>
                  <a:srgbClr val="1F5CA8"/>
                </a:solidFill>
                <a:latin typeface="Segoe UI"/>
                <a:ea typeface="Segoe UI"/>
              </a:rPr>
              <a:t>Why it works</a:t>
            </a:r>
          </a:p>
          <a:p>
            <a:pPr algn="l">
              <a:lnSpc>
                <a:spcPct val="115000"/>
              </a:lnSpc>
              <a:spcAft>
                <a:spcPts val="700"/>
              </a:spcAft>
            </a:pPr>
            <a:r>
              <a:rPr sz="1250" b="0" i="0">
                <a:solidFill>
                  <a:srgbClr val="334050"/>
                </a:solidFill>
                <a:latin typeface="Segoe UI"/>
                <a:ea typeface="Segoe UI"/>
              </a:rPr>
              <a:t>▪  Reconstruction forces the sentence vector to carry enough information to restore the whole input, so representations get richer</a:t>
            </a:r>
          </a:p>
          <a:p>
            <a:pPr algn="l">
              <a:lnSpc>
                <a:spcPct val="115000"/>
              </a:lnSpc>
              <a:spcAft>
                <a:spcPts val="700"/>
              </a:spcAft>
            </a:pPr>
            <a:r>
              <a:rPr sz="1250" b="0" i="0">
                <a:solidFill>
                  <a:srgbClr val="334050"/>
                </a:solidFill>
                <a:latin typeface="Segoe UI"/>
                <a:ea typeface="Segoe UI"/>
              </a:rPr>
              <a:t>▪  Compared with plain MLM it is closer to the real goal — one vector representing a whole passage — and gives contrastive training a better starting point</a:t>
            </a:r>
          </a:p>
        </p:txBody>
      </p:sp>
      <p:sp>
        <p:nvSpPr>
          <p:cNvPr id="10" name="Rounded Rectangle 9"/>
          <p:cNvSpPr/>
          <p:nvPr/>
        </p:nvSpPr>
        <p:spPr>
          <a:xfrm>
            <a:off x="6784848" y="1938528"/>
            <a:ext cx="4839919" cy="4754880"/>
          </a:xfrm>
          <a:prstGeom prst="roundRect">
            <a:avLst>
              <a:gd name="adj" fmla="val 3000"/>
            </a:avLst>
          </a:prstGeom>
          <a:solidFill>
            <a:srgbClr val="F7F9FC"/>
          </a:solidFill>
          <a:ln w="12700">
            <a:solidFill>
              <a:srgbClr val="BBC7D6"/>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 name="TextBox 10"/>
          <p:cNvSpPr txBox="1"/>
          <p:nvPr/>
        </p:nvSpPr>
        <p:spPr>
          <a:xfrm>
            <a:off x="6986016" y="2103120"/>
            <a:ext cx="4437583" cy="4425696"/>
          </a:xfrm>
          <a:prstGeom prst="rect">
            <a:avLst/>
          </a:prstGeom>
          <a:noFill/>
        </p:spPr>
        <p:txBody>
          <a:bodyPr wrap="square" lIns="0" tIns="0" rIns="0" bIns="0">
            <a:spAutoFit/>
          </a:bodyPr>
          <a:lstStyle/>
          <a:p>
            <a:pPr algn="l">
              <a:lnSpc>
                <a:spcPct val="120000"/>
              </a:lnSpc>
              <a:spcAft>
                <a:spcPts val="400"/>
              </a:spcAft>
            </a:pPr>
            <a:r>
              <a:rPr sz="1300" b="1" i="0">
                <a:solidFill>
                  <a:srgbClr val="1F5CA8"/>
                </a:solidFill>
                <a:latin typeface="Segoe UI"/>
                <a:ea typeface="Segoe UI"/>
              </a:rPr>
              <a:t>Placeholder: RetroMAE diagram</a:t>
            </a:r>
          </a:p>
          <a:p>
            <a:pPr algn="l">
              <a:lnSpc>
                <a:spcPct val="120000"/>
              </a:lnSpc>
              <a:spcAft>
                <a:spcPts val="0"/>
              </a:spcAft>
            </a:pPr>
            <a:r>
              <a:rPr sz="1150" b="0" i="0">
                <a:solidFill>
                  <a:srgbClr val="7A8696"/>
                </a:solidFill>
                <a:latin typeface="Segoe UI"/>
                <a:ea typeface="Segoe UI"/>
              </a:rPr>
              <a:t>Suggested: input → (heavy masking) → Encoder → sentence vector → asymmetric shallow decoder → reconstruct masked tokens; label the decoder as discarded at inference</a:t>
            </a:r>
          </a:p>
          <a:p>
            <a:pPr algn="l">
              <a:lnSpc>
                <a:spcPct val="120000"/>
              </a:lnSpc>
              <a:spcAft>
                <a:spcPts val="200"/>
              </a:spcAft>
            </a:pPr>
            <a:r>
              <a:rPr sz="1150" b="0" i="0">
                <a:solidFill>
                  <a:srgbClr val="BBC7D6"/>
                </a:solidFill>
                <a:latin typeface="Segoe UI"/>
                <a:ea typeface="Segoe UI"/>
              </a:rPr>
              <a:t>· </a:t>
            </a:r>
          </a:p>
          <a:p>
            <a:pPr algn="l">
              <a:lnSpc>
                <a:spcPct val="120000"/>
              </a:lnSpc>
              <a:spcAft>
                <a:spcPts val="200"/>
              </a:spcAft>
            </a:pPr>
            <a:r>
              <a:rPr sz="1150" b="0" i="0">
                <a:solidFill>
                  <a:srgbClr val="BBC7D6"/>
                </a:solidFill>
                <a:latin typeface="Segoe UI"/>
                <a:ea typeface="Segoe UI"/>
              </a:rPr>
              <a:t>· </a:t>
            </a:r>
          </a:p>
          <a:p>
            <a:pPr algn="l">
              <a:lnSpc>
                <a:spcPct val="120000"/>
              </a:lnSpc>
              <a:spcAft>
                <a:spcPts val="200"/>
              </a:spcAft>
            </a:pPr>
            <a:r>
              <a:rPr sz="1150" b="0" i="0">
                <a:solidFill>
                  <a:srgbClr val="BBC7D6"/>
                </a:solidFill>
                <a:latin typeface="Segoe UI"/>
                <a:ea typeface="Segoe UI"/>
              </a:rPr>
              <a:t>· </a:t>
            </a:r>
          </a:p>
          <a:p>
            <a:pPr algn="l">
              <a:lnSpc>
                <a:spcPct val="120000"/>
              </a:lnSpc>
              <a:spcAft>
                <a:spcPts val="200"/>
              </a:spcAft>
            </a:pPr>
            <a:r>
              <a:rPr sz="1150" b="0" i="0">
                <a:solidFill>
                  <a:srgbClr val="BBC7D6"/>
                </a:solidFill>
                <a:latin typeface="Segoe UI"/>
                <a:ea typeface="Segoe UI"/>
              </a:rPr>
              <a:t>· </a:t>
            </a:r>
          </a:p>
          <a:p>
            <a:pPr algn="l">
              <a:lnSpc>
                <a:spcPct val="120000"/>
              </a:lnSpc>
              <a:spcAft>
                <a:spcPts val="200"/>
              </a:spcAft>
            </a:pPr>
            <a:r>
              <a:rPr sz="1150" b="0" i="0">
                <a:solidFill>
                  <a:srgbClr val="BBC7D6"/>
                </a:solidFill>
                <a:latin typeface="Segoe UI"/>
                <a:ea typeface="Segoe UI"/>
              </a:rPr>
              <a:t>· </a:t>
            </a:r>
          </a:p>
          <a:p>
            <a:pPr algn="l">
              <a:lnSpc>
                <a:spcPct val="120000"/>
              </a:lnSpc>
              <a:spcAft>
                <a:spcPts val="200"/>
              </a:spcAft>
            </a:pPr>
            <a:r>
              <a:rPr sz="1150" b="0" i="0">
                <a:solidFill>
                  <a:srgbClr val="BBC7D6"/>
                </a:solidFill>
                <a:latin typeface="Segoe UI"/>
                <a:ea typeface="Segoe UI"/>
              </a:rPr>
              <a:t>· </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7724"/>
          </a:xfrm>
          <a:prstGeom prst="rect">
            <a:avLst/>
          </a:prstGeom>
          <a:solidFill>
            <a:srgbClr val="1F5CA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TextBox 2"/>
          <p:cNvSpPr txBox="1"/>
          <p:nvPr/>
        </p:nvSpPr>
        <p:spPr>
          <a:xfrm>
            <a:off x="566928" y="310896"/>
            <a:ext cx="8595360" cy="274320"/>
          </a:xfrm>
          <a:prstGeom prst="rect">
            <a:avLst/>
          </a:prstGeom>
          <a:noFill/>
        </p:spPr>
        <p:txBody>
          <a:bodyPr wrap="square" lIns="0" tIns="0" rIns="0" bIns="0">
            <a:spAutoFit/>
          </a:bodyPr>
          <a:lstStyle/>
          <a:p>
            <a:pPr algn="l">
              <a:lnSpc>
                <a:spcPct val="120000"/>
              </a:lnSpc>
              <a:spcAft>
                <a:spcPts val="0"/>
              </a:spcAft>
            </a:pPr>
            <a:r>
              <a:rPr sz="1050" b="1" i="0">
                <a:solidFill>
                  <a:srgbClr val="1F5CA8"/>
                </a:solidFill>
                <a:latin typeface="Segoe UI"/>
                <a:ea typeface="Segoe UI"/>
              </a:rPr>
              <a:t>PART 1 · EMBEDDING MODEL: BGE</a:t>
            </a:r>
          </a:p>
        </p:txBody>
      </p:sp>
      <p:sp>
        <p:nvSpPr>
          <p:cNvPr id="4" name="TextBox 3"/>
          <p:cNvSpPr txBox="1"/>
          <p:nvPr/>
        </p:nvSpPr>
        <p:spPr>
          <a:xfrm>
            <a:off x="10161727" y="310896"/>
            <a:ext cx="1463040" cy="274320"/>
          </a:xfrm>
          <a:prstGeom prst="rect">
            <a:avLst/>
          </a:prstGeom>
          <a:noFill/>
        </p:spPr>
        <p:txBody>
          <a:bodyPr wrap="square" lIns="0" tIns="0" rIns="0" bIns="0">
            <a:spAutoFit/>
          </a:bodyPr>
          <a:lstStyle/>
          <a:p>
            <a:pPr algn="r">
              <a:lnSpc>
                <a:spcPct val="120000"/>
              </a:lnSpc>
              <a:spcAft>
                <a:spcPts val="0"/>
              </a:spcAft>
            </a:pPr>
            <a:r>
              <a:rPr sz="1050" b="0" i="0">
                <a:solidFill>
                  <a:srgbClr val="7A8696"/>
                </a:solidFill>
                <a:latin typeface="Segoe UI"/>
                <a:ea typeface="Segoe UI"/>
              </a:rPr>
              <a:t>13</a:t>
            </a:r>
          </a:p>
        </p:txBody>
      </p:sp>
      <p:sp>
        <p:nvSpPr>
          <p:cNvPr id="5" name="TextBox 4"/>
          <p:cNvSpPr txBox="1"/>
          <p:nvPr/>
        </p:nvSpPr>
        <p:spPr>
          <a:xfrm>
            <a:off x="566928" y="658368"/>
            <a:ext cx="11057839" cy="658368"/>
          </a:xfrm>
          <a:prstGeom prst="rect">
            <a:avLst/>
          </a:prstGeom>
          <a:noFill/>
        </p:spPr>
        <p:txBody>
          <a:bodyPr wrap="square" lIns="0" tIns="0" rIns="0" bIns="0">
            <a:spAutoFit/>
          </a:bodyPr>
          <a:lstStyle/>
          <a:p>
            <a:pPr algn="l">
              <a:lnSpc>
                <a:spcPct val="120000"/>
              </a:lnSpc>
              <a:spcAft>
                <a:spcPts val="0"/>
              </a:spcAft>
            </a:pPr>
            <a:r>
              <a:rPr sz="2700" b="1" i="0">
                <a:solidFill>
                  <a:srgbClr val="1B2533"/>
                </a:solidFill>
                <a:latin typeface="Segoe UI"/>
                <a:ea typeface="Segoe UI"/>
              </a:rPr>
              <a:t>Three-stage training (2/3): contrastive learning</a:t>
            </a:r>
          </a:p>
        </p:txBody>
      </p:sp>
      <p:sp>
        <p:nvSpPr>
          <p:cNvPr id="6" name="Rectangle 5"/>
          <p:cNvSpPr/>
          <p:nvPr/>
        </p:nvSpPr>
        <p:spPr>
          <a:xfrm>
            <a:off x="566928" y="1371600"/>
            <a:ext cx="1051560" cy="50292"/>
          </a:xfrm>
          <a:prstGeom prst="rect">
            <a:avLst/>
          </a:prstGeom>
          <a:solidFill>
            <a:srgbClr val="1F5CA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 name="TextBox 6"/>
          <p:cNvSpPr txBox="1"/>
          <p:nvPr/>
        </p:nvSpPr>
        <p:spPr>
          <a:xfrm>
            <a:off x="566928" y="1517904"/>
            <a:ext cx="11057839" cy="329184"/>
          </a:xfrm>
          <a:prstGeom prst="rect">
            <a:avLst/>
          </a:prstGeom>
          <a:noFill/>
        </p:spPr>
        <p:txBody>
          <a:bodyPr wrap="square" lIns="0" tIns="0" rIns="0" bIns="0">
            <a:spAutoFit/>
          </a:bodyPr>
          <a:lstStyle/>
          <a:p>
            <a:pPr algn="l">
              <a:lnSpc>
                <a:spcPct val="120000"/>
              </a:lnSpc>
              <a:spcAft>
                <a:spcPts val="0"/>
              </a:spcAft>
            </a:pPr>
            <a:r>
              <a:rPr sz="1300" b="0" i="0">
                <a:solidFill>
                  <a:srgbClr val="7A8696"/>
                </a:solidFill>
                <a:latin typeface="Segoe UI"/>
                <a:ea typeface="Segoe UI"/>
              </a:rPr>
              <a:t>Stage 2 — align semantics with vector distance using large unlabeled pairs</a:t>
            </a:r>
          </a:p>
        </p:txBody>
      </p:sp>
      <p:sp>
        <p:nvSpPr>
          <p:cNvPr id="8" name="Rounded Rectangle 7"/>
          <p:cNvSpPr/>
          <p:nvPr/>
        </p:nvSpPr>
        <p:spPr>
          <a:xfrm>
            <a:off x="566928" y="1938528"/>
            <a:ext cx="5852160" cy="4754880"/>
          </a:xfrm>
          <a:prstGeom prst="roundRect">
            <a:avLst>
              <a:gd name="adj" fmla="val 3000"/>
            </a:avLst>
          </a:prstGeom>
          <a:noFill/>
          <a:ln w="12700">
            <a:solidFill>
              <a:srgbClr val="D8DEE6"/>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TextBox 8"/>
          <p:cNvSpPr txBox="1"/>
          <p:nvPr/>
        </p:nvSpPr>
        <p:spPr>
          <a:xfrm>
            <a:off x="804672" y="2139696"/>
            <a:ext cx="5394960" cy="3566160"/>
          </a:xfrm>
          <a:prstGeom prst="rect">
            <a:avLst/>
          </a:prstGeom>
          <a:noFill/>
        </p:spPr>
        <p:txBody>
          <a:bodyPr wrap="square" lIns="0" tIns="0" rIns="0" bIns="0">
            <a:spAutoFit/>
          </a:bodyPr>
          <a:lstStyle/>
          <a:p>
            <a:pPr algn="l">
              <a:lnSpc>
                <a:spcPct val="120000"/>
              </a:lnSpc>
              <a:spcAft>
                <a:spcPts val="800"/>
              </a:spcAft>
            </a:pPr>
            <a:r>
              <a:rPr sz="1500" b="1" i="0">
                <a:solidFill>
                  <a:srgbClr val="1F5CA8"/>
                </a:solidFill>
                <a:latin typeface="Segoe UI"/>
                <a:ea typeface="Segoe UI"/>
              </a:rPr>
              <a:t>Training setup</a:t>
            </a:r>
          </a:p>
          <a:p>
            <a:pPr algn="l">
              <a:lnSpc>
                <a:spcPct val="115000"/>
              </a:lnSpc>
              <a:spcAft>
                <a:spcPts val="700"/>
              </a:spcAft>
            </a:pPr>
            <a:r>
              <a:rPr sz="1300" b="0" i="0">
                <a:solidFill>
                  <a:srgbClr val="334050"/>
                </a:solidFill>
                <a:latin typeface="Segoe UI"/>
                <a:ea typeface="Segoe UI"/>
              </a:rPr>
              <a:t>▪  Objective: an InfoNCE-style contrastive loss (same family as SBERT, different scale and data construction)</a:t>
            </a:r>
          </a:p>
          <a:p>
            <a:pPr algn="l">
              <a:lnSpc>
                <a:spcPct val="115000"/>
              </a:lnSpc>
              <a:spcAft>
                <a:spcPts val="700"/>
              </a:spcAft>
            </a:pPr>
            <a:r>
              <a:rPr sz="1300" b="0" i="0">
                <a:solidFill>
                  <a:srgbClr val="334050"/>
                </a:solidFill>
                <a:latin typeface="Segoe UI"/>
                <a:ea typeface="Segoe UI"/>
              </a:rPr>
              <a:t>▪  Data: large-scale weakly supervised pairs — title-body, QA pairs, paraphrases, community Q&amp;A</a:t>
            </a:r>
          </a:p>
          <a:p>
            <a:pPr algn="l">
              <a:lnSpc>
                <a:spcPct val="115000"/>
              </a:lnSpc>
              <a:spcAft>
                <a:spcPts val="700"/>
              </a:spcAft>
            </a:pPr>
            <a:r>
              <a:rPr sz="1300" b="0" i="0">
                <a:solidFill>
                  <a:srgbClr val="334050"/>
                </a:solidFill>
                <a:latin typeface="Segoe UI"/>
                <a:ea typeface="Segoe UI"/>
              </a:rPr>
              <a:t>▪  Temperature τ controls sharpness; large batches (1024+) guarantee enough in-batch negatives</a:t>
            </a:r>
          </a:p>
          <a:p>
            <a:pPr algn="l">
              <a:lnSpc>
                <a:spcPct val="120000"/>
              </a:lnSpc>
              <a:spcAft>
                <a:spcPts val="600"/>
              </a:spcAft>
            </a:pPr>
            <a:r>
              <a:rPr sz="1400" b="1" i="0">
                <a:solidFill>
                  <a:srgbClr val="1F5CA8"/>
                </a:solidFill>
                <a:latin typeface="Segoe UI"/>
                <a:ea typeface="Segoe UI"/>
              </a:rPr>
              <a:t>Two engineering levers</a:t>
            </a:r>
          </a:p>
          <a:p>
            <a:pPr algn="l">
              <a:lnSpc>
                <a:spcPct val="115000"/>
              </a:lnSpc>
              <a:spcAft>
                <a:spcPts val="700"/>
              </a:spcAft>
            </a:pPr>
            <a:r>
              <a:rPr sz="1300" b="0" i="0">
                <a:solidFill>
                  <a:srgbClr val="334050"/>
                </a:solidFill>
                <a:latin typeface="Segoe UI"/>
                <a:ea typeface="Segoe UI"/>
              </a:rPr>
              <a:t>▪  In-batch negatives: documents from other examples in the batch serve as negatives at no extra forward-pass cost</a:t>
            </a:r>
          </a:p>
          <a:p>
            <a:pPr algn="l">
              <a:lnSpc>
                <a:spcPct val="115000"/>
              </a:lnSpc>
              <a:spcAft>
                <a:spcPts val="700"/>
              </a:spcAft>
            </a:pPr>
            <a:r>
              <a:rPr sz="1300" b="0" i="0">
                <a:solidFill>
                  <a:srgbClr val="334050"/>
                </a:solidFill>
                <a:latin typeface="Segoe UI"/>
                <a:ea typeface="Segoe UI"/>
              </a:rPr>
              <a:t>▪  Hard negatives: documents that look relevant but are wrong give the biggest training signal, and must be mined deliberately</a:t>
            </a:r>
          </a:p>
        </p:txBody>
      </p:sp>
      <p:sp>
        <p:nvSpPr>
          <p:cNvPr id="10" name="Rounded Rectangle 9"/>
          <p:cNvSpPr/>
          <p:nvPr/>
        </p:nvSpPr>
        <p:spPr>
          <a:xfrm>
            <a:off x="6784848" y="1938528"/>
            <a:ext cx="4839919" cy="4754880"/>
          </a:xfrm>
          <a:prstGeom prst="roundRect">
            <a:avLst>
              <a:gd name="adj" fmla="val 3000"/>
            </a:avLst>
          </a:prstGeom>
          <a:solidFill>
            <a:srgbClr val="F7F9FC"/>
          </a:solidFill>
          <a:ln w="12700">
            <a:solidFill>
              <a:srgbClr val="BBC7D6"/>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 name="TextBox 10"/>
          <p:cNvSpPr txBox="1"/>
          <p:nvPr/>
        </p:nvSpPr>
        <p:spPr>
          <a:xfrm>
            <a:off x="6986016" y="2103120"/>
            <a:ext cx="4437583" cy="4425696"/>
          </a:xfrm>
          <a:prstGeom prst="rect">
            <a:avLst/>
          </a:prstGeom>
          <a:noFill/>
        </p:spPr>
        <p:txBody>
          <a:bodyPr wrap="square" lIns="0" tIns="0" rIns="0" bIns="0">
            <a:spAutoFit/>
          </a:bodyPr>
          <a:lstStyle/>
          <a:p>
            <a:pPr algn="l">
              <a:lnSpc>
                <a:spcPct val="120000"/>
              </a:lnSpc>
              <a:spcAft>
                <a:spcPts val="400"/>
              </a:spcAft>
            </a:pPr>
            <a:r>
              <a:rPr sz="1300" b="1" i="0">
                <a:solidFill>
                  <a:srgbClr val="1F5CA8"/>
                </a:solidFill>
                <a:latin typeface="Segoe UI"/>
                <a:ea typeface="Segoe UI"/>
              </a:rPr>
              <a:t>Placeholder: contrastive setup + InfoNCE</a:t>
            </a:r>
          </a:p>
          <a:p>
            <a:pPr algn="l">
              <a:lnSpc>
                <a:spcPct val="120000"/>
              </a:lnSpc>
              <a:spcAft>
                <a:spcPts val="0"/>
              </a:spcAft>
            </a:pPr>
            <a:r>
              <a:rPr sz="1150" b="0" i="0">
                <a:solidFill>
                  <a:srgbClr val="7A8696"/>
                </a:solidFill>
                <a:latin typeface="Segoe UI"/>
                <a:ea typeface="Segoe UI"/>
              </a:rPr>
              <a:t>Suggested: anchor q pulled toward d+ and pushed from the batch negatives d-, next to -log(exp(sim(q,d+)/τ) / Σ exp(sim(q,d_i)/τ))</a:t>
            </a:r>
          </a:p>
          <a:p>
            <a:pPr algn="l">
              <a:lnSpc>
                <a:spcPct val="120000"/>
              </a:lnSpc>
              <a:spcAft>
                <a:spcPts val="200"/>
              </a:spcAft>
            </a:pPr>
            <a:r>
              <a:rPr sz="1150" b="0" i="0">
                <a:solidFill>
                  <a:srgbClr val="BBC7D6"/>
                </a:solidFill>
                <a:latin typeface="Segoe UI"/>
                <a:ea typeface="Segoe UI"/>
              </a:rPr>
              <a:t>· </a:t>
            </a:r>
          </a:p>
          <a:p>
            <a:pPr algn="l">
              <a:lnSpc>
                <a:spcPct val="120000"/>
              </a:lnSpc>
              <a:spcAft>
                <a:spcPts val="200"/>
              </a:spcAft>
            </a:pPr>
            <a:r>
              <a:rPr sz="1150" b="0" i="0">
                <a:solidFill>
                  <a:srgbClr val="BBC7D6"/>
                </a:solidFill>
                <a:latin typeface="Segoe UI"/>
                <a:ea typeface="Segoe UI"/>
              </a:rPr>
              <a:t>· </a:t>
            </a:r>
          </a:p>
          <a:p>
            <a:pPr algn="l">
              <a:lnSpc>
                <a:spcPct val="120000"/>
              </a:lnSpc>
              <a:spcAft>
                <a:spcPts val="200"/>
              </a:spcAft>
            </a:pPr>
            <a:r>
              <a:rPr sz="1150" b="0" i="0">
                <a:solidFill>
                  <a:srgbClr val="BBC7D6"/>
                </a:solidFill>
                <a:latin typeface="Segoe UI"/>
                <a:ea typeface="Segoe UI"/>
              </a:rPr>
              <a:t>· </a:t>
            </a:r>
          </a:p>
          <a:p>
            <a:pPr algn="l">
              <a:lnSpc>
                <a:spcPct val="120000"/>
              </a:lnSpc>
              <a:spcAft>
                <a:spcPts val="200"/>
              </a:spcAft>
            </a:pPr>
            <a:r>
              <a:rPr sz="1150" b="0" i="0">
                <a:solidFill>
                  <a:srgbClr val="BBC7D6"/>
                </a:solidFill>
                <a:latin typeface="Segoe UI"/>
                <a:ea typeface="Segoe UI"/>
              </a:rPr>
              <a:t>· </a:t>
            </a:r>
          </a:p>
          <a:p>
            <a:pPr algn="l">
              <a:lnSpc>
                <a:spcPct val="120000"/>
              </a:lnSpc>
              <a:spcAft>
                <a:spcPts val="200"/>
              </a:spcAft>
            </a:pPr>
            <a:r>
              <a:rPr sz="1150" b="0" i="0">
                <a:solidFill>
                  <a:srgbClr val="BBC7D6"/>
                </a:solidFill>
                <a:latin typeface="Segoe UI"/>
                <a:ea typeface="Segoe UI"/>
              </a:rPr>
              <a:t>· </a:t>
            </a:r>
          </a:p>
          <a:p>
            <a:pPr algn="l">
              <a:lnSpc>
                <a:spcPct val="120000"/>
              </a:lnSpc>
              <a:spcAft>
                <a:spcPts val="200"/>
              </a:spcAft>
            </a:pPr>
            <a:r>
              <a:rPr sz="1150" b="0" i="0">
                <a:solidFill>
                  <a:srgbClr val="BBC7D6"/>
                </a:solidFill>
                <a:latin typeface="Segoe UI"/>
                <a:ea typeface="Segoe UI"/>
              </a:rPr>
              <a:t>· </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7724"/>
          </a:xfrm>
          <a:prstGeom prst="rect">
            <a:avLst/>
          </a:prstGeom>
          <a:solidFill>
            <a:srgbClr val="1F5CA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TextBox 2"/>
          <p:cNvSpPr txBox="1"/>
          <p:nvPr/>
        </p:nvSpPr>
        <p:spPr>
          <a:xfrm>
            <a:off x="566928" y="310896"/>
            <a:ext cx="8595360" cy="274320"/>
          </a:xfrm>
          <a:prstGeom prst="rect">
            <a:avLst/>
          </a:prstGeom>
          <a:noFill/>
        </p:spPr>
        <p:txBody>
          <a:bodyPr wrap="square" lIns="0" tIns="0" rIns="0" bIns="0">
            <a:spAutoFit/>
          </a:bodyPr>
          <a:lstStyle/>
          <a:p>
            <a:pPr algn="l">
              <a:lnSpc>
                <a:spcPct val="120000"/>
              </a:lnSpc>
              <a:spcAft>
                <a:spcPts val="0"/>
              </a:spcAft>
            </a:pPr>
            <a:r>
              <a:rPr sz="1050" b="1" i="0">
                <a:solidFill>
                  <a:srgbClr val="1F5CA8"/>
                </a:solidFill>
                <a:latin typeface="Segoe UI"/>
                <a:ea typeface="Segoe UI"/>
              </a:rPr>
              <a:t>PART 1 · EMBEDDING MODEL: BGE</a:t>
            </a:r>
          </a:p>
        </p:txBody>
      </p:sp>
      <p:sp>
        <p:nvSpPr>
          <p:cNvPr id="4" name="TextBox 3"/>
          <p:cNvSpPr txBox="1"/>
          <p:nvPr/>
        </p:nvSpPr>
        <p:spPr>
          <a:xfrm>
            <a:off x="10161727" y="310896"/>
            <a:ext cx="1463040" cy="274320"/>
          </a:xfrm>
          <a:prstGeom prst="rect">
            <a:avLst/>
          </a:prstGeom>
          <a:noFill/>
        </p:spPr>
        <p:txBody>
          <a:bodyPr wrap="square" lIns="0" tIns="0" rIns="0" bIns="0">
            <a:spAutoFit/>
          </a:bodyPr>
          <a:lstStyle/>
          <a:p>
            <a:pPr algn="r">
              <a:lnSpc>
                <a:spcPct val="120000"/>
              </a:lnSpc>
              <a:spcAft>
                <a:spcPts val="0"/>
              </a:spcAft>
            </a:pPr>
            <a:r>
              <a:rPr sz="1050" b="0" i="0">
                <a:solidFill>
                  <a:srgbClr val="7A8696"/>
                </a:solidFill>
                <a:latin typeface="Segoe UI"/>
                <a:ea typeface="Segoe UI"/>
              </a:rPr>
              <a:t>14</a:t>
            </a:r>
          </a:p>
        </p:txBody>
      </p:sp>
      <p:sp>
        <p:nvSpPr>
          <p:cNvPr id="5" name="TextBox 4"/>
          <p:cNvSpPr txBox="1"/>
          <p:nvPr/>
        </p:nvSpPr>
        <p:spPr>
          <a:xfrm>
            <a:off x="566928" y="658368"/>
            <a:ext cx="11057839" cy="658368"/>
          </a:xfrm>
          <a:prstGeom prst="rect">
            <a:avLst/>
          </a:prstGeom>
          <a:noFill/>
        </p:spPr>
        <p:txBody>
          <a:bodyPr wrap="square" lIns="0" tIns="0" rIns="0" bIns="0">
            <a:spAutoFit/>
          </a:bodyPr>
          <a:lstStyle/>
          <a:p>
            <a:pPr algn="l">
              <a:lnSpc>
                <a:spcPct val="120000"/>
              </a:lnSpc>
              <a:spcAft>
                <a:spcPts val="0"/>
              </a:spcAft>
            </a:pPr>
            <a:r>
              <a:rPr sz="2700" b="1" i="0">
                <a:solidFill>
                  <a:srgbClr val="1B2533"/>
                </a:solidFill>
                <a:latin typeface="Segoe UI"/>
                <a:ea typeface="Segoe UI"/>
              </a:rPr>
              <a:t>Three-stage training (3/3): supervised fine-tuning + results</a:t>
            </a:r>
          </a:p>
        </p:txBody>
      </p:sp>
      <p:sp>
        <p:nvSpPr>
          <p:cNvPr id="6" name="Rectangle 5"/>
          <p:cNvSpPr/>
          <p:nvPr/>
        </p:nvSpPr>
        <p:spPr>
          <a:xfrm>
            <a:off x="566928" y="1371600"/>
            <a:ext cx="1051560" cy="50292"/>
          </a:xfrm>
          <a:prstGeom prst="rect">
            <a:avLst/>
          </a:prstGeom>
          <a:solidFill>
            <a:srgbClr val="1F5CA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 name="TextBox 6"/>
          <p:cNvSpPr txBox="1"/>
          <p:nvPr/>
        </p:nvSpPr>
        <p:spPr>
          <a:xfrm>
            <a:off x="566928" y="1517904"/>
            <a:ext cx="11057839" cy="329184"/>
          </a:xfrm>
          <a:prstGeom prst="rect">
            <a:avLst/>
          </a:prstGeom>
          <a:noFill/>
        </p:spPr>
        <p:txBody>
          <a:bodyPr wrap="square" lIns="0" tIns="0" rIns="0" bIns="0">
            <a:spAutoFit/>
          </a:bodyPr>
          <a:lstStyle/>
          <a:p>
            <a:pPr algn="l">
              <a:lnSpc>
                <a:spcPct val="120000"/>
              </a:lnSpc>
              <a:spcAft>
                <a:spcPts val="0"/>
              </a:spcAft>
            </a:pPr>
            <a:r>
              <a:rPr sz="1300" b="0" i="0">
                <a:solidFill>
                  <a:srgbClr val="7A8696"/>
                </a:solidFill>
                <a:latin typeface="Segoe UI"/>
                <a:ea typeface="Segoe UI"/>
              </a:rPr>
              <a:t>Stage 3 — high-quality labeled data pushes precision up again</a:t>
            </a:r>
          </a:p>
        </p:txBody>
      </p:sp>
      <p:sp>
        <p:nvSpPr>
          <p:cNvPr id="8" name="Rounded Rectangle 7"/>
          <p:cNvSpPr/>
          <p:nvPr/>
        </p:nvSpPr>
        <p:spPr>
          <a:xfrm>
            <a:off x="566928" y="1938528"/>
            <a:ext cx="5760720" cy="2542032"/>
          </a:xfrm>
          <a:prstGeom prst="roundRect">
            <a:avLst>
              <a:gd name="adj" fmla="val 3000"/>
            </a:avLst>
          </a:prstGeom>
          <a:noFill/>
          <a:ln w="12700">
            <a:solidFill>
              <a:srgbClr val="D8DEE6"/>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TextBox 8"/>
          <p:cNvSpPr txBox="1"/>
          <p:nvPr/>
        </p:nvSpPr>
        <p:spPr>
          <a:xfrm>
            <a:off x="804672" y="2103120"/>
            <a:ext cx="5303520" cy="2377440"/>
          </a:xfrm>
          <a:prstGeom prst="rect">
            <a:avLst/>
          </a:prstGeom>
          <a:noFill/>
        </p:spPr>
        <p:txBody>
          <a:bodyPr wrap="square" lIns="0" tIns="0" rIns="0" bIns="0">
            <a:spAutoFit/>
          </a:bodyPr>
          <a:lstStyle/>
          <a:p>
            <a:pPr algn="l">
              <a:lnSpc>
                <a:spcPct val="120000"/>
              </a:lnSpc>
              <a:spcAft>
                <a:spcPts val="800"/>
              </a:spcAft>
            </a:pPr>
            <a:r>
              <a:rPr sz="1500" b="1" i="0">
                <a:solidFill>
                  <a:srgbClr val="1F5CA8"/>
                </a:solidFill>
                <a:latin typeface="Segoe UI"/>
                <a:ea typeface="Segoe UI"/>
              </a:rPr>
              <a:t>Fine-tuning stage</a:t>
            </a:r>
          </a:p>
          <a:p>
            <a:pPr algn="l">
              <a:lnSpc>
                <a:spcPct val="115000"/>
              </a:lnSpc>
              <a:spcAft>
                <a:spcPts val="700"/>
              </a:spcAft>
            </a:pPr>
            <a:r>
              <a:rPr sz="1250" b="0" i="0">
                <a:solidFill>
                  <a:srgbClr val="334050"/>
                </a:solidFill>
                <a:latin typeface="Segoe UI"/>
                <a:ea typeface="Segoe UI"/>
              </a:rPr>
              <a:t>▪  Data: high-quality (query, positive, negative) triples, human or semi-automatically labeled</a:t>
            </a:r>
          </a:p>
          <a:p>
            <a:pPr algn="l">
              <a:lnSpc>
                <a:spcPct val="115000"/>
              </a:lnSpc>
              <a:spcAft>
                <a:spcPts val="700"/>
              </a:spcAft>
            </a:pPr>
            <a:r>
              <a:rPr sz="1250" b="0" i="0">
                <a:solidFill>
                  <a:srgbClr val="334050"/>
                </a:solidFill>
                <a:latin typeface="Segoe UI"/>
                <a:ea typeface="Segoe UI"/>
              </a:rPr>
              <a:t>▪  Negative mining: retrieve top-k near-misses with the current model, then keep the ones that look relevant but are wrong as hard negatives</a:t>
            </a:r>
          </a:p>
          <a:p>
            <a:pPr algn="l">
              <a:lnSpc>
                <a:spcPct val="115000"/>
              </a:lnSpc>
              <a:spcAft>
                <a:spcPts val="700"/>
              </a:spcAft>
            </a:pPr>
            <a:r>
              <a:rPr sz="1250" b="0" i="0">
                <a:solidFill>
                  <a:srgbClr val="334050"/>
                </a:solidFill>
                <a:latin typeface="Segoe UI"/>
                <a:ea typeface="Segoe UI"/>
              </a:rPr>
              <a:t>▪  Same contrastive objective, but cleaner data and harder negatives → clear retrieval gains</a:t>
            </a:r>
          </a:p>
          <a:p>
            <a:pPr algn="l">
              <a:lnSpc>
                <a:spcPct val="115000"/>
              </a:lnSpc>
              <a:spcAft>
                <a:spcPts val="700"/>
              </a:spcAft>
            </a:pPr>
            <a:r>
              <a:rPr sz="1250" b="0" i="0">
                <a:solidFill>
                  <a:srgbClr val="334050"/>
                </a:solidFill>
                <a:latin typeface="Segoe UI"/>
                <a:ea typeface="Segoe UI"/>
              </a:rPr>
              <a:t>▪  Optional instruction prefixes (e.g. “represent this sentence for retrieval”) improve cross-task generalization</a:t>
            </a:r>
          </a:p>
        </p:txBody>
      </p:sp>
      <p:graphicFrame>
        <p:nvGraphicFramePr>
          <p:cNvPr id="10" name="Table 9"/>
          <p:cNvGraphicFramePr>
            <a:graphicFrameLocks noGrp="1"/>
          </p:cNvGraphicFramePr>
          <p:nvPr/>
        </p:nvGraphicFramePr>
        <p:xfrm>
          <a:off x="566928" y="4626864"/>
          <a:ext cx="5760720" cy="1234440"/>
        </p:xfrm>
        <a:graphic>
          <a:graphicData uri="http://schemas.openxmlformats.org/drawingml/2006/table">
            <a:tbl>
              <a:tblPr firstRow="1" bandRow="1">
                <a:tableStyleId>{5C22544A-7EE6-4342-B048-85BDC9FD1C3A}</a:tableStyleId>
              </a:tblPr>
              <a:tblGrid>
                <a:gridCol w="1728216">
                  <a:extLst>
                    <a:ext uri="{9D8B030D-6E8A-4147-A177-3AD203B41FA5}">
                      <a16:colId xmlns:a16="http://schemas.microsoft.com/office/drawing/2014/main" val="20000"/>
                    </a:ext>
                  </a:extLst>
                </a:gridCol>
                <a:gridCol w="1728216">
                  <a:extLst>
                    <a:ext uri="{9D8B030D-6E8A-4147-A177-3AD203B41FA5}">
                      <a16:colId xmlns:a16="http://schemas.microsoft.com/office/drawing/2014/main" val="20001"/>
                    </a:ext>
                  </a:extLst>
                </a:gridCol>
                <a:gridCol w="2304288">
                  <a:extLst>
                    <a:ext uri="{9D8B030D-6E8A-4147-A177-3AD203B41FA5}">
                      <a16:colId xmlns:a16="http://schemas.microsoft.com/office/drawing/2014/main" val="20002"/>
                    </a:ext>
                  </a:extLst>
                </a:gridCol>
              </a:tblGrid>
              <a:tr h="329184">
                <a:tc>
                  <a:txBody>
                    <a:bodyPr/>
                    <a:lstStyle/>
                    <a:p>
                      <a:pPr algn="l">
                        <a:lnSpc>
                          <a:spcPct val="108000"/>
                        </a:lnSpc>
                        <a:spcAft>
                          <a:spcPts val="0"/>
                        </a:spcAft>
                      </a:pPr>
                      <a:r>
                        <a:rPr sz="1050" b="1" i="0">
                          <a:solidFill>
                            <a:srgbClr val="FFFFFF"/>
                          </a:solidFill>
                          <a:latin typeface="Segoe UI"/>
                          <a:ea typeface="Segoe UI"/>
                        </a:rPr>
                        <a:t>Stage</a:t>
                      </a:r>
                    </a:p>
                  </a:txBody>
                  <a:tcPr marL="82296" marR="64008" marT="18288" marB="18288" anchor="ctr">
                    <a:solidFill>
                      <a:srgbClr val="1F5CA8"/>
                    </a:solidFill>
                  </a:tcPr>
                </a:tc>
                <a:tc>
                  <a:txBody>
                    <a:bodyPr/>
                    <a:lstStyle/>
                    <a:p>
                      <a:pPr algn="l">
                        <a:lnSpc>
                          <a:spcPct val="108000"/>
                        </a:lnSpc>
                        <a:spcAft>
                          <a:spcPts val="0"/>
                        </a:spcAft>
                      </a:pPr>
                      <a:r>
                        <a:rPr sz="1050" b="1" i="0">
                          <a:solidFill>
                            <a:srgbClr val="FFFFFF"/>
                          </a:solidFill>
                          <a:latin typeface="Segoe UI"/>
                          <a:ea typeface="Segoe UI"/>
                        </a:rPr>
                        <a:t>Goal</a:t>
                      </a:r>
                    </a:p>
                  </a:txBody>
                  <a:tcPr marL="82296" marR="64008" marT="18288" marB="18288" anchor="ctr">
                    <a:solidFill>
                      <a:srgbClr val="1F5CA8"/>
                    </a:solidFill>
                  </a:tcPr>
                </a:tc>
                <a:tc>
                  <a:txBody>
                    <a:bodyPr/>
                    <a:lstStyle/>
                    <a:p>
                      <a:pPr algn="l">
                        <a:lnSpc>
                          <a:spcPct val="108000"/>
                        </a:lnSpc>
                        <a:spcAft>
                          <a:spcPts val="0"/>
                        </a:spcAft>
                      </a:pPr>
                      <a:r>
                        <a:rPr sz="1050" b="1" i="0">
                          <a:solidFill>
                            <a:srgbClr val="FFFFFF"/>
                          </a:solidFill>
                          <a:latin typeface="Segoe UI"/>
                          <a:ea typeface="Segoe UI"/>
                        </a:rPr>
                        <a:t>Data</a:t>
                      </a:r>
                    </a:p>
                  </a:txBody>
                  <a:tcPr marL="82296" marR="64008" marT="18288" marB="18288" anchor="ctr">
                    <a:solidFill>
                      <a:srgbClr val="1F5CA8"/>
                    </a:solidFill>
                  </a:tcPr>
                </a:tc>
                <a:extLst>
                  <a:ext uri="{0D108BD9-81ED-4DB2-BD59-A6C34878D82A}">
                    <a16:rowId xmlns:a16="http://schemas.microsoft.com/office/drawing/2014/main" val="10000"/>
                  </a:ext>
                </a:extLst>
              </a:tr>
              <a:tr h="301752">
                <a:tc>
                  <a:txBody>
                    <a:bodyPr/>
                    <a:lstStyle/>
                    <a:p>
                      <a:pPr algn="l">
                        <a:lnSpc>
                          <a:spcPct val="108000"/>
                        </a:lnSpc>
                        <a:spcAft>
                          <a:spcPts val="0"/>
                        </a:spcAft>
                      </a:pPr>
                      <a:r>
                        <a:rPr sz="1050" b="0" i="0">
                          <a:solidFill>
                            <a:srgbClr val="334050"/>
                          </a:solidFill>
                          <a:latin typeface="Segoe UI"/>
                          <a:ea typeface="Segoe UI"/>
                        </a:rPr>
                        <a:t>1 RetroMAE</a:t>
                      </a:r>
                    </a:p>
                  </a:txBody>
                  <a:tcPr marL="82296" marR="64008" marT="18288" marB="18288" anchor="ctr">
                    <a:solidFill>
                      <a:srgbClr val="FFFFFF"/>
                    </a:solidFill>
                  </a:tcPr>
                </a:tc>
                <a:tc>
                  <a:txBody>
                    <a:bodyPr/>
                    <a:lstStyle/>
                    <a:p>
                      <a:pPr algn="l">
                        <a:lnSpc>
                          <a:spcPct val="108000"/>
                        </a:lnSpc>
                        <a:spcAft>
                          <a:spcPts val="0"/>
                        </a:spcAft>
                      </a:pPr>
                      <a:r>
                        <a:rPr sz="1050" b="0" i="0">
                          <a:solidFill>
                            <a:srgbClr val="334050"/>
                          </a:solidFill>
                          <a:latin typeface="Segoe UI"/>
                          <a:ea typeface="Segoe UI"/>
                        </a:rPr>
                        <a:t>Foundation representation</a:t>
                      </a:r>
                    </a:p>
                  </a:txBody>
                  <a:tcPr marL="82296" marR="64008" marT="18288" marB="18288" anchor="ctr">
                    <a:solidFill>
                      <a:srgbClr val="FFFFFF"/>
                    </a:solidFill>
                  </a:tcPr>
                </a:tc>
                <a:tc>
                  <a:txBody>
                    <a:bodyPr/>
                    <a:lstStyle/>
                    <a:p>
                      <a:pPr algn="l">
                        <a:lnSpc>
                          <a:spcPct val="108000"/>
                        </a:lnSpc>
                        <a:spcAft>
                          <a:spcPts val="0"/>
                        </a:spcAft>
                      </a:pPr>
                      <a:r>
                        <a:rPr sz="1050" b="0" i="0">
                          <a:solidFill>
                            <a:srgbClr val="334050"/>
                          </a:solidFill>
                          <a:latin typeface="Segoe UI"/>
                          <a:ea typeface="Segoe UI"/>
                        </a:rPr>
                        <a:t>Large unlabeled corpus</a:t>
                      </a:r>
                    </a:p>
                  </a:txBody>
                  <a:tcPr marL="82296" marR="64008" marT="18288" marB="18288" anchor="ctr">
                    <a:solidFill>
                      <a:srgbClr val="FFFFFF"/>
                    </a:solidFill>
                  </a:tcPr>
                </a:tc>
                <a:extLst>
                  <a:ext uri="{0D108BD9-81ED-4DB2-BD59-A6C34878D82A}">
                    <a16:rowId xmlns:a16="http://schemas.microsoft.com/office/drawing/2014/main" val="10001"/>
                  </a:ext>
                </a:extLst>
              </a:tr>
              <a:tr h="301752">
                <a:tc>
                  <a:txBody>
                    <a:bodyPr/>
                    <a:lstStyle/>
                    <a:p>
                      <a:pPr algn="l">
                        <a:lnSpc>
                          <a:spcPct val="108000"/>
                        </a:lnSpc>
                        <a:spcAft>
                          <a:spcPts val="0"/>
                        </a:spcAft>
                      </a:pPr>
                      <a:r>
                        <a:rPr sz="1050" b="0" i="0">
                          <a:solidFill>
                            <a:srgbClr val="334050"/>
                          </a:solidFill>
                          <a:latin typeface="Segoe UI"/>
                          <a:ea typeface="Segoe UI"/>
                        </a:rPr>
                        <a:t>2 Contrastive</a:t>
                      </a:r>
                    </a:p>
                  </a:txBody>
                  <a:tcPr marL="82296" marR="64008" marT="18288" marB="18288" anchor="ctr">
                    <a:solidFill>
                      <a:srgbClr val="F4F7FB"/>
                    </a:solidFill>
                  </a:tcPr>
                </a:tc>
                <a:tc>
                  <a:txBody>
                    <a:bodyPr/>
                    <a:lstStyle/>
                    <a:p>
                      <a:pPr algn="l">
                        <a:lnSpc>
                          <a:spcPct val="108000"/>
                        </a:lnSpc>
                        <a:spcAft>
                          <a:spcPts val="0"/>
                        </a:spcAft>
                      </a:pPr>
                      <a:r>
                        <a:rPr sz="1050" b="0" i="0">
                          <a:solidFill>
                            <a:srgbClr val="334050"/>
                          </a:solidFill>
                          <a:latin typeface="Segoe UI"/>
                          <a:ea typeface="Segoe UI"/>
                        </a:rPr>
                        <a:t>Semantic alignment</a:t>
                      </a:r>
                    </a:p>
                  </a:txBody>
                  <a:tcPr marL="82296" marR="64008" marT="18288" marB="18288" anchor="ctr">
                    <a:solidFill>
                      <a:srgbClr val="F4F7FB"/>
                    </a:solidFill>
                  </a:tcPr>
                </a:tc>
                <a:tc>
                  <a:txBody>
                    <a:bodyPr/>
                    <a:lstStyle/>
                    <a:p>
                      <a:pPr algn="l">
                        <a:lnSpc>
                          <a:spcPct val="108000"/>
                        </a:lnSpc>
                        <a:spcAft>
                          <a:spcPts val="0"/>
                        </a:spcAft>
                      </a:pPr>
                      <a:r>
                        <a:rPr sz="1050" b="0" i="0">
                          <a:solidFill>
                            <a:srgbClr val="334050"/>
                          </a:solidFill>
                          <a:latin typeface="Segoe UI"/>
                          <a:ea typeface="Segoe UI"/>
                        </a:rPr>
                        <a:t>Weakly supervised pairs</a:t>
                      </a:r>
                    </a:p>
                  </a:txBody>
                  <a:tcPr marL="82296" marR="64008" marT="18288" marB="18288" anchor="ctr">
                    <a:solidFill>
                      <a:srgbClr val="F4F7FB"/>
                    </a:solidFill>
                  </a:tcPr>
                </a:tc>
                <a:extLst>
                  <a:ext uri="{0D108BD9-81ED-4DB2-BD59-A6C34878D82A}">
                    <a16:rowId xmlns:a16="http://schemas.microsoft.com/office/drawing/2014/main" val="10002"/>
                  </a:ext>
                </a:extLst>
              </a:tr>
              <a:tr h="301752">
                <a:tc>
                  <a:txBody>
                    <a:bodyPr/>
                    <a:lstStyle/>
                    <a:p>
                      <a:pPr algn="l">
                        <a:lnSpc>
                          <a:spcPct val="108000"/>
                        </a:lnSpc>
                        <a:spcAft>
                          <a:spcPts val="0"/>
                        </a:spcAft>
                      </a:pPr>
                      <a:r>
                        <a:rPr sz="1050" b="0" i="0">
                          <a:solidFill>
                            <a:srgbClr val="334050"/>
                          </a:solidFill>
                          <a:latin typeface="Segoe UI"/>
                          <a:ea typeface="Segoe UI"/>
                        </a:rPr>
                        <a:t>3 Fine-tuning</a:t>
                      </a:r>
                    </a:p>
                  </a:txBody>
                  <a:tcPr marL="82296" marR="64008" marT="18288" marB="18288" anchor="ctr">
                    <a:solidFill>
                      <a:srgbClr val="FFFFFF"/>
                    </a:solidFill>
                  </a:tcPr>
                </a:tc>
                <a:tc>
                  <a:txBody>
                    <a:bodyPr/>
                    <a:lstStyle/>
                    <a:p>
                      <a:pPr algn="l">
                        <a:lnSpc>
                          <a:spcPct val="108000"/>
                        </a:lnSpc>
                        <a:spcAft>
                          <a:spcPts val="0"/>
                        </a:spcAft>
                      </a:pPr>
                      <a:r>
                        <a:rPr sz="1050" b="0" i="0">
                          <a:solidFill>
                            <a:srgbClr val="334050"/>
                          </a:solidFill>
                          <a:latin typeface="Segoe UI"/>
                          <a:ea typeface="Segoe UI"/>
                        </a:rPr>
                        <a:t>Retrieval precision</a:t>
                      </a:r>
                    </a:p>
                  </a:txBody>
                  <a:tcPr marL="82296" marR="64008" marT="18288" marB="18288" anchor="ctr">
                    <a:solidFill>
                      <a:srgbClr val="FFFFFF"/>
                    </a:solidFill>
                  </a:tcPr>
                </a:tc>
                <a:tc>
                  <a:txBody>
                    <a:bodyPr/>
                    <a:lstStyle/>
                    <a:p>
                      <a:pPr algn="l">
                        <a:lnSpc>
                          <a:spcPct val="108000"/>
                        </a:lnSpc>
                        <a:spcAft>
                          <a:spcPts val="0"/>
                        </a:spcAft>
                      </a:pPr>
                      <a:r>
                        <a:rPr sz="1050" b="0" i="0">
                          <a:solidFill>
                            <a:srgbClr val="334050"/>
                          </a:solidFill>
                          <a:latin typeface="Segoe UI"/>
                          <a:ea typeface="Segoe UI"/>
                        </a:rPr>
                        <a:t>Curated labels + hard negatives</a:t>
                      </a:r>
                    </a:p>
                  </a:txBody>
                  <a:tcPr marL="82296" marR="64008" marT="18288" marB="18288" anchor="ctr">
                    <a:solidFill>
                      <a:srgbClr val="FFFFFF"/>
                    </a:solidFill>
                  </a:tcPr>
                </a:tc>
                <a:extLst>
                  <a:ext uri="{0D108BD9-81ED-4DB2-BD59-A6C34878D82A}">
                    <a16:rowId xmlns:a16="http://schemas.microsoft.com/office/drawing/2014/main" val="10003"/>
                  </a:ext>
                </a:extLst>
              </a:tr>
            </a:tbl>
          </a:graphicData>
        </a:graphic>
      </p:graphicFrame>
      <p:sp>
        <p:nvSpPr>
          <p:cNvPr id="11" name="Rounded Rectangle 10"/>
          <p:cNvSpPr/>
          <p:nvPr/>
        </p:nvSpPr>
        <p:spPr>
          <a:xfrm>
            <a:off x="6693408" y="1938528"/>
            <a:ext cx="4931359" cy="4754880"/>
          </a:xfrm>
          <a:prstGeom prst="roundRect">
            <a:avLst>
              <a:gd name="adj" fmla="val 3000"/>
            </a:avLst>
          </a:prstGeom>
          <a:solidFill>
            <a:srgbClr val="F7F9FC"/>
          </a:solidFill>
          <a:ln w="12700">
            <a:solidFill>
              <a:srgbClr val="BBC7D6"/>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2" name="TextBox 11"/>
          <p:cNvSpPr txBox="1"/>
          <p:nvPr/>
        </p:nvSpPr>
        <p:spPr>
          <a:xfrm>
            <a:off x="6894576" y="2103120"/>
            <a:ext cx="4529023" cy="4425696"/>
          </a:xfrm>
          <a:prstGeom prst="rect">
            <a:avLst/>
          </a:prstGeom>
          <a:noFill/>
        </p:spPr>
        <p:txBody>
          <a:bodyPr wrap="square" lIns="0" tIns="0" rIns="0" bIns="0">
            <a:spAutoFit/>
          </a:bodyPr>
          <a:lstStyle/>
          <a:p>
            <a:pPr algn="l">
              <a:lnSpc>
                <a:spcPct val="120000"/>
              </a:lnSpc>
              <a:spcAft>
                <a:spcPts val="400"/>
              </a:spcAft>
            </a:pPr>
            <a:r>
              <a:rPr sz="1300" b="1" i="0">
                <a:solidFill>
                  <a:srgbClr val="1F5CA8"/>
                </a:solidFill>
                <a:latin typeface="Segoe UI"/>
                <a:ea typeface="Segoe UI"/>
              </a:rPr>
              <a:t>Placeholder: BGE scores on C-MTEB / MTEB</a:t>
            </a:r>
          </a:p>
          <a:p>
            <a:pPr algn="l">
              <a:lnSpc>
                <a:spcPct val="120000"/>
              </a:lnSpc>
              <a:spcAft>
                <a:spcPts val="0"/>
              </a:spcAft>
            </a:pPr>
            <a:r>
              <a:rPr sz="1150" b="0" i="0">
                <a:solidFill>
                  <a:srgbClr val="7A8696"/>
                </a:solidFill>
                <a:latin typeface="Segoe UI"/>
                <a:ea typeface="Segoe UI"/>
              </a:rPr>
              <a:t>Suggested: bge-large-zh-v1.5 and bge-m3 averages, plus a comparison against OpenAI text-embedding models (cite source and evaluation date)</a:t>
            </a:r>
          </a:p>
          <a:p>
            <a:pPr algn="l">
              <a:lnSpc>
                <a:spcPct val="120000"/>
              </a:lnSpc>
              <a:spcAft>
                <a:spcPts val="200"/>
              </a:spcAft>
            </a:pPr>
            <a:r>
              <a:rPr sz="1150" b="0" i="0">
                <a:solidFill>
                  <a:srgbClr val="BBC7D6"/>
                </a:solidFill>
                <a:latin typeface="Segoe UI"/>
                <a:ea typeface="Segoe UI"/>
              </a:rPr>
              <a:t>· </a:t>
            </a:r>
          </a:p>
          <a:p>
            <a:pPr algn="l">
              <a:lnSpc>
                <a:spcPct val="120000"/>
              </a:lnSpc>
              <a:spcAft>
                <a:spcPts val="200"/>
              </a:spcAft>
            </a:pPr>
            <a:r>
              <a:rPr sz="1150" b="0" i="0">
                <a:solidFill>
                  <a:srgbClr val="BBC7D6"/>
                </a:solidFill>
                <a:latin typeface="Segoe UI"/>
                <a:ea typeface="Segoe UI"/>
              </a:rPr>
              <a:t>· </a:t>
            </a:r>
          </a:p>
          <a:p>
            <a:pPr algn="l">
              <a:lnSpc>
                <a:spcPct val="120000"/>
              </a:lnSpc>
              <a:spcAft>
                <a:spcPts val="200"/>
              </a:spcAft>
            </a:pPr>
            <a:r>
              <a:rPr sz="1150" b="0" i="0">
                <a:solidFill>
                  <a:srgbClr val="BBC7D6"/>
                </a:solidFill>
                <a:latin typeface="Segoe UI"/>
                <a:ea typeface="Segoe UI"/>
              </a:rPr>
              <a:t>· </a:t>
            </a:r>
          </a:p>
          <a:p>
            <a:pPr algn="l">
              <a:lnSpc>
                <a:spcPct val="120000"/>
              </a:lnSpc>
              <a:spcAft>
                <a:spcPts val="200"/>
              </a:spcAft>
            </a:pPr>
            <a:r>
              <a:rPr sz="1150" b="0" i="0">
                <a:solidFill>
                  <a:srgbClr val="BBC7D6"/>
                </a:solidFill>
                <a:latin typeface="Segoe UI"/>
                <a:ea typeface="Segoe UI"/>
              </a:rPr>
              <a:t>· </a:t>
            </a:r>
          </a:p>
          <a:p>
            <a:pPr algn="l">
              <a:lnSpc>
                <a:spcPct val="120000"/>
              </a:lnSpc>
              <a:spcAft>
                <a:spcPts val="200"/>
              </a:spcAft>
            </a:pPr>
            <a:r>
              <a:rPr sz="1150" b="0" i="0">
                <a:solidFill>
                  <a:srgbClr val="BBC7D6"/>
                </a:solidFill>
                <a:latin typeface="Segoe UI"/>
                <a:ea typeface="Segoe UI"/>
              </a:rPr>
              <a:t>· </a:t>
            </a:r>
          </a:p>
          <a:p>
            <a:pPr algn="l">
              <a:lnSpc>
                <a:spcPct val="120000"/>
              </a:lnSpc>
              <a:spcAft>
                <a:spcPts val="200"/>
              </a:spcAft>
            </a:pPr>
            <a:r>
              <a:rPr sz="1150" b="0" i="0">
                <a:solidFill>
                  <a:srgbClr val="BBC7D6"/>
                </a:solidFill>
                <a:latin typeface="Segoe UI"/>
                <a:ea typeface="Segoe UI"/>
              </a:rPr>
              <a:t>· </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7724"/>
          </a:xfrm>
          <a:prstGeom prst="rect">
            <a:avLst/>
          </a:prstGeom>
          <a:solidFill>
            <a:srgbClr val="1F5CA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TextBox 2"/>
          <p:cNvSpPr txBox="1"/>
          <p:nvPr/>
        </p:nvSpPr>
        <p:spPr>
          <a:xfrm>
            <a:off x="566928" y="310896"/>
            <a:ext cx="8595360" cy="274320"/>
          </a:xfrm>
          <a:prstGeom prst="rect">
            <a:avLst/>
          </a:prstGeom>
          <a:noFill/>
        </p:spPr>
        <p:txBody>
          <a:bodyPr wrap="square" lIns="0" tIns="0" rIns="0" bIns="0">
            <a:spAutoFit/>
          </a:bodyPr>
          <a:lstStyle/>
          <a:p>
            <a:pPr algn="l">
              <a:lnSpc>
                <a:spcPct val="120000"/>
              </a:lnSpc>
              <a:spcAft>
                <a:spcPts val="0"/>
              </a:spcAft>
            </a:pPr>
            <a:r>
              <a:rPr sz="1050" b="1" i="0">
                <a:solidFill>
                  <a:srgbClr val="1F5CA8"/>
                </a:solidFill>
                <a:latin typeface="Segoe UI"/>
                <a:ea typeface="Segoe UI"/>
              </a:rPr>
              <a:t>PART 1 · EMBEDDING MODEL: NV-EMBED</a:t>
            </a:r>
          </a:p>
        </p:txBody>
      </p:sp>
      <p:sp>
        <p:nvSpPr>
          <p:cNvPr id="4" name="TextBox 3"/>
          <p:cNvSpPr txBox="1"/>
          <p:nvPr/>
        </p:nvSpPr>
        <p:spPr>
          <a:xfrm>
            <a:off x="10161727" y="310896"/>
            <a:ext cx="1463040" cy="274320"/>
          </a:xfrm>
          <a:prstGeom prst="rect">
            <a:avLst/>
          </a:prstGeom>
          <a:noFill/>
        </p:spPr>
        <p:txBody>
          <a:bodyPr wrap="square" lIns="0" tIns="0" rIns="0" bIns="0">
            <a:spAutoFit/>
          </a:bodyPr>
          <a:lstStyle/>
          <a:p>
            <a:pPr algn="r">
              <a:lnSpc>
                <a:spcPct val="120000"/>
              </a:lnSpc>
              <a:spcAft>
                <a:spcPts val="0"/>
              </a:spcAft>
            </a:pPr>
            <a:r>
              <a:rPr sz="1050" b="0" i="0">
                <a:solidFill>
                  <a:srgbClr val="7A8696"/>
                </a:solidFill>
                <a:latin typeface="Segoe UI"/>
                <a:ea typeface="Segoe UI"/>
              </a:rPr>
              <a:t>15</a:t>
            </a:r>
          </a:p>
        </p:txBody>
      </p:sp>
      <p:sp>
        <p:nvSpPr>
          <p:cNvPr id="5" name="TextBox 4"/>
          <p:cNvSpPr txBox="1"/>
          <p:nvPr/>
        </p:nvSpPr>
        <p:spPr>
          <a:xfrm>
            <a:off x="566928" y="658368"/>
            <a:ext cx="11057839" cy="658368"/>
          </a:xfrm>
          <a:prstGeom prst="rect">
            <a:avLst/>
          </a:prstGeom>
          <a:noFill/>
        </p:spPr>
        <p:txBody>
          <a:bodyPr wrap="square" lIns="0" tIns="0" rIns="0" bIns="0">
            <a:spAutoFit/>
          </a:bodyPr>
          <a:lstStyle/>
          <a:p>
            <a:pPr algn="l">
              <a:lnSpc>
                <a:spcPct val="120000"/>
              </a:lnSpc>
              <a:spcAft>
                <a:spcPts val="0"/>
              </a:spcAft>
            </a:pPr>
            <a:r>
              <a:rPr sz="2700" b="1" i="0">
                <a:solidFill>
                  <a:srgbClr val="1B2533"/>
                </a:solidFill>
                <a:latin typeface="Segoe UI"/>
                <a:ea typeface="Segoe UI"/>
              </a:rPr>
              <a:t>NV-Embed: decoder-only models can embed too</a:t>
            </a:r>
          </a:p>
        </p:txBody>
      </p:sp>
      <p:sp>
        <p:nvSpPr>
          <p:cNvPr id="6" name="Rectangle 5"/>
          <p:cNvSpPr/>
          <p:nvPr/>
        </p:nvSpPr>
        <p:spPr>
          <a:xfrm>
            <a:off x="566928" y="1371600"/>
            <a:ext cx="1051560" cy="50292"/>
          </a:xfrm>
          <a:prstGeom prst="rect">
            <a:avLst/>
          </a:prstGeom>
          <a:solidFill>
            <a:srgbClr val="1F5CA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 name="TextBox 6"/>
          <p:cNvSpPr txBox="1"/>
          <p:nvPr/>
        </p:nvSpPr>
        <p:spPr>
          <a:xfrm>
            <a:off x="566928" y="1517904"/>
            <a:ext cx="11057839" cy="329184"/>
          </a:xfrm>
          <a:prstGeom prst="rect">
            <a:avLst/>
          </a:prstGeom>
          <a:noFill/>
        </p:spPr>
        <p:txBody>
          <a:bodyPr wrap="square" lIns="0" tIns="0" rIns="0" bIns="0">
            <a:spAutoFit/>
          </a:bodyPr>
          <a:lstStyle/>
          <a:p>
            <a:pPr algn="l">
              <a:lnSpc>
                <a:spcPct val="120000"/>
              </a:lnSpc>
              <a:spcAft>
                <a:spcPts val="0"/>
              </a:spcAft>
            </a:pPr>
            <a:r>
              <a:rPr sz="1300" b="0" i="0">
                <a:solidFill>
                  <a:srgbClr val="7A8696"/>
                </a:solidFill>
                <a:latin typeface="Segoe UI"/>
                <a:ea typeface="Segoe UI"/>
              </a:rPr>
              <a:t>NVIDIA · turning a plain LLM into an embedding model</a:t>
            </a:r>
          </a:p>
        </p:txBody>
      </p:sp>
      <p:sp>
        <p:nvSpPr>
          <p:cNvPr id="8" name="Rounded Rectangle 7"/>
          <p:cNvSpPr/>
          <p:nvPr/>
        </p:nvSpPr>
        <p:spPr>
          <a:xfrm>
            <a:off x="566928" y="1938528"/>
            <a:ext cx="5760720" cy="2542032"/>
          </a:xfrm>
          <a:prstGeom prst="roundRect">
            <a:avLst>
              <a:gd name="adj" fmla="val 3000"/>
            </a:avLst>
          </a:prstGeom>
          <a:noFill/>
          <a:ln w="12700">
            <a:solidFill>
              <a:srgbClr val="D8DEE6"/>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TextBox 8"/>
          <p:cNvSpPr txBox="1"/>
          <p:nvPr/>
        </p:nvSpPr>
        <p:spPr>
          <a:xfrm>
            <a:off x="804672" y="2103120"/>
            <a:ext cx="5303520" cy="2377440"/>
          </a:xfrm>
          <a:prstGeom prst="rect">
            <a:avLst/>
          </a:prstGeom>
          <a:noFill/>
        </p:spPr>
        <p:txBody>
          <a:bodyPr wrap="square" lIns="0" tIns="0" rIns="0" bIns="0">
            <a:spAutoFit/>
          </a:bodyPr>
          <a:lstStyle/>
          <a:p>
            <a:pPr algn="l">
              <a:lnSpc>
                <a:spcPct val="120000"/>
              </a:lnSpc>
              <a:spcAft>
                <a:spcPts val="800"/>
              </a:spcAft>
            </a:pPr>
            <a:r>
              <a:rPr sz="1500" b="1" i="0">
                <a:solidFill>
                  <a:srgbClr val="1F5CA8"/>
                </a:solidFill>
                <a:latin typeface="Segoe UI"/>
                <a:ea typeface="Segoe UI"/>
              </a:rPr>
              <a:t>Three key changes</a:t>
            </a:r>
          </a:p>
          <a:p>
            <a:pPr algn="l">
              <a:lnSpc>
                <a:spcPct val="115000"/>
              </a:lnSpc>
              <a:spcAft>
                <a:spcPts val="700"/>
              </a:spcAft>
            </a:pPr>
            <a:r>
              <a:rPr sz="1250" b="0" i="0">
                <a:solidFill>
                  <a:srgbClr val="334050"/>
                </a:solidFill>
                <a:latin typeface="Segoe UI"/>
                <a:ea typeface="Segoe UI"/>
              </a:rPr>
              <a:t>▪  Decoder-only backbone: use Mistral-7B-class autoregressive LLMs as embedders with no architectural surgery</a:t>
            </a:r>
          </a:p>
          <a:p>
            <a:pPr algn="l">
              <a:lnSpc>
                <a:spcPct val="115000"/>
              </a:lnSpc>
              <a:spcAft>
                <a:spcPts val="700"/>
              </a:spcAft>
            </a:pPr>
            <a:r>
              <a:rPr sz="1250" b="0" i="0">
                <a:solidFill>
                  <a:srgbClr val="334050"/>
                </a:solidFill>
                <a:latin typeface="Segoe UI"/>
                <a:ea typeface="Segoe UI"/>
              </a:rPr>
              <a:t>▪  Latent attention layer: a final attention layer aggregates variable-length token states into one fixed vector, replacing mean pooling and removing the causal mask so tokens see each other bidirectionally</a:t>
            </a:r>
          </a:p>
          <a:p>
            <a:pPr algn="l">
              <a:lnSpc>
                <a:spcPct val="115000"/>
              </a:lnSpc>
              <a:spcAft>
                <a:spcPts val="700"/>
              </a:spcAft>
            </a:pPr>
            <a:r>
              <a:rPr sz="1250" b="0" i="0">
                <a:solidFill>
                  <a:srgbClr val="334050"/>
                </a:solidFill>
                <a:latin typeface="Segoe UI"/>
                <a:ea typeface="Segoe UI"/>
              </a:rPr>
              <a:t>▪  Two-stage contrastive training: stage 1 on large weakly supervised data mixing retrieval and non-retrieval tasks; stage 2 on high-quality curated data</a:t>
            </a:r>
          </a:p>
        </p:txBody>
      </p:sp>
      <p:sp>
        <p:nvSpPr>
          <p:cNvPr id="10" name="Rounded Rectangle 9"/>
          <p:cNvSpPr/>
          <p:nvPr/>
        </p:nvSpPr>
        <p:spPr>
          <a:xfrm>
            <a:off x="566928" y="4590288"/>
            <a:ext cx="5760720" cy="2103120"/>
          </a:xfrm>
          <a:prstGeom prst="roundRect">
            <a:avLst>
              <a:gd name="adj" fmla="val 3000"/>
            </a:avLst>
          </a:prstGeom>
          <a:solidFill>
            <a:srgbClr val="F7F9FC"/>
          </a:solidFill>
          <a:ln w="12700">
            <a:solidFill>
              <a:srgbClr val="BBC7D6"/>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 name="TextBox 10"/>
          <p:cNvSpPr txBox="1"/>
          <p:nvPr/>
        </p:nvSpPr>
        <p:spPr>
          <a:xfrm>
            <a:off x="786384" y="4718304"/>
            <a:ext cx="5303520" cy="1828800"/>
          </a:xfrm>
          <a:prstGeom prst="rect">
            <a:avLst/>
          </a:prstGeom>
          <a:noFill/>
        </p:spPr>
        <p:txBody>
          <a:bodyPr wrap="square" lIns="0" tIns="0" rIns="0" bIns="0">
            <a:spAutoFit/>
          </a:bodyPr>
          <a:lstStyle/>
          <a:p>
            <a:pPr algn="l">
              <a:lnSpc>
                <a:spcPct val="120000"/>
              </a:lnSpc>
              <a:spcAft>
                <a:spcPts val="500"/>
              </a:spcAft>
            </a:pPr>
            <a:r>
              <a:rPr sz="1300" b="1" i="0">
                <a:solidFill>
                  <a:srgbClr val="C0502A"/>
                </a:solidFill>
                <a:latin typeface="Segoe UI"/>
                <a:ea typeface="Segoe UI"/>
              </a:rPr>
              <a:t>The counterintuitive part: stage 2 drops in-batch negatives</a:t>
            </a:r>
          </a:p>
          <a:p>
            <a:pPr algn="l">
              <a:lnSpc>
                <a:spcPct val="118000"/>
              </a:lnSpc>
              <a:spcAft>
                <a:spcPts val="0"/>
              </a:spcAft>
            </a:pPr>
            <a:r>
              <a:rPr sz="1150" b="0" i="0">
                <a:solidFill>
                  <a:srgbClr val="334050"/>
                </a:solidFill>
                <a:latin typeface="Segoe UI"/>
                <a:ea typeface="Segoe UI"/>
              </a:rPr>
              <a:t>Switching stage 2 to alternative negatives (other positives of the same query in the batch, or across-device negatives) worked better. When the backbone is strong and the data is clean, naive in-batch negatives inject false-negative noise.</a:t>
            </a:r>
          </a:p>
        </p:txBody>
      </p:sp>
      <p:sp>
        <p:nvSpPr>
          <p:cNvPr id="12" name="Rounded Rectangle 11"/>
          <p:cNvSpPr/>
          <p:nvPr/>
        </p:nvSpPr>
        <p:spPr>
          <a:xfrm>
            <a:off x="6693408" y="1938528"/>
            <a:ext cx="4931359" cy="4754880"/>
          </a:xfrm>
          <a:prstGeom prst="roundRect">
            <a:avLst>
              <a:gd name="adj" fmla="val 3000"/>
            </a:avLst>
          </a:prstGeom>
          <a:solidFill>
            <a:srgbClr val="F7F9FC"/>
          </a:solidFill>
          <a:ln w="12700">
            <a:solidFill>
              <a:srgbClr val="BBC7D6"/>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3" name="TextBox 12"/>
          <p:cNvSpPr txBox="1"/>
          <p:nvPr/>
        </p:nvSpPr>
        <p:spPr>
          <a:xfrm>
            <a:off x="6894576" y="2103120"/>
            <a:ext cx="4529023" cy="4425696"/>
          </a:xfrm>
          <a:prstGeom prst="rect">
            <a:avLst/>
          </a:prstGeom>
          <a:noFill/>
        </p:spPr>
        <p:txBody>
          <a:bodyPr wrap="square" lIns="0" tIns="0" rIns="0" bIns="0">
            <a:spAutoFit/>
          </a:bodyPr>
          <a:lstStyle/>
          <a:p>
            <a:pPr algn="l">
              <a:lnSpc>
                <a:spcPct val="120000"/>
              </a:lnSpc>
              <a:spcAft>
                <a:spcPts val="400"/>
              </a:spcAft>
            </a:pPr>
            <a:r>
              <a:rPr sz="1300" b="1" i="0">
                <a:solidFill>
                  <a:srgbClr val="1F5CA8"/>
                </a:solidFill>
                <a:latin typeface="Segoe UI"/>
                <a:ea typeface="Segoe UI"/>
              </a:rPr>
              <a:t>Placeholder: latent attention diagram + MTEB scores</a:t>
            </a:r>
          </a:p>
          <a:p>
            <a:pPr algn="l">
              <a:lnSpc>
                <a:spcPct val="120000"/>
              </a:lnSpc>
              <a:spcAft>
                <a:spcPts val="0"/>
              </a:spcAft>
            </a:pPr>
            <a:r>
              <a:rPr sz="1150" b="0" i="0">
                <a:solidFill>
                  <a:srgbClr val="7A8696"/>
                </a:solidFill>
                <a:latin typeface="Segoe UI"/>
                <a:ea typeface="Segoe UI"/>
              </a:rPr>
              <a:t>Suggested: LLM hidden states → latent attention (a learned query vector doing cross-attention) → single embedding; next to it, the paper's MTEB average and task count</a:t>
            </a:r>
          </a:p>
          <a:p>
            <a:pPr algn="l">
              <a:lnSpc>
                <a:spcPct val="120000"/>
              </a:lnSpc>
              <a:spcAft>
                <a:spcPts val="200"/>
              </a:spcAft>
            </a:pPr>
            <a:r>
              <a:rPr sz="1150" b="0" i="0">
                <a:solidFill>
                  <a:srgbClr val="BBC7D6"/>
                </a:solidFill>
                <a:latin typeface="Segoe UI"/>
                <a:ea typeface="Segoe UI"/>
              </a:rPr>
              <a:t>· </a:t>
            </a:r>
          </a:p>
          <a:p>
            <a:pPr algn="l">
              <a:lnSpc>
                <a:spcPct val="120000"/>
              </a:lnSpc>
              <a:spcAft>
                <a:spcPts val="200"/>
              </a:spcAft>
            </a:pPr>
            <a:r>
              <a:rPr sz="1150" b="0" i="0">
                <a:solidFill>
                  <a:srgbClr val="BBC7D6"/>
                </a:solidFill>
                <a:latin typeface="Segoe UI"/>
                <a:ea typeface="Segoe UI"/>
              </a:rPr>
              <a:t>· </a:t>
            </a:r>
          </a:p>
          <a:p>
            <a:pPr algn="l">
              <a:lnSpc>
                <a:spcPct val="120000"/>
              </a:lnSpc>
              <a:spcAft>
                <a:spcPts val="200"/>
              </a:spcAft>
            </a:pPr>
            <a:r>
              <a:rPr sz="1150" b="0" i="0">
                <a:solidFill>
                  <a:srgbClr val="BBC7D6"/>
                </a:solidFill>
                <a:latin typeface="Segoe UI"/>
                <a:ea typeface="Segoe UI"/>
              </a:rPr>
              <a:t>· </a:t>
            </a:r>
          </a:p>
          <a:p>
            <a:pPr algn="l">
              <a:lnSpc>
                <a:spcPct val="120000"/>
              </a:lnSpc>
              <a:spcAft>
                <a:spcPts val="200"/>
              </a:spcAft>
            </a:pPr>
            <a:r>
              <a:rPr sz="1150" b="0" i="0">
                <a:solidFill>
                  <a:srgbClr val="BBC7D6"/>
                </a:solidFill>
                <a:latin typeface="Segoe UI"/>
                <a:ea typeface="Segoe UI"/>
              </a:rPr>
              <a:t>· </a:t>
            </a:r>
          </a:p>
          <a:p>
            <a:pPr algn="l">
              <a:lnSpc>
                <a:spcPct val="120000"/>
              </a:lnSpc>
              <a:spcAft>
                <a:spcPts val="200"/>
              </a:spcAft>
            </a:pPr>
            <a:r>
              <a:rPr sz="1150" b="0" i="0">
                <a:solidFill>
                  <a:srgbClr val="BBC7D6"/>
                </a:solidFill>
                <a:latin typeface="Segoe UI"/>
                <a:ea typeface="Segoe UI"/>
              </a:rPr>
              <a:t>· </a:t>
            </a:r>
          </a:p>
          <a:p>
            <a:pPr algn="l">
              <a:lnSpc>
                <a:spcPct val="120000"/>
              </a:lnSpc>
              <a:spcAft>
                <a:spcPts val="200"/>
              </a:spcAft>
            </a:pPr>
            <a:r>
              <a:rPr sz="1150" b="0" i="0">
                <a:solidFill>
                  <a:srgbClr val="BBC7D6"/>
                </a:solidFill>
                <a:latin typeface="Segoe UI"/>
                <a:ea typeface="Segoe UI"/>
              </a:rPr>
              <a:t>· </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7724"/>
          </a:xfrm>
          <a:prstGeom prst="rect">
            <a:avLst/>
          </a:prstGeom>
          <a:solidFill>
            <a:srgbClr val="1F5CA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TextBox 2"/>
          <p:cNvSpPr txBox="1"/>
          <p:nvPr/>
        </p:nvSpPr>
        <p:spPr>
          <a:xfrm>
            <a:off x="566928" y="310896"/>
            <a:ext cx="8595360" cy="274320"/>
          </a:xfrm>
          <a:prstGeom prst="rect">
            <a:avLst/>
          </a:prstGeom>
          <a:noFill/>
        </p:spPr>
        <p:txBody>
          <a:bodyPr wrap="square" lIns="0" tIns="0" rIns="0" bIns="0">
            <a:spAutoFit/>
          </a:bodyPr>
          <a:lstStyle/>
          <a:p>
            <a:pPr algn="l">
              <a:lnSpc>
                <a:spcPct val="120000"/>
              </a:lnSpc>
              <a:spcAft>
                <a:spcPts val="0"/>
              </a:spcAft>
            </a:pPr>
            <a:r>
              <a:rPr sz="1050" b="1" i="0">
                <a:solidFill>
                  <a:srgbClr val="1F5CA8"/>
                </a:solidFill>
                <a:latin typeface="Segoe UI"/>
                <a:ea typeface="Segoe UI"/>
              </a:rPr>
              <a:t>PART 1 · EMBEDDING MODEL: QWEN3-EMBEDDING</a:t>
            </a:r>
          </a:p>
        </p:txBody>
      </p:sp>
      <p:sp>
        <p:nvSpPr>
          <p:cNvPr id="4" name="TextBox 3"/>
          <p:cNvSpPr txBox="1"/>
          <p:nvPr/>
        </p:nvSpPr>
        <p:spPr>
          <a:xfrm>
            <a:off x="10161727" y="310896"/>
            <a:ext cx="1463040" cy="274320"/>
          </a:xfrm>
          <a:prstGeom prst="rect">
            <a:avLst/>
          </a:prstGeom>
          <a:noFill/>
        </p:spPr>
        <p:txBody>
          <a:bodyPr wrap="square" lIns="0" tIns="0" rIns="0" bIns="0">
            <a:spAutoFit/>
          </a:bodyPr>
          <a:lstStyle/>
          <a:p>
            <a:pPr algn="r">
              <a:lnSpc>
                <a:spcPct val="120000"/>
              </a:lnSpc>
              <a:spcAft>
                <a:spcPts val="0"/>
              </a:spcAft>
            </a:pPr>
            <a:r>
              <a:rPr sz="1050" b="0" i="0">
                <a:solidFill>
                  <a:srgbClr val="7A8696"/>
                </a:solidFill>
                <a:latin typeface="Segoe UI"/>
                <a:ea typeface="Segoe UI"/>
              </a:rPr>
              <a:t>16</a:t>
            </a:r>
          </a:p>
        </p:txBody>
      </p:sp>
      <p:sp>
        <p:nvSpPr>
          <p:cNvPr id="5" name="TextBox 4"/>
          <p:cNvSpPr txBox="1"/>
          <p:nvPr/>
        </p:nvSpPr>
        <p:spPr>
          <a:xfrm>
            <a:off x="566928" y="658368"/>
            <a:ext cx="11057839" cy="658368"/>
          </a:xfrm>
          <a:prstGeom prst="rect">
            <a:avLst/>
          </a:prstGeom>
          <a:noFill/>
        </p:spPr>
        <p:txBody>
          <a:bodyPr wrap="square" lIns="0" tIns="0" rIns="0" bIns="0">
            <a:spAutoFit/>
          </a:bodyPr>
          <a:lstStyle/>
          <a:p>
            <a:pPr algn="l">
              <a:lnSpc>
                <a:spcPct val="120000"/>
              </a:lnSpc>
              <a:spcAft>
                <a:spcPts val="0"/>
              </a:spcAft>
            </a:pPr>
            <a:r>
              <a:rPr sz="2700" b="1" i="0">
                <a:solidFill>
                  <a:srgbClr val="1B2533"/>
                </a:solidFill>
                <a:latin typeface="Segoe UI"/>
                <a:ea typeface="Segoe UI"/>
              </a:rPr>
              <a:t>Qwen3-Embedding: one backbone, two models</a:t>
            </a:r>
          </a:p>
        </p:txBody>
      </p:sp>
      <p:sp>
        <p:nvSpPr>
          <p:cNvPr id="6" name="Rectangle 5"/>
          <p:cNvSpPr/>
          <p:nvPr/>
        </p:nvSpPr>
        <p:spPr>
          <a:xfrm>
            <a:off x="566928" y="1371600"/>
            <a:ext cx="1051560" cy="50292"/>
          </a:xfrm>
          <a:prstGeom prst="rect">
            <a:avLst/>
          </a:prstGeom>
          <a:solidFill>
            <a:srgbClr val="1F5CA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 name="TextBox 6"/>
          <p:cNvSpPr txBox="1"/>
          <p:nvPr/>
        </p:nvSpPr>
        <p:spPr>
          <a:xfrm>
            <a:off x="566928" y="1517904"/>
            <a:ext cx="11057839" cy="329184"/>
          </a:xfrm>
          <a:prstGeom prst="rect">
            <a:avLst/>
          </a:prstGeom>
          <a:noFill/>
        </p:spPr>
        <p:txBody>
          <a:bodyPr wrap="square" lIns="0" tIns="0" rIns="0" bIns="0">
            <a:spAutoFit/>
          </a:bodyPr>
          <a:lstStyle/>
          <a:p>
            <a:pPr algn="l">
              <a:lnSpc>
                <a:spcPct val="120000"/>
              </a:lnSpc>
              <a:spcAft>
                <a:spcPts val="0"/>
              </a:spcAft>
            </a:pPr>
            <a:r>
              <a:rPr sz="1300" b="0" i="0">
                <a:solidFill>
                  <a:srgbClr val="7A8696"/>
                </a:solidFill>
                <a:latin typeface="Segoe UI"/>
                <a:ea typeface="Segoe UI"/>
              </a:rPr>
              <a:t>Unifying embedding and reranking on a single LLM base</a:t>
            </a:r>
          </a:p>
        </p:txBody>
      </p:sp>
      <p:sp>
        <p:nvSpPr>
          <p:cNvPr id="8" name="Rounded Rectangle 7"/>
          <p:cNvSpPr/>
          <p:nvPr/>
        </p:nvSpPr>
        <p:spPr>
          <a:xfrm>
            <a:off x="566928" y="1938528"/>
            <a:ext cx="5760720" cy="4754880"/>
          </a:xfrm>
          <a:prstGeom prst="roundRect">
            <a:avLst>
              <a:gd name="adj" fmla="val 3000"/>
            </a:avLst>
          </a:prstGeom>
          <a:noFill/>
          <a:ln w="12700">
            <a:solidFill>
              <a:srgbClr val="D8DEE6"/>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TextBox 8"/>
          <p:cNvSpPr txBox="1"/>
          <p:nvPr/>
        </p:nvSpPr>
        <p:spPr>
          <a:xfrm>
            <a:off x="804672" y="2139696"/>
            <a:ext cx="5303520" cy="3566160"/>
          </a:xfrm>
          <a:prstGeom prst="rect">
            <a:avLst/>
          </a:prstGeom>
          <a:noFill/>
        </p:spPr>
        <p:txBody>
          <a:bodyPr wrap="square" lIns="0" tIns="0" rIns="0" bIns="0">
            <a:spAutoFit/>
          </a:bodyPr>
          <a:lstStyle/>
          <a:p>
            <a:pPr algn="l">
              <a:lnSpc>
                <a:spcPct val="120000"/>
              </a:lnSpc>
              <a:spcAft>
                <a:spcPts val="800"/>
              </a:spcAft>
            </a:pPr>
            <a:r>
              <a:rPr sz="1500" b="1" i="0">
                <a:solidFill>
                  <a:srgbClr val="1F5CA8"/>
                </a:solidFill>
                <a:latin typeface="Segoe UI"/>
                <a:ea typeface="Segoe UI"/>
              </a:rPr>
              <a:t>Family and capabilities</a:t>
            </a:r>
          </a:p>
          <a:p>
            <a:pPr algn="l">
              <a:lnSpc>
                <a:spcPct val="115000"/>
              </a:lnSpc>
              <a:spcAft>
                <a:spcPts val="700"/>
              </a:spcAft>
            </a:pPr>
            <a:r>
              <a:rPr sz="1300" b="0" i="0">
                <a:solidFill>
                  <a:srgbClr val="334050"/>
                </a:solidFill>
                <a:latin typeface="Segoe UI"/>
                <a:ea typeface="Segoe UI"/>
              </a:rPr>
              <a:t>▪  Sizes: 0.6B / 4B / 8B embedders, with matching reranker variants</a:t>
            </a:r>
          </a:p>
          <a:p>
            <a:pPr algn="l">
              <a:lnSpc>
                <a:spcPct val="115000"/>
              </a:lnSpc>
              <a:spcAft>
                <a:spcPts val="700"/>
              </a:spcAft>
            </a:pPr>
            <a:r>
              <a:rPr sz="1300" b="0" i="0">
                <a:solidFill>
                  <a:srgbClr val="334050"/>
                </a:solidFill>
                <a:latin typeface="Segoe UI"/>
                <a:ea typeface="Segoe UI"/>
              </a:rPr>
              <a:t>▪  Initialized from the Qwen3 LLM family, inheriting multilingual and long-context ability</a:t>
            </a:r>
          </a:p>
          <a:p>
            <a:pPr algn="l">
              <a:lnSpc>
                <a:spcPct val="115000"/>
              </a:lnSpc>
              <a:spcAft>
                <a:spcPts val="700"/>
              </a:spcAft>
            </a:pPr>
            <a:r>
              <a:rPr sz="1300" b="0" i="0">
                <a:solidFill>
                  <a:srgbClr val="334050"/>
                </a:solidFill>
                <a:latin typeface="Segoe UI"/>
                <a:ea typeface="Segoe UI"/>
              </a:rPr>
              <a:t>▪  Long context: 32k tokens; configurable embedding dimension (commonly 1024 / 2560 / 4096, trimmable lower)</a:t>
            </a:r>
          </a:p>
          <a:p>
            <a:pPr algn="l">
              <a:lnSpc>
                <a:spcPct val="115000"/>
              </a:lnSpc>
              <a:spcAft>
                <a:spcPts val="700"/>
              </a:spcAft>
            </a:pPr>
            <a:r>
              <a:rPr sz="1300" b="0" i="0">
                <a:solidFill>
                  <a:srgbClr val="334050"/>
                </a:solidFill>
                <a:latin typeface="Segoe UI"/>
                <a:ea typeface="Segoe UI"/>
              </a:rPr>
              <a:t>▪  100+ natural languages plus programming languages, across retrieval, clustering, classification and bitext mining</a:t>
            </a:r>
          </a:p>
          <a:p>
            <a:pPr algn="l">
              <a:lnSpc>
                <a:spcPct val="120000"/>
              </a:lnSpc>
              <a:spcAft>
                <a:spcPts val="600"/>
              </a:spcAft>
            </a:pPr>
            <a:r>
              <a:rPr sz="1400" b="1" i="0">
                <a:solidFill>
                  <a:srgbClr val="1F5CA8"/>
                </a:solidFill>
                <a:latin typeface="Segoe UI"/>
                <a:ea typeface="Segoe UI"/>
              </a:rPr>
              <a:t>Design idea: embedder and reranker share a base</a:t>
            </a:r>
          </a:p>
          <a:p>
            <a:pPr algn="l">
              <a:lnSpc>
                <a:spcPct val="115000"/>
              </a:lnSpc>
              <a:spcAft>
                <a:spcPts val="700"/>
              </a:spcAft>
            </a:pPr>
            <a:r>
              <a:rPr sz="1250" b="0" i="0">
                <a:solidFill>
                  <a:srgbClr val="334050"/>
                </a:solidFill>
                <a:latin typeface="Segoe UI"/>
                <a:ea typeface="Segoe UI"/>
              </a:rPr>
              <a:t>▪  Same backbone, different output head and concatenation pattern for the two roles</a:t>
            </a:r>
          </a:p>
          <a:p>
            <a:pPr algn="l">
              <a:lnSpc>
                <a:spcPct val="115000"/>
              </a:lnSpc>
              <a:spcAft>
                <a:spcPts val="700"/>
              </a:spcAft>
            </a:pPr>
            <a:r>
              <a:rPr sz="1250" b="0" i="0">
                <a:solidFill>
                  <a:srgbClr val="334050"/>
                </a:solidFill>
                <a:latin typeface="Segoe UI"/>
                <a:ea typeface="Segoe UI"/>
              </a:rPr>
              <a:t>▪  Benefit: training signal transfers between them, and production can reuse one serving stack</a:t>
            </a:r>
          </a:p>
        </p:txBody>
      </p:sp>
      <p:sp>
        <p:nvSpPr>
          <p:cNvPr id="10" name="Rounded Rectangle 9"/>
          <p:cNvSpPr/>
          <p:nvPr/>
        </p:nvSpPr>
        <p:spPr>
          <a:xfrm>
            <a:off x="6693408" y="1938528"/>
            <a:ext cx="4931359" cy="4754880"/>
          </a:xfrm>
          <a:prstGeom prst="roundRect">
            <a:avLst>
              <a:gd name="adj" fmla="val 3000"/>
            </a:avLst>
          </a:prstGeom>
          <a:solidFill>
            <a:srgbClr val="F7F9FC"/>
          </a:solidFill>
          <a:ln w="12700">
            <a:solidFill>
              <a:srgbClr val="BBC7D6"/>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 name="TextBox 10"/>
          <p:cNvSpPr txBox="1"/>
          <p:nvPr/>
        </p:nvSpPr>
        <p:spPr>
          <a:xfrm>
            <a:off x="6894576" y="2103120"/>
            <a:ext cx="4529023" cy="4425696"/>
          </a:xfrm>
          <a:prstGeom prst="rect">
            <a:avLst/>
          </a:prstGeom>
          <a:noFill/>
        </p:spPr>
        <p:txBody>
          <a:bodyPr wrap="square" lIns="0" tIns="0" rIns="0" bIns="0">
            <a:spAutoFit/>
          </a:bodyPr>
          <a:lstStyle/>
          <a:p>
            <a:pPr algn="l">
              <a:lnSpc>
                <a:spcPct val="120000"/>
              </a:lnSpc>
              <a:spcAft>
                <a:spcPts val="400"/>
              </a:spcAft>
            </a:pPr>
            <a:r>
              <a:rPr sz="1300" b="1" i="0">
                <a:solidFill>
                  <a:srgbClr val="1F5CA8"/>
                </a:solidFill>
                <a:latin typeface="Segoe UI"/>
                <a:ea typeface="Segoe UI"/>
              </a:rPr>
              <a:t>Placeholder: spec table + benchmark scores</a:t>
            </a:r>
          </a:p>
          <a:p>
            <a:pPr algn="l">
              <a:lnSpc>
                <a:spcPct val="120000"/>
              </a:lnSpc>
              <a:spcAft>
                <a:spcPts val="0"/>
              </a:spcAft>
            </a:pPr>
            <a:r>
              <a:rPr sz="1150" b="0" i="0">
                <a:solidFill>
                  <a:srgbClr val="7A8696"/>
                </a:solidFill>
                <a:latin typeface="Segoe UI"/>
                <a:ea typeface="Segoe UI"/>
              </a:rPr>
              <a:t>Suggested: dimension, layers and context length for 0.6B / 4B / 8B, plus MTEB Multilingual and MTEB Code scores</a:t>
            </a:r>
          </a:p>
          <a:p>
            <a:pPr algn="l">
              <a:lnSpc>
                <a:spcPct val="120000"/>
              </a:lnSpc>
              <a:spcAft>
                <a:spcPts val="200"/>
              </a:spcAft>
            </a:pPr>
            <a:r>
              <a:rPr sz="1150" b="0" i="0">
                <a:solidFill>
                  <a:srgbClr val="BBC7D6"/>
                </a:solidFill>
                <a:latin typeface="Segoe UI"/>
                <a:ea typeface="Segoe UI"/>
              </a:rPr>
              <a:t>· </a:t>
            </a:r>
          </a:p>
          <a:p>
            <a:pPr algn="l">
              <a:lnSpc>
                <a:spcPct val="120000"/>
              </a:lnSpc>
              <a:spcAft>
                <a:spcPts val="200"/>
              </a:spcAft>
            </a:pPr>
            <a:r>
              <a:rPr sz="1150" b="0" i="0">
                <a:solidFill>
                  <a:srgbClr val="BBC7D6"/>
                </a:solidFill>
                <a:latin typeface="Segoe UI"/>
                <a:ea typeface="Segoe UI"/>
              </a:rPr>
              <a:t>· </a:t>
            </a:r>
          </a:p>
          <a:p>
            <a:pPr algn="l">
              <a:lnSpc>
                <a:spcPct val="120000"/>
              </a:lnSpc>
              <a:spcAft>
                <a:spcPts val="200"/>
              </a:spcAft>
            </a:pPr>
            <a:r>
              <a:rPr sz="1150" b="0" i="0">
                <a:solidFill>
                  <a:srgbClr val="BBC7D6"/>
                </a:solidFill>
                <a:latin typeface="Segoe UI"/>
                <a:ea typeface="Segoe UI"/>
              </a:rPr>
              <a:t>· </a:t>
            </a:r>
          </a:p>
          <a:p>
            <a:pPr algn="l">
              <a:lnSpc>
                <a:spcPct val="120000"/>
              </a:lnSpc>
              <a:spcAft>
                <a:spcPts val="200"/>
              </a:spcAft>
            </a:pPr>
            <a:r>
              <a:rPr sz="1150" b="0" i="0">
                <a:solidFill>
                  <a:srgbClr val="BBC7D6"/>
                </a:solidFill>
                <a:latin typeface="Segoe UI"/>
                <a:ea typeface="Segoe UI"/>
              </a:rPr>
              <a:t>· </a:t>
            </a:r>
          </a:p>
          <a:p>
            <a:pPr algn="l">
              <a:lnSpc>
                <a:spcPct val="120000"/>
              </a:lnSpc>
              <a:spcAft>
                <a:spcPts val="200"/>
              </a:spcAft>
            </a:pPr>
            <a:r>
              <a:rPr sz="1150" b="0" i="0">
                <a:solidFill>
                  <a:srgbClr val="BBC7D6"/>
                </a:solidFill>
                <a:latin typeface="Segoe UI"/>
                <a:ea typeface="Segoe UI"/>
              </a:rPr>
              <a:t>· </a:t>
            </a:r>
          </a:p>
          <a:p>
            <a:pPr algn="l">
              <a:lnSpc>
                <a:spcPct val="120000"/>
              </a:lnSpc>
              <a:spcAft>
                <a:spcPts val="200"/>
              </a:spcAft>
            </a:pPr>
            <a:r>
              <a:rPr sz="1150" b="0" i="0">
                <a:solidFill>
                  <a:srgbClr val="BBC7D6"/>
                </a:solidFill>
                <a:latin typeface="Segoe UI"/>
                <a:ea typeface="Segoe UI"/>
              </a:rPr>
              <a:t>· </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7724"/>
          </a:xfrm>
          <a:prstGeom prst="rect">
            <a:avLst/>
          </a:prstGeom>
          <a:solidFill>
            <a:srgbClr val="1F5CA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TextBox 2"/>
          <p:cNvSpPr txBox="1"/>
          <p:nvPr/>
        </p:nvSpPr>
        <p:spPr>
          <a:xfrm>
            <a:off x="566928" y="310896"/>
            <a:ext cx="8595360" cy="274320"/>
          </a:xfrm>
          <a:prstGeom prst="rect">
            <a:avLst/>
          </a:prstGeom>
          <a:noFill/>
        </p:spPr>
        <p:txBody>
          <a:bodyPr wrap="square" lIns="0" tIns="0" rIns="0" bIns="0">
            <a:spAutoFit/>
          </a:bodyPr>
          <a:lstStyle/>
          <a:p>
            <a:pPr algn="l">
              <a:lnSpc>
                <a:spcPct val="120000"/>
              </a:lnSpc>
              <a:spcAft>
                <a:spcPts val="0"/>
              </a:spcAft>
            </a:pPr>
            <a:r>
              <a:rPr sz="1050" b="1" i="0">
                <a:solidFill>
                  <a:srgbClr val="1F5CA8"/>
                </a:solidFill>
                <a:latin typeface="Segoe UI"/>
                <a:ea typeface="Segoe UI"/>
              </a:rPr>
              <a:t>PART 1 · EMBEDDING MODEL: QWEN3-EMBEDDING</a:t>
            </a:r>
          </a:p>
        </p:txBody>
      </p:sp>
      <p:sp>
        <p:nvSpPr>
          <p:cNvPr id="4" name="TextBox 3"/>
          <p:cNvSpPr txBox="1"/>
          <p:nvPr/>
        </p:nvSpPr>
        <p:spPr>
          <a:xfrm>
            <a:off x="10161727" y="310896"/>
            <a:ext cx="1463040" cy="274320"/>
          </a:xfrm>
          <a:prstGeom prst="rect">
            <a:avLst/>
          </a:prstGeom>
          <a:noFill/>
        </p:spPr>
        <p:txBody>
          <a:bodyPr wrap="square" lIns="0" tIns="0" rIns="0" bIns="0">
            <a:spAutoFit/>
          </a:bodyPr>
          <a:lstStyle/>
          <a:p>
            <a:pPr algn="r">
              <a:lnSpc>
                <a:spcPct val="120000"/>
              </a:lnSpc>
              <a:spcAft>
                <a:spcPts val="0"/>
              </a:spcAft>
            </a:pPr>
            <a:r>
              <a:rPr sz="1050" b="0" i="0">
                <a:solidFill>
                  <a:srgbClr val="7A8696"/>
                </a:solidFill>
                <a:latin typeface="Segoe UI"/>
                <a:ea typeface="Segoe UI"/>
              </a:rPr>
              <a:t>17</a:t>
            </a:r>
          </a:p>
        </p:txBody>
      </p:sp>
      <p:sp>
        <p:nvSpPr>
          <p:cNvPr id="5" name="TextBox 4"/>
          <p:cNvSpPr txBox="1"/>
          <p:nvPr/>
        </p:nvSpPr>
        <p:spPr>
          <a:xfrm>
            <a:off x="566928" y="658368"/>
            <a:ext cx="11057839" cy="658368"/>
          </a:xfrm>
          <a:prstGeom prst="rect">
            <a:avLst/>
          </a:prstGeom>
          <a:noFill/>
        </p:spPr>
        <p:txBody>
          <a:bodyPr wrap="square" lIns="0" tIns="0" rIns="0" bIns="0">
            <a:spAutoFit/>
          </a:bodyPr>
          <a:lstStyle/>
          <a:p>
            <a:pPr algn="l">
              <a:lnSpc>
                <a:spcPct val="120000"/>
              </a:lnSpc>
              <a:spcAft>
                <a:spcPts val="0"/>
              </a:spcAft>
            </a:pPr>
            <a:r>
              <a:rPr sz="2700" b="1" i="0">
                <a:solidFill>
                  <a:srgbClr val="1B2533"/>
                </a:solidFill>
                <a:latin typeface="Segoe UI"/>
                <a:ea typeface="Segoe UI"/>
              </a:rPr>
              <a:t>Input format, reranker, and training loss</a:t>
            </a:r>
          </a:p>
        </p:txBody>
      </p:sp>
      <p:sp>
        <p:nvSpPr>
          <p:cNvPr id="6" name="Rectangle 5"/>
          <p:cNvSpPr/>
          <p:nvPr/>
        </p:nvSpPr>
        <p:spPr>
          <a:xfrm>
            <a:off x="566928" y="1371600"/>
            <a:ext cx="1051560" cy="50292"/>
          </a:xfrm>
          <a:prstGeom prst="rect">
            <a:avLst/>
          </a:prstGeom>
          <a:solidFill>
            <a:srgbClr val="1F5CA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 name="TextBox 6"/>
          <p:cNvSpPr txBox="1"/>
          <p:nvPr/>
        </p:nvSpPr>
        <p:spPr>
          <a:xfrm>
            <a:off x="566928" y="1517904"/>
            <a:ext cx="11057839" cy="329184"/>
          </a:xfrm>
          <a:prstGeom prst="rect">
            <a:avLst/>
          </a:prstGeom>
          <a:noFill/>
        </p:spPr>
        <p:txBody>
          <a:bodyPr wrap="square" lIns="0" tIns="0" rIns="0" bIns="0">
            <a:spAutoFit/>
          </a:bodyPr>
          <a:lstStyle/>
          <a:p>
            <a:pPr algn="l">
              <a:lnSpc>
                <a:spcPct val="120000"/>
              </a:lnSpc>
              <a:spcAft>
                <a:spcPts val="0"/>
              </a:spcAft>
            </a:pPr>
            <a:r>
              <a:rPr sz="1300" b="0" i="0">
                <a:solidFill>
                  <a:srgbClr val="7A8696"/>
                </a:solidFill>
                <a:latin typeface="Segoe UI"/>
                <a:ea typeface="Segoe UI"/>
              </a:rPr>
              <a:t>EOS pooling for embeddings, a Yes/No token for reranking</a:t>
            </a:r>
          </a:p>
        </p:txBody>
      </p:sp>
      <p:sp>
        <p:nvSpPr>
          <p:cNvPr id="8" name="Rounded Rectangle 7"/>
          <p:cNvSpPr/>
          <p:nvPr/>
        </p:nvSpPr>
        <p:spPr>
          <a:xfrm>
            <a:off x="566928" y="1938528"/>
            <a:ext cx="5669280" cy="2331720"/>
          </a:xfrm>
          <a:prstGeom prst="roundRect">
            <a:avLst>
              <a:gd name="adj" fmla="val 3000"/>
            </a:avLst>
          </a:prstGeom>
          <a:solidFill>
            <a:srgbClr val="F7F9FC"/>
          </a:solidFill>
          <a:ln w="12700">
            <a:solidFill>
              <a:srgbClr val="BBC7D6"/>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TextBox 8"/>
          <p:cNvSpPr txBox="1"/>
          <p:nvPr/>
        </p:nvSpPr>
        <p:spPr>
          <a:xfrm>
            <a:off x="786384" y="2103120"/>
            <a:ext cx="5212080" cy="2011680"/>
          </a:xfrm>
          <a:prstGeom prst="rect">
            <a:avLst/>
          </a:prstGeom>
          <a:noFill/>
        </p:spPr>
        <p:txBody>
          <a:bodyPr wrap="square" lIns="0" tIns="0" rIns="0" bIns="0">
            <a:spAutoFit/>
          </a:bodyPr>
          <a:lstStyle/>
          <a:p>
            <a:pPr algn="l">
              <a:lnSpc>
                <a:spcPct val="120000"/>
              </a:lnSpc>
              <a:spcAft>
                <a:spcPts val="600"/>
              </a:spcAft>
            </a:pPr>
            <a:r>
              <a:rPr sz="1400" b="1" i="0">
                <a:solidFill>
                  <a:srgbClr val="1F5CA8"/>
                </a:solidFill>
                <a:latin typeface="Segoe UI"/>
                <a:ea typeface="Segoe UI"/>
              </a:rPr>
              <a:t>Embedding model: input → EOS pooling</a:t>
            </a:r>
          </a:p>
          <a:p>
            <a:pPr algn="l">
              <a:lnSpc>
                <a:spcPct val="125000"/>
              </a:lnSpc>
              <a:spcAft>
                <a:spcPts val="500"/>
              </a:spcAft>
            </a:pPr>
            <a:r>
              <a:rPr sz="1250" b="1" i="0">
                <a:solidFill>
                  <a:srgbClr val="1B2533"/>
                </a:solidFill>
                <a:latin typeface="Consolas"/>
                <a:ea typeface="Consolas"/>
              </a:rPr>
              <a:t>{Inst}{Q}&lt;EOS&gt;</a:t>
            </a:r>
            <a:r>
              <a:rPr sz="1250" b="0" i="0">
                <a:solidFill>
                  <a:srgbClr val="7A8696"/>
                </a:solidFill>
                <a:latin typeface="Segoe UI"/>
                <a:ea typeface="Segoe UI"/>
              </a:rPr>
              <a:t>   →   </a:t>
            </a:r>
            <a:r>
              <a:rPr sz="1250" b="0" i="0">
                <a:solidFill>
                  <a:srgbClr val="334050"/>
                </a:solidFill>
                <a:latin typeface="Segoe UI"/>
                <a:ea typeface="Segoe UI"/>
              </a:rPr>
              <a:t>take the hidden state at &lt;EOS&gt; as the sentence vector</a:t>
            </a:r>
          </a:p>
          <a:p>
            <a:pPr algn="l">
              <a:lnSpc>
                <a:spcPct val="118000"/>
              </a:lnSpc>
              <a:spcAft>
                <a:spcPts val="0"/>
              </a:spcAft>
            </a:pPr>
            <a:r>
              <a:rPr sz="1150" b="0" i="0">
                <a:solidFill>
                  <a:srgbClr val="334050"/>
                </a:solidFill>
                <a:latin typeface="Segoe UI"/>
                <a:ea typeface="Segoe UI"/>
              </a:rPr>
              <a:t>Pooling from the final token rather than mean or CLS matches the causal attention of a decoder-only model: the last position has already attended to the entire prefix, so it is a natural summary of the input.</a:t>
            </a:r>
          </a:p>
        </p:txBody>
      </p:sp>
      <p:sp>
        <p:nvSpPr>
          <p:cNvPr id="10" name="Rounded Rectangle 9"/>
          <p:cNvSpPr/>
          <p:nvPr/>
        </p:nvSpPr>
        <p:spPr>
          <a:xfrm>
            <a:off x="566928" y="4379976"/>
            <a:ext cx="5669280" cy="2313432"/>
          </a:xfrm>
          <a:prstGeom prst="roundRect">
            <a:avLst>
              <a:gd name="adj" fmla="val 3000"/>
            </a:avLst>
          </a:prstGeom>
          <a:solidFill>
            <a:srgbClr val="F7F9FC"/>
          </a:solidFill>
          <a:ln w="12700">
            <a:solidFill>
              <a:srgbClr val="BBC7D6"/>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 name="TextBox 10"/>
          <p:cNvSpPr txBox="1"/>
          <p:nvPr/>
        </p:nvSpPr>
        <p:spPr>
          <a:xfrm>
            <a:off x="786384" y="4553712"/>
            <a:ext cx="5212080" cy="2011680"/>
          </a:xfrm>
          <a:prstGeom prst="rect">
            <a:avLst/>
          </a:prstGeom>
          <a:noFill/>
        </p:spPr>
        <p:txBody>
          <a:bodyPr wrap="square" lIns="0" tIns="0" rIns="0" bIns="0">
            <a:spAutoFit/>
          </a:bodyPr>
          <a:lstStyle/>
          <a:p>
            <a:pPr algn="l">
              <a:lnSpc>
                <a:spcPct val="120000"/>
              </a:lnSpc>
              <a:spcAft>
                <a:spcPts val="600"/>
              </a:spcAft>
            </a:pPr>
            <a:r>
              <a:rPr sz="1400" b="1" i="0">
                <a:solidFill>
                  <a:srgbClr val="1F5CA8"/>
                </a:solidFill>
                <a:latin typeface="Segoe UI"/>
                <a:ea typeface="Segoe UI"/>
              </a:rPr>
              <a:t>Reranker: input → LM head → Yes / No</a:t>
            </a:r>
          </a:p>
          <a:p>
            <a:pPr algn="l">
              <a:lnSpc>
                <a:spcPct val="125000"/>
              </a:lnSpc>
              <a:spcAft>
                <a:spcPts val="500"/>
              </a:spcAft>
            </a:pPr>
            <a:r>
              <a:rPr sz="1250" b="1" i="0">
                <a:solidFill>
                  <a:srgbClr val="1B2533"/>
                </a:solidFill>
                <a:latin typeface="Consolas"/>
                <a:ea typeface="Consolas"/>
              </a:rPr>
              <a:t>{Inst}{Q}{Doc}</a:t>
            </a:r>
            <a:r>
              <a:rPr sz="1250" b="0" i="0">
                <a:solidFill>
                  <a:srgbClr val="7A8696"/>
                </a:solidFill>
                <a:latin typeface="Segoe UI"/>
                <a:ea typeface="Segoe UI"/>
              </a:rPr>
              <a:t>  →  </a:t>
            </a:r>
            <a:r>
              <a:rPr sz="1250" b="0" i="0">
                <a:solidFill>
                  <a:srgbClr val="1B2533"/>
                </a:solidFill>
                <a:latin typeface="Consolas"/>
                <a:ea typeface="Consolas"/>
              </a:rPr>
              <a:t>LM head</a:t>
            </a:r>
            <a:r>
              <a:rPr sz="1250" b="0" i="0">
                <a:solidFill>
                  <a:srgbClr val="7A8696"/>
                </a:solidFill>
                <a:latin typeface="Segoe UI"/>
                <a:ea typeface="Segoe UI"/>
              </a:rPr>
              <a:t>  →  </a:t>
            </a:r>
            <a:r>
              <a:rPr sz="1250" b="0" i="0">
                <a:solidFill>
                  <a:srgbClr val="334050"/>
                </a:solidFill>
                <a:latin typeface="Segoe UI"/>
                <a:ea typeface="Segoe UI"/>
              </a:rPr>
              <a:t>compare the logits of “Yes” and “No”</a:t>
            </a:r>
          </a:p>
          <a:p>
            <a:pPr algn="l">
              <a:lnSpc>
                <a:spcPct val="118000"/>
              </a:lnSpc>
              <a:spcAft>
                <a:spcPts val="0"/>
              </a:spcAft>
            </a:pPr>
            <a:r>
              <a:rPr sz="1150" b="0" i="0">
                <a:solidFill>
                  <a:srgbClr val="334050"/>
                </a:solidFill>
                <a:latin typeface="Segoe UI"/>
                <a:ea typeface="Segoe UI"/>
              </a:rPr>
              <a:t>Softmax over those two logits gives the relevance score. Relevance judgment becomes a binary classification problem, reusing the LLM's own language modeling head — no extra scoring head needed.</a:t>
            </a:r>
          </a:p>
        </p:txBody>
      </p:sp>
      <p:sp>
        <p:nvSpPr>
          <p:cNvPr id="12" name="Rounded Rectangle 11"/>
          <p:cNvSpPr/>
          <p:nvPr/>
        </p:nvSpPr>
        <p:spPr>
          <a:xfrm>
            <a:off x="6601968" y="1938528"/>
            <a:ext cx="5022799" cy="4754880"/>
          </a:xfrm>
          <a:prstGeom prst="roundRect">
            <a:avLst>
              <a:gd name="adj" fmla="val 3000"/>
            </a:avLst>
          </a:prstGeom>
          <a:noFill/>
          <a:ln w="12700">
            <a:solidFill>
              <a:srgbClr val="D8DEE6"/>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3" name="TextBox 12"/>
          <p:cNvSpPr txBox="1"/>
          <p:nvPr/>
        </p:nvSpPr>
        <p:spPr>
          <a:xfrm>
            <a:off x="6839712" y="2139696"/>
            <a:ext cx="4547311" cy="3566160"/>
          </a:xfrm>
          <a:prstGeom prst="rect">
            <a:avLst/>
          </a:prstGeom>
          <a:noFill/>
        </p:spPr>
        <p:txBody>
          <a:bodyPr wrap="square" lIns="0" tIns="0" rIns="0" bIns="0">
            <a:spAutoFit/>
          </a:bodyPr>
          <a:lstStyle/>
          <a:p>
            <a:pPr algn="l">
              <a:lnSpc>
                <a:spcPct val="120000"/>
              </a:lnSpc>
              <a:spcAft>
                <a:spcPts val="800"/>
              </a:spcAft>
            </a:pPr>
            <a:r>
              <a:rPr sz="1400" b="1" i="0">
                <a:solidFill>
                  <a:srgbClr val="1F5CA8"/>
                </a:solidFill>
                <a:latin typeface="Segoe UI"/>
                <a:ea typeface="Segoe UI"/>
              </a:rPr>
              <a:t>Training loss: InfoNCE-style contrastive loss</a:t>
            </a:r>
          </a:p>
          <a:p>
            <a:pPr algn="l">
              <a:lnSpc>
                <a:spcPct val="115000"/>
              </a:lnSpc>
              <a:spcAft>
                <a:spcPts val="700"/>
              </a:spcAft>
            </a:pPr>
            <a:r>
              <a:rPr sz="1250" b="0" i="0">
                <a:solidFill>
                  <a:srgbClr val="334050"/>
                </a:solidFill>
                <a:latin typeface="Segoe UI"/>
                <a:ea typeface="Segoe UI"/>
              </a:rPr>
              <a:t>▪  Pull each query toward its positive document and away from in-batch negatives</a:t>
            </a:r>
          </a:p>
          <a:p>
            <a:pPr algn="l">
              <a:lnSpc>
                <a:spcPct val="115000"/>
              </a:lnSpc>
              <a:spcAft>
                <a:spcPts val="700"/>
              </a:spcAft>
            </a:pPr>
            <a:r>
              <a:rPr sz="1250" b="0" i="0">
                <a:solidFill>
                  <a:srgbClr val="334050"/>
                </a:solidFill>
                <a:latin typeface="Segoe UI"/>
                <a:ea typeface="Segoe UI"/>
              </a:rPr>
              <a:t>▪  The reranker uses a contrastive-style objective too, with Yes/No probability standing in for similarity</a:t>
            </a:r>
          </a:p>
          <a:p>
            <a:pPr algn="l">
              <a:lnSpc>
                <a:spcPct val="115000"/>
              </a:lnSpc>
              <a:spcAft>
                <a:spcPts val="700"/>
              </a:spcAft>
            </a:pPr>
            <a:r>
              <a:rPr sz="1250" b="0" i="0">
                <a:solidFill>
                  <a:srgbClr val="334050"/>
                </a:solidFill>
                <a:latin typeface="Segoe UI"/>
                <a:ea typeface="Segoe UI"/>
              </a:rPr>
              <a:t>▪  Instruction prefixes shape the vector space for retrieval, classification or clustering</a:t>
            </a:r>
          </a:p>
        </p:txBody>
      </p:sp>
      <p:sp>
        <p:nvSpPr>
          <p:cNvPr id="14" name="Rounded Rectangle 13"/>
          <p:cNvSpPr/>
          <p:nvPr/>
        </p:nvSpPr>
        <p:spPr>
          <a:xfrm>
            <a:off x="6839712" y="4224528"/>
            <a:ext cx="4547311" cy="2468880"/>
          </a:xfrm>
          <a:prstGeom prst="roundRect">
            <a:avLst>
              <a:gd name="adj" fmla="val 3000"/>
            </a:avLst>
          </a:prstGeom>
          <a:solidFill>
            <a:srgbClr val="F7F9FC"/>
          </a:solidFill>
          <a:ln w="12700">
            <a:solidFill>
              <a:srgbClr val="BBC7D6"/>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5" name="TextBox 14"/>
          <p:cNvSpPr txBox="1"/>
          <p:nvPr/>
        </p:nvSpPr>
        <p:spPr>
          <a:xfrm>
            <a:off x="7040880" y="4389120"/>
            <a:ext cx="4144975" cy="2139696"/>
          </a:xfrm>
          <a:prstGeom prst="rect">
            <a:avLst/>
          </a:prstGeom>
          <a:noFill/>
        </p:spPr>
        <p:txBody>
          <a:bodyPr wrap="square" lIns="0" tIns="0" rIns="0" bIns="0">
            <a:spAutoFit/>
          </a:bodyPr>
          <a:lstStyle/>
          <a:p>
            <a:pPr algn="l">
              <a:lnSpc>
                <a:spcPct val="120000"/>
              </a:lnSpc>
              <a:spcAft>
                <a:spcPts val="400"/>
              </a:spcAft>
            </a:pPr>
            <a:r>
              <a:rPr sz="1300" b="1" i="0">
                <a:solidFill>
                  <a:srgbClr val="1F5CA8"/>
                </a:solidFill>
                <a:latin typeface="Segoe UI"/>
                <a:ea typeface="Segoe UI"/>
              </a:rPr>
              <a:t>Placeholder: formula and code</a:t>
            </a:r>
          </a:p>
          <a:p>
            <a:pPr algn="l">
              <a:lnSpc>
                <a:spcPct val="120000"/>
              </a:lnSpc>
              <a:spcAft>
                <a:spcPts val="0"/>
              </a:spcAft>
            </a:pPr>
            <a:r>
              <a:rPr sz="1150" b="0" i="0">
                <a:solidFill>
                  <a:srgbClr val="7A8696"/>
                </a:solidFill>
                <a:latin typeface="Segoe UI"/>
                <a:ea typeface="Segoe UI"/>
              </a:rPr>
              <a:t>Suggested: the InfoNCE formula, a get_detailed_instruct() usage sample, and 3 lines each calling embed / rerank</a:t>
            </a:r>
          </a:p>
          <a:p>
            <a:pPr algn="l">
              <a:lnSpc>
                <a:spcPct val="120000"/>
              </a:lnSpc>
              <a:spcAft>
                <a:spcPts val="200"/>
              </a:spcAft>
            </a:pPr>
            <a:r>
              <a:rPr sz="1150" b="0" i="0">
                <a:solidFill>
                  <a:srgbClr val="BBC7D6"/>
                </a:solidFill>
                <a:latin typeface="Segoe UI"/>
                <a:ea typeface="Segoe UI"/>
              </a:rPr>
              <a:t>· </a:t>
            </a:r>
          </a:p>
          <a:p>
            <a:pPr algn="l">
              <a:lnSpc>
                <a:spcPct val="120000"/>
              </a:lnSpc>
              <a:spcAft>
                <a:spcPts val="200"/>
              </a:spcAft>
            </a:pPr>
            <a:r>
              <a:rPr sz="1150" b="0" i="0">
                <a:solidFill>
                  <a:srgbClr val="BBC7D6"/>
                </a:solidFill>
                <a:latin typeface="Segoe UI"/>
                <a:ea typeface="Segoe UI"/>
              </a:rPr>
              <a:t>· </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3A1E14"/>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Rectangle 2"/>
          <p:cNvSpPr/>
          <p:nvPr/>
        </p:nvSpPr>
        <p:spPr>
          <a:xfrm>
            <a:off x="0" y="2788920"/>
            <a:ext cx="2011680" cy="82296"/>
          </a:xfrm>
          <a:prstGeom prst="rect">
            <a:avLst/>
          </a:prstGeom>
          <a:solidFill>
            <a:srgbClr val="C0502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 name="TextBox 3"/>
          <p:cNvSpPr txBox="1"/>
          <p:nvPr/>
        </p:nvSpPr>
        <p:spPr>
          <a:xfrm>
            <a:off x="749808" y="3063240"/>
            <a:ext cx="11057839" cy="1280160"/>
          </a:xfrm>
          <a:prstGeom prst="rect">
            <a:avLst/>
          </a:prstGeom>
          <a:noFill/>
        </p:spPr>
        <p:txBody>
          <a:bodyPr wrap="square" lIns="0" tIns="0" rIns="0" bIns="0">
            <a:spAutoFit/>
          </a:bodyPr>
          <a:lstStyle/>
          <a:p>
            <a:pPr algn="l">
              <a:lnSpc>
                <a:spcPct val="120000"/>
              </a:lnSpc>
              <a:spcAft>
                <a:spcPts val="800"/>
              </a:spcAft>
            </a:pPr>
            <a:r>
              <a:rPr sz="1500" b="1" i="0">
                <a:solidFill>
                  <a:srgbClr val="E8B89A"/>
                </a:solidFill>
                <a:latin typeface="Segoe UI"/>
                <a:ea typeface="Segoe UI"/>
              </a:rPr>
              <a:t>PART 2</a:t>
            </a:r>
          </a:p>
          <a:p>
            <a:pPr algn="l">
              <a:lnSpc>
                <a:spcPct val="120000"/>
              </a:lnSpc>
              <a:spcAft>
                <a:spcPts val="800"/>
              </a:spcAft>
            </a:pPr>
            <a:r>
              <a:rPr sz="3600" b="1" i="0">
                <a:solidFill>
                  <a:srgbClr val="FFFFFF"/>
                </a:solidFill>
                <a:latin typeface="Segoe UI"/>
                <a:ea typeface="Segoe UI"/>
              </a:rPr>
              <a:t>From RAG to Agentic RAG</a:t>
            </a:r>
          </a:p>
          <a:p>
            <a:pPr algn="l">
              <a:lnSpc>
                <a:spcPct val="120000"/>
              </a:lnSpc>
              <a:spcAft>
                <a:spcPts val="0"/>
              </a:spcAft>
            </a:pPr>
            <a:r>
              <a:rPr sz="1400" b="0" i="0">
                <a:solidFill>
                  <a:srgbClr val="E6CDB8"/>
                </a:solidFill>
                <a:latin typeface="Segoe UI"/>
                <a:ea typeface="Segoe UI"/>
              </a:rPr>
              <a:t>Once retrieval quality plateaus, the next win comes from control flow, not just the model</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7724"/>
          </a:xfrm>
          <a:prstGeom prst="rect">
            <a:avLst/>
          </a:prstGeom>
          <a:solidFill>
            <a:srgbClr val="1F5CA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TextBox 2"/>
          <p:cNvSpPr txBox="1"/>
          <p:nvPr/>
        </p:nvSpPr>
        <p:spPr>
          <a:xfrm>
            <a:off x="566928" y="310896"/>
            <a:ext cx="8595360" cy="274320"/>
          </a:xfrm>
          <a:prstGeom prst="rect">
            <a:avLst/>
          </a:prstGeom>
          <a:noFill/>
        </p:spPr>
        <p:txBody>
          <a:bodyPr wrap="square" lIns="0" tIns="0" rIns="0" bIns="0">
            <a:spAutoFit/>
          </a:bodyPr>
          <a:lstStyle/>
          <a:p>
            <a:pPr algn="l">
              <a:lnSpc>
                <a:spcPct val="120000"/>
              </a:lnSpc>
              <a:spcAft>
                <a:spcPts val="0"/>
              </a:spcAft>
            </a:pPr>
            <a:r>
              <a:rPr sz="1050" b="1" i="0">
                <a:solidFill>
                  <a:srgbClr val="1F5CA8"/>
                </a:solidFill>
                <a:latin typeface="Segoe UI"/>
                <a:ea typeface="Segoe UI"/>
              </a:rPr>
              <a:t>PART 2 · AGENTIC RAG</a:t>
            </a:r>
          </a:p>
        </p:txBody>
      </p:sp>
      <p:sp>
        <p:nvSpPr>
          <p:cNvPr id="4" name="TextBox 3"/>
          <p:cNvSpPr txBox="1"/>
          <p:nvPr/>
        </p:nvSpPr>
        <p:spPr>
          <a:xfrm>
            <a:off x="10161727" y="310896"/>
            <a:ext cx="1463040" cy="274320"/>
          </a:xfrm>
          <a:prstGeom prst="rect">
            <a:avLst/>
          </a:prstGeom>
          <a:noFill/>
        </p:spPr>
        <p:txBody>
          <a:bodyPr wrap="square" lIns="0" tIns="0" rIns="0" bIns="0">
            <a:spAutoFit/>
          </a:bodyPr>
          <a:lstStyle/>
          <a:p>
            <a:pPr algn="r">
              <a:lnSpc>
                <a:spcPct val="120000"/>
              </a:lnSpc>
              <a:spcAft>
                <a:spcPts val="0"/>
              </a:spcAft>
            </a:pPr>
            <a:r>
              <a:rPr sz="1050" b="0" i="0">
                <a:solidFill>
                  <a:srgbClr val="7A8696"/>
                </a:solidFill>
                <a:latin typeface="Segoe UI"/>
                <a:ea typeface="Segoe UI"/>
              </a:rPr>
              <a:t>19</a:t>
            </a:r>
          </a:p>
        </p:txBody>
      </p:sp>
      <p:sp>
        <p:nvSpPr>
          <p:cNvPr id="5" name="TextBox 4"/>
          <p:cNvSpPr txBox="1"/>
          <p:nvPr/>
        </p:nvSpPr>
        <p:spPr>
          <a:xfrm>
            <a:off x="566928" y="658368"/>
            <a:ext cx="11057839" cy="658368"/>
          </a:xfrm>
          <a:prstGeom prst="rect">
            <a:avLst/>
          </a:prstGeom>
          <a:noFill/>
        </p:spPr>
        <p:txBody>
          <a:bodyPr wrap="square" lIns="0" tIns="0" rIns="0" bIns="0">
            <a:spAutoFit/>
          </a:bodyPr>
          <a:lstStyle/>
          <a:p>
            <a:pPr algn="l">
              <a:lnSpc>
                <a:spcPct val="120000"/>
              </a:lnSpc>
              <a:spcAft>
                <a:spcPts val="0"/>
              </a:spcAft>
            </a:pPr>
            <a:r>
              <a:rPr sz="2700" b="1" i="0">
                <a:solidFill>
                  <a:srgbClr val="1B2533"/>
                </a:solidFill>
                <a:latin typeface="Segoe UI"/>
                <a:ea typeface="Segoe UI"/>
              </a:rPr>
              <a:t>Two structural weaknesses of Native RAG</a:t>
            </a:r>
          </a:p>
        </p:txBody>
      </p:sp>
      <p:sp>
        <p:nvSpPr>
          <p:cNvPr id="6" name="Rectangle 5"/>
          <p:cNvSpPr/>
          <p:nvPr/>
        </p:nvSpPr>
        <p:spPr>
          <a:xfrm>
            <a:off x="566928" y="1371600"/>
            <a:ext cx="1051560" cy="50292"/>
          </a:xfrm>
          <a:prstGeom prst="rect">
            <a:avLst/>
          </a:prstGeom>
          <a:solidFill>
            <a:srgbClr val="1F5CA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 name="TextBox 6"/>
          <p:cNvSpPr txBox="1"/>
          <p:nvPr/>
        </p:nvSpPr>
        <p:spPr>
          <a:xfrm>
            <a:off x="566928" y="1517904"/>
            <a:ext cx="11057839" cy="329184"/>
          </a:xfrm>
          <a:prstGeom prst="rect">
            <a:avLst/>
          </a:prstGeom>
          <a:noFill/>
        </p:spPr>
        <p:txBody>
          <a:bodyPr wrap="square" lIns="0" tIns="0" rIns="0" bIns="0">
            <a:spAutoFit/>
          </a:bodyPr>
          <a:lstStyle/>
          <a:p>
            <a:pPr algn="l">
              <a:lnSpc>
                <a:spcPct val="120000"/>
              </a:lnSpc>
              <a:spcAft>
                <a:spcPts val="0"/>
              </a:spcAft>
            </a:pPr>
            <a:r>
              <a:rPr sz="1300" b="0" i="0">
                <a:solidFill>
                  <a:srgbClr val="7A8696"/>
                </a:solidFill>
                <a:latin typeface="Segoe UI"/>
                <a:ea typeface="Segoe UI"/>
              </a:rPr>
              <a:t>Look at where the naive pipeline actually leaks</a:t>
            </a:r>
          </a:p>
        </p:txBody>
      </p:sp>
      <p:sp>
        <p:nvSpPr>
          <p:cNvPr id="8" name="TextBox 7"/>
          <p:cNvSpPr txBox="1"/>
          <p:nvPr/>
        </p:nvSpPr>
        <p:spPr>
          <a:xfrm>
            <a:off x="566928" y="1938528"/>
            <a:ext cx="11057839" cy="822960"/>
          </a:xfrm>
          <a:prstGeom prst="rect">
            <a:avLst/>
          </a:prstGeom>
          <a:noFill/>
        </p:spPr>
        <p:txBody>
          <a:bodyPr wrap="square" lIns="0" tIns="0" rIns="0" bIns="0">
            <a:spAutoFit/>
          </a:bodyPr>
          <a:lstStyle/>
          <a:p>
            <a:pPr algn="l">
              <a:lnSpc>
                <a:spcPct val="120000"/>
              </a:lnSpc>
              <a:spcAft>
                <a:spcPts val="600"/>
              </a:spcAft>
            </a:pPr>
            <a:r>
              <a:rPr sz="1300" b="1" i="0">
                <a:solidFill>
                  <a:srgbClr val="1B2533"/>
                </a:solidFill>
                <a:latin typeface="Segoe UI"/>
                <a:ea typeface="Segoe UI"/>
              </a:rPr>
              <a:t>Naive RAG: user query → (embed) → vector store top-K → stuff into prompt → LLM generates</a:t>
            </a:r>
          </a:p>
          <a:p>
            <a:pPr algn="l">
              <a:lnSpc>
                <a:spcPct val="120000"/>
              </a:lnSpc>
              <a:spcAft>
                <a:spcPts val="0"/>
              </a:spcAft>
            </a:pPr>
            <a:r>
              <a:rPr sz="1200" b="0" i="0">
                <a:solidFill>
                  <a:srgbClr val="7A8696"/>
                </a:solidFill>
                <a:latin typeface="Segoe UI"/>
                <a:ea typeface="Segoe UI"/>
              </a:rPr>
              <a:t>Every step is one-directional, single-shot, and has no feedback — nothing ever looks back.</a:t>
            </a:r>
          </a:p>
        </p:txBody>
      </p:sp>
      <p:sp>
        <p:nvSpPr>
          <p:cNvPr id="9" name="Rounded Rectangle 8"/>
          <p:cNvSpPr/>
          <p:nvPr/>
        </p:nvSpPr>
        <p:spPr>
          <a:xfrm>
            <a:off x="566928" y="2834640"/>
            <a:ext cx="5760720" cy="3063240"/>
          </a:xfrm>
          <a:prstGeom prst="roundRect">
            <a:avLst>
              <a:gd name="adj" fmla="val 3000"/>
            </a:avLst>
          </a:prstGeom>
          <a:noFill/>
          <a:ln w="12700">
            <a:solidFill>
              <a:srgbClr val="D8DEE6"/>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 name="TextBox 9"/>
          <p:cNvSpPr txBox="1"/>
          <p:nvPr/>
        </p:nvSpPr>
        <p:spPr>
          <a:xfrm>
            <a:off x="804672" y="3035808"/>
            <a:ext cx="5303520" cy="2697480"/>
          </a:xfrm>
          <a:prstGeom prst="rect">
            <a:avLst/>
          </a:prstGeom>
          <a:noFill/>
        </p:spPr>
        <p:txBody>
          <a:bodyPr wrap="square" lIns="0" tIns="0" rIns="0" bIns="0">
            <a:spAutoFit/>
          </a:bodyPr>
          <a:lstStyle/>
          <a:p>
            <a:pPr algn="l">
              <a:lnSpc>
                <a:spcPct val="120000"/>
              </a:lnSpc>
              <a:spcAft>
                <a:spcPts val="800"/>
              </a:spcAft>
            </a:pPr>
            <a:r>
              <a:rPr sz="1400" b="1" i="0">
                <a:solidFill>
                  <a:srgbClr val="C0502A"/>
                </a:solidFill>
                <a:latin typeface="Segoe UI"/>
                <a:ea typeface="Segoe UI"/>
              </a:rPr>
              <a:t>Weakness 1: chunk size decides what information survives</a:t>
            </a:r>
          </a:p>
          <a:p>
            <a:pPr algn="l">
              <a:lnSpc>
                <a:spcPct val="115000"/>
              </a:lnSpc>
              <a:spcAft>
                <a:spcPts val="700"/>
              </a:spcAft>
            </a:pPr>
            <a:r>
              <a:rPr sz="1250" b="0" i="0">
                <a:solidFill>
                  <a:srgbClr val="334050"/>
                </a:solidFill>
                <a:latin typeface="Segoe UI"/>
                <a:ea typeface="Segoe UI"/>
              </a:rPr>
              <a:t>▪  Too small: paragraphs get cut in half, pronouns lose their antecedents (“it”, “that plan”, “the above”), answers come out incomplete</a:t>
            </a:r>
          </a:p>
          <a:p>
            <a:pPr algn="l">
              <a:lnSpc>
                <a:spcPct val="115000"/>
              </a:lnSpc>
              <a:spcAft>
                <a:spcPts val="700"/>
              </a:spcAft>
            </a:pPr>
            <a:r>
              <a:rPr sz="1250" b="0" i="0">
                <a:solidFill>
                  <a:srgbClr val="334050"/>
                </a:solidFill>
                <a:latin typeface="Segoe UI"/>
                <a:ea typeface="Segoe UI"/>
              </a:rPr>
              <a:t>▪  Too large: one chunk mixes several topics, so its vector is an average of everything and recall gets noisier</a:t>
            </a:r>
          </a:p>
          <a:p>
            <a:pPr algn="l">
              <a:lnSpc>
                <a:spcPct val="115000"/>
              </a:lnSpc>
              <a:spcAft>
                <a:spcPts val="700"/>
              </a:spcAft>
            </a:pPr>
            <a:r>
              <a:rPr sz="1250" b="0" i="0">
                <a:solidFill>
                  <a:srgbClr val="334050"/>
                </a:solidFill>
                <a:latin typeface="Segoe UI"/>
                <a:ea typeface="Segoe UI"/>
              </a:rPr>
              <a:t>▪  Fixed-length splitting ignores document structure (heading hierarchy, tables, code blocks)</a:t>
            </a:r>
          </a:p>
          <a:p>
            <a:pPr algn="l">
              <a:lnSpc>
                <a:spcPct val="115000"/>
              </a:lnSpc>
              <a:spcAft>
                <a:spcPts val="700"/>
              </a:spcAft>
            </a:pPr>
            <a:r>
              <a:rPr sz="1250" b="0" i="0">
                <a:solidFill>
                  <a:srgbClr val="334050"/>
                </a:solidFill>
                <a:latin typeface="Segoe UI"/>
                <a:ea typeface="Segoe UI"/>
              </a:rPr>
              <a:t>▪  Chunk size also drives cost: the larger the chunk, the more expensive top-K is to fit into the prompt</a:t>
            </a:r>
          </a:p>
        </p:txBody>
      </p:sp>
      <p:sp>
        <p:nvSpPr>
          <p:cNvPr id="11" name="Rounded Rectangle 10"/>
          <p:cNvSpPr/>
          <p:nvPr/>
        </p:nvSpPr>
        <p:spPr>
          <a:xfrm>
            <a:off x="6693408" y="2834640"/>
            <a:ext cx="4931359" cy="3063240"/>
          </a:xfrm>
          <a:prstGeom prst="roundRect">
            <a:avLst>
              <a:gd name="adj" fmla="val 3000"/>
            </a:avLst>
          </a:prstGeom>
          <a:noFill/>
          <a:ln w="12700">
            <a:solidFill>
              <a:srgbClr val="D8DEE6"/>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2" name="TextBox 11"/>
          <p:cNvSpPr txBox="1"/>
          <p:nvPr/>
        </p:nvSpPr>
        <p:spPr>
          <a:xfrm>
            <a:off x="6931152" y="3035808"/>
            <a:ext cx="4693615" cy="2697480"/>
          </a:xfrm>
          <a:prstGeom prst="rect">
            <a:avLst/>
          </a:prstGeom>
          <a:noFill/>
        </p:spPr>
        <p:txBody>
          <a:bodyPr wrap="square" lIns="0" tIns="0" rIns="0" bIns="0">
            <a:spAutoFit/>
          </a:bodyPr>
          <a:lstStyle/>
          <a:p>
            <a:pPr algn="l">
              <a:lnSpc>
                <a:spcPct val="120000"/>
              </a:lnSpc>
              <a:spcAft>
                <a:spcPts val="800"/>
              </a:spcAft>
            </a:pPr>
            <a:r>
              <a:rPr sz="1400" b="1" i="0">
                <a:solidFill>
                  <a:srgbClr val="C0502A"/>
                </a:solidFill>
                <a:latin typeface="Segoe UI"/>
                <a:ea typeface="Segoe UI"/>
              </a:rPr>
              <a:t>Weakness 2: semantic search decides which documents you get</a:t>
            </a:r>
          </a:p>
          <a:p>
            <a:pPr algn="l">
              <a:lnSpc>
                <a:spcPct val="115000"/>
              </a:lnSpc>
              <a:spcAft>
                <a:spcPts val="700"/>
              </a:spcAft>
            </a:pPr>
            <a:r>
              <a:rPr sz="1250" b="0" i="0">
                <a:solidFill>
                  <a:srgbClr val="334050"/>
                </a:solidFill>
                <a:latin typeface="Segoe UI"/>
                <a:ea typeface="Segoe UI"/>
              </a:rPr>
              <a:t>▪  “Semantically similar” is not the same as “contains the answer” — a follow-up question and its answer passage rarely share wording</a:t>
            </a:r>
          </a:p>
          <a:p>
            <a:pPr algn="l">
              <a:lnSpc>
                <a:spcPct val="115000"/>
              </a:lnSpc>
              <a:spcAft>
                <a:spcPts val="700"/>
              </a:spcAft>
            </a:pPr>
            <a:r>
              <a:rPr sz="1250" b="0" i="0">
                <a:solidFill>
                  <a:srgbClr val="334050"/>
                </a:solidFill>
                <a:latin typeface="Segoe UI"/>
                <a:ea typeface="Segoe UI"/>
              </a:rPr>
              <a:t>▪  A single vector cannot represent a multi-intent query (e.g. “compare the pricing of A and B”)</a:t>
            </a:r>
          </a:p>
          <a:p>
            <a:pPr algn="l">
              <a:lnSpc>
                <a:spcPct val="115000"/>
              </a:lnSpc>
              <a:spcAft>
                <a:spcPts val="700"/>
              </a:spcAft>
            </a:pPr>
            <a:r>
              <a:rPr sz="1250" b="0" i="0">
                <a:solidFill>
                  <a:srgbClr val="334050"/>
                </a:solidFill>
                <a:latin typeface="Segoe UI"/>
                <a:ea typeface="Segoe UI"/>
              </a:rPr>
              <a:t>▪  Embeddings are naturally weaker than BM25 / keyword search on exact matches: model numbers, IDs, proper nouns</a:t>
            </a:r>
          </a:p>
          <a:p>
            <a:pPr algn="l">
              <a:lnSpc>
                <a:spcPct val="115000"/>
              </a:lnSpc>
              <a:spcAft>
                <a:spcPts val="700"/>
              </a:spcAft>
            </a:pPr>
            <a:r>
              <a:rPr sz="1250" b="0" i="0">
                <a:solidFill>
                  <a:srgbClr val="334050"/>
                </a:solidFill>
                <a:latin typeface="Segoe UI"/>
                <a:ea typeface="Segoe UI"/>
              </a:rPr>
              <a:t>▪  If top-K is wrong, even a strong LLM can only hallucinate inside the wrong context</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7724"/>
          </a:xfrm>
          <a:prstGeom prst="rect">
            <a:avLst/>
          </a:prstGeom>
          <a:solidFill>
            <a:srgbClr val="1F5CA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TextBox 2"/>
          <p:cNvSpPr txBox="1"/>
          <p:nvPr/>
        </p:nvSpPr>
        <p:spPr>
          <a:xfrm>
            <a:off x="566928" y="310896"/>
            <a:ext cx="8595360" cy="274320"/>
          </a:xfrm>
          <a:prstGeom prst="rect">
            <a:avLst/>
          </a:prstGeom>
          <a:noFill/>
        </p:spPr>
        <p:txBody>
          <a:bodyPr wrap="square" lIns="0" tIns="0" rIns="0" bIns="0">
            <a:spAutoFit/>
          </a:bodyPr>
          <a:lstStyle/>
          <a:p>
            <a:pPr algn="l">
              <a:lnSpc>
                <a:spcPct val="120000"/>
              </a:lnSpc>
              <a:spcAft>
                <a:spcPts val="0"/>
              </a:spcAft>
            </a:pPr>
            <a:r>
              <a:rPr sz="1050" b="1" i="0">
                <a:solidFill>
                  <a:srgbClr val="1F5CA8"/>
                </a:solidFill>
                <a:latin typeface="Segoe UI"/>
                <a:ea typeface="Segoe UI"/>
              </a:rPr>
              <a:t>PART 2 · AGENTIC RAG</a:t>
            </a:r>
          </a:p>
        </p:txBody>
      </p:sp>
      <p:sp>
        <p:nvSpPr>
          <p:cNvPr id="4" name="TextBox 3"/>
          <p:cNvSpPr txBox="1"/>
          <p:nvPr/>
        </p:nvSpPr>
        <p:spPr>
          <a:xfrm>
            <a:off x="10161727" y="310896"/>
            <a:ext cx="1463040" cy="274320"/>
          </a:xfrm>
          <a:prstGeom prst="rect">
            <a:avLst/>
          </a:prstGeom>
          <a:noFill/>
        </p:spPr>
        <p:txBody>
          <a:bodyPr wrap="square" lIns="0" tIns="0" rIns="0" bIns="0">
            <a:spAutoFit/>
          </a:bodyPr>
          <a:lstStyle/>
          <a:p>
            <a:pPr algn="r">
              <a:lnSpc>
                <a:spcPct val="120000"/>
              </a:lnSpc>
              <a:spcAft>
                <a:spcPts val="0"/>
              </a:spcAft>
            </a:pPr>
            <a:r>
              <a:rPr sz="1050" b="0" i="0">
                <a:solidFill>
                  <a:srgbClr val="7A8696"/>
                </a:solidFill>
                <a:latin typeface="Segoe UI"/>
                <a:ea typeface="Segoe UI"/>
              </a:rPr>
              <a:t>20</a:t>
            </a:r>
          </a:p>
        </p:txBody>
      </p:sp>
      <p:sp>
        <p:nvSpPr>
          <p:cNvPr id="5" name="TextBox 4"/>
          <p:cNvSpPr txBox="1"/>
          <p:nvPr/>
        </p:nvSpPr>
        <p:spPr>
          <a:xfrm>
            <a:off x="566928" y="658368"/>
            <a:ext cx="11057839" cy="658368"/>
          </a:xfrm>
          <a:prstGeom prst="rect">
            <a:avLst/>
          </a:prstGeom>
          <a:noFill/>
        </p:spPr>
        <p:txBody>
          <a:bodyPr wrap="square" lIns="0" tIns="0" rIns="0" bIns="0">
            <a:spAutoFit/>
          </a:bodyPr>
          <a:lstStyle/>
          <a:p>
            <a:pPr algn="l">
              <a:lnSpc>
                <a:spcPct val="120000"/>
              </a:lnSpc>
              <a:spcAft>
                <a:spcPts val="0"/>
              </a:spcAft>
            </a:pPr>
            <a:r>
              <a:rPr sz="2700" b="1" i="0">
                <a:solidFill>
                  <a:srgbClr val="1B2533"/>
                </a:solidFill>
                <a:latin typeface="Segoe UI"/>
                <a:ea typeface="Segoe UI"/>
              </a:rPr>
              <a:t>Agentic RAG map: where each technique plugs in</a:t>
            </a:r>
          </a:p>
        </p:txBody>
      </p:sp>
      <p:sp>
        <p:nvSpPr>
          <p:cNvPr id="6" name="Rectangle 5"/>
          <p:cNvSpPr/>
          <p:nvPr/>
        </p:nvSpPr>
        <p:spPr>
          <a:xfrm>
            <a:off x="566928" y="1371600"/>
            <a:ext cx="1051560" cy="50292"/>
          </a:xfrm>
          <a:prstGeom prst="rect">
            <a:avLst/>
          </a:prstGeom>
          <a:solidFill>
            <a:srgbClr val="1F5CA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 name="TextBox 6"/>
          <p:cNvSpPr txBox="1"/>
          <p:nvPr/>
        </p:nvSpPr>
        <p:spPr>
          <a:xfrm>
            <a:off x="566928" y="1517904"/>
            <a:ext cx="11057839" cy="329184"/>
          </a:xfrm>
          <a:prstGeom prst="rect">
            <a:avLst/>
          </a:prstGeom>
          <a:noFill/>
        </p:spPr>
        <p:txBody>
          <a:bodyPr wrap="square" lIns="0" tIns="0" rIns="0" bIns="0">
            <a:spAutoFit/>
          </a:bodyPr>
          <a:lstStyle/>
          <a:p>
            <a:pPr algn="l">
              <a:lnSpc>
                <a:spcPct val="120000"/>
              </a:lnSpc>
              <a:spcAft>
                <a:spcPts val="0"/>
              </a:spcAft>
            </a:pPr>
            <a:r>
              <a:rPr sz="1300" b="0" i="0">
                <a:solidFill>
                  <a:srgbClr val="7A8696"/>
                </a:solidFill>
                <a:latin typeface="Segoe UI"/>
                <a:ea typeface="Segoe UI"/>
              </a:rPr>
              <a:t>Query side / retrieval side / knowledge base side / post-retrieval side / orchestration</a:t>
            </a:r>
          </a:p>
        </p:txBody>
      </p:sp>
      <p:sp>
        <p:nvSpPr>
          <p:cNvPr id="8" name="Rounded Rectangle 7"/>
          <p:cNvSpPr/>
          <p:nvPr/>
        </p:nvSpPr>
        <p:spPr>
          <a:xfrm>
            <a:off x="566928" y="2057400"/>
            <a:ext cx="2079894" cy="457200"/>
          </a:xfrm>
          <a:prstGeom prst="roundRect">
            <a:avLst>
              <a:gd name="adj" fmla="val 12000"/>
            </a:avLst>
          </a:prstGeom>
          <a:solidFill>
            <a:srgbClr val="1F5CA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TextBox 8"/>
          <p:cNvSpPr txBox="1"/>
          <p:nvPr/>
        </p:nvSpPr>
        <p:spPr>
          <a:xfrm>
            <a:off x="566928" y="2176272"/>
            <a:ext cx="2079894" cy="274320"/>
          </a:xfrm>
          <a:prstGeom prst="rect">
            <a:avLst/>
          </a:prstGeom>
          <a:noFill/>
        </p:spPr>
        <p:txBody>
          <a:bodyPr wrap="square" lIns="0" tIns="0" rIns="0" bIns="0">
            <a:spAutoFit/>
          </a:bodyPr>
          <a:lstStyle/>
          <a:p>
            <a:pPr algn="ctr">
              <a:lnSpc>
                <a:spcPct val="120000"/>
              </a:lnSpc>
              <a:spcAft>
                <a:spcPts val="0"/>
              </a:spcAft>
            </a:pPr>
            <a:r>
              <a:rPr sz="1300" b="1" i="0">
                <a:solidFill>
                  <a:srgbClr val="FFFFFF"/>
                </a:solidFill>
                <a:latin typeface="Segoe UI"/>
                <a:ea typeface="Segoe UI"/>
              </a:rPr>
              <a:t>Query side</a:t>
            </a:r>
          </a:p>
        </p:txBody>
      </p:sp>
      <p:sp>
        <p:nvSpPr>
          <p:cNvPr id="10" name="Rounded Rectangle 9"/>
          <p:cNvSpPr/>
          <p:nvPr/>
        </p:nvSpPr>
        <p:spPr>
          <a:xfrm>
            <a:off x="566928" y="2514600"/>
            <a:ext cx="2079894" cy="2331720"/>
          </a:xfrm>
          <a:prstGeom prst="roundRect">
            <a:avLst>
              <a:gd name="adj" fmla="val 6000"/>
            </a:avLst>
          </a:prstGeom>
          <a:solidFill>
            <a:srgbClr val="F7F9FC"/>
          </a:solidFill>
          <a:ln w="12700">
            <a:solidFill>
              <a:srgbClr val="BBC7D6"/>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 name="TextBox 10"/>
          <p:cNvSpPr txBox="1"/>
          <p:nvPr/>
        </p:nvSpPr>
        <p:spPr>
          <a:xfrm>
            <a:off x="713232" y="2670048"/>
            <a:ext cx="1787286" cy="2057400"/>
          </a:xfrm>
          <a:prstGeom prst="rect">
            <a:avLst/>
          </a:prstGeom>
          <a:noFill/>
        </p:spPr>
        <p:txBody>
          <a:bodyPr wrap="square" lIns="0" tIns="0" rIns="0" bIns="0">
            <a:spAutoFit/>
          </a:bodyPr>
          <a:lstStyle/>
          <a:p>
            <a:pPr algn="l">
              <a:lnSpc>
                <a:spcPct val="112000"/>
              </a:lnSpc>
              <a:spcAft>
                <a:spcPts val="700"/>
              </a:spcAft>
            </a:pPr>
            <a:r>
              <a:rPr sz="1150" b="0" i="0">
                <a:solidFill>
                  <a:srgbClr val="334050"/>
                </a:solidFill>
                <a:latin typeface="Segoe UI"/>
                <a:ea typeface="Segoe UI"/>
              </a:rPr>
              <a:t>Query Rewrite</a:t>
            </a:r>
          </a:p>
          <a:p>
            <a:pPr algn="l">
              <a:lnSpc>
                <a:spcPct val="112000"/>
              </a:lnSpc>
              <a:spcAft>
                <a:spcPts val="700"/>
              </a:spcAft>
            </a:pPr>
            <a:r>
              <a:rPr sz="1150" b="0" i="0">
                <a:solidFill>
                  <a:srgbClr val="334050"/>
                </a:solidFill>
                <a:latin typeface="Segoe UI"/>
                <a:ea typeface="Segoe UI"/>
              </a:rPr>
              <a:t>Multi-Query</a:t>
            </a:r>
          </a:p>
          <a:p>
            <a:pPr algn="l">
              <a:lnSpc>
                <a:spcPct val="112000"/>
              </a:lnSpc>
              <a:spcAft>
                <a:spcPts val="700"/>
              </a:spcAft>
            </a:pPr>
            <a:r>
              <a:rPr sz="1150" b="0" i="0">
                <a:solidFill>
                  <a:srgbClr val="334050"/>
                </a:solidFill>
                <a:latin typeface="Segoe UI"/>
                <a:ea typeface="Segoe UI"/>
              </a:rPr>
              <a:t>HyDE</a:t>
            </a:r>
          </a:p>
          <a:p>
            <a:pPr algn="l">
              <a:lnSpc>
                <a:spcPct val="112000"/>
              </a:lnSpc>
              <a:spcAft>
                <a:spcPts val="700"/>
              </a:spcAft>
            </a:pPr>
            <a:r>
              <a:rPr sz="1150" b="0" i="0">
                <a:solidFill>
                  <a:srgbClr val="334050"/>
                </a:solidFill>
                <a:latin typeface="Segoe UI"/>
                <a:ea typeface="Segoe UI"/>
              </a:rPr>
              <a:t>Query Decomposition</a:t>
            </a:r>
          </a:p>
        </p:txBody>
      </p:sp>
      <p:sp>
        <p:nvSpPr>
          <p:cNvPr id="12" name="Rounded Rectangle 11"/>
          <p:cNvSpPr/>
          <p:nvPr/>
        </p:nvSpPr>
        <p:spPr>
          <a:xfrm>
            <a:off x="2811414" y="2057400"/>
            <a:ext cx="2079894" cy="457200"/>
          </a:xfrm>
          <a:prstGeom prst="roundRect">
            <a:avLst>
              <a:gd name="adj" fmla="val 12000"/>
            </a:avLst>
          </a:prstGeom>
          <a:solidFill>
            <a:srgbClr val="1F5CA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3" name="TextBox 12"/>
          <p:cNvSpPr txBox="1"/>
          <p:nvPr/>
        </p:nvSpPr>
        <p:spPr>
          <a:xfrm>
            <a:off x="2811414" y="2176272"/>
            <a:ext cx="2079894" cy="274320"/>
          </a:xfrm>
          <a:prstGeom prst="rect">
            <a:avLst/>
          </a:prstGeom>
          <a:noFill/>
        </p:spPr>
        <p:txBody>
          <a:bodyPr wrap="square" lIns="0" tIns="0" rIns="0" bIns="0">
            <a:spAutoFit/>
          </a:bodyPr>
          <a:lstStyle/>
          <a:p>
            <a:pPr algn="ctr">
              <a:lnSpc>
                <a:spcPct val="120000"/>
              </a:lnSpc>
              <a:spcAft>
                <a:spcPts val="0"/>
              </a:spcAft>
            </a:pPr>
            <a:r>
              <a:rPr sz="1300" b="1" i="0">
                <a:solidFill>
                  <a:srgbClr val="FFFFFF"/>
                </a:solidFill>
                <a:latin typeface="Segoe UI"/>
                <a:ea typeface="Segoe UI"/>
              </a:rPr>
              <a:t>Retrieval side</a:t>
            </a:r>
          </a:p>
        </p:txBody>
      </p:sp>
      <p:sp>
        <p:nvSpPr>
          <p:cNvPr id="14" name="Rounded Rectangle 13"/>
          <p:cNvSpPr/>
          <p:nvPr/>
        </p:nvSpPr>
        <p:spPr>
          <a:xfrm>
            <a:off x="2811414" y="2514600"/>
            <a:ext cx="2079894" cy="2331720"/>
          </a:xfrm>
          <a:prstGeom prst="roundRect">
            <a:avLst>
              <a:gd name="adj" fmla="val 6000"/>
            </a:avLst>
          </a:prstGeom>
          <a:solidFill>
            <a:srgbClr val="F7F9FC"/>
          </a:solidFill>
          <a:ln w="12700">
            <a:solidFill>
              <a:srgbClr val="BBC7D6"/>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5" name="TextBox 14"/>
          <p:cNvSpPr txBox="1"/>
          <p:nvPr/>
        </p:nvSpPr>
        <p:spPr>
          <a:xfrm>
            <a:off x="2957718" y="2670048"/>
            <a:ext cx="1787286" cy="2057400"/>
          </a:xfrm>
          <a:prstGeom prst="rect">
            <a:avLst/>
          </a:prstGeom>
          <a:noFill/>
        </p:spPr>
        <p:txBody>
          <a:bodyPr wrap="square" lIns="0" tIns="0" rIns="0" bIns="0">
            <a:spAutoFit/>
          </a:bodyPr>
          <a:lstStyle/>
          <a:p>
            <a:pPr algn="l">
              <a:lnSpc>
                <a:spcPct val="112000"/>
              </a:lnSpc>
              <a:spcAft>
                <a:spcPts val="700"/>
              </a:spcAft>
            </a:pPr>
            <a:r>
              <a:rPr sz="1150" b="0" i="0">
                <a:solidFill>
                  <a:srgbClr val="334050"/>
                </a:solidFill>
                <a:latin typeface="Segoe UI"/>
                <a:ea typeface="Segoe UI"/>
              </a:rPr>
              <a:t>Hybrid Search</a:t>
            </a:r>
          </a:p>
          <a:p>
            <a:pPr algn="l">
              <a:lnSpc>
                <a:spcPct val="112000"/>
              </a:lnSpc>
              <a:spcAft>
                <a:spcPts val="700"/>
              </a:spcAft>
            </a:pPr>
            <a:r>
              <a:rPr sz="1150" b="0" i="0">
                <a:solidFill>
                  <a:srgbClr val="334050"/>
                </a:solidFill>
                <a:latin typeface="Segoe UI"/>
                <a:ea typeface="Segoe UI"/>
              </a:rPr>
              <a:t>Reranker</a:t>
            </a:r>
          </a:p>
          <a:p>
            <a:pPr algn="l">
              <a:lnSpc>
                <a:spcPct val="112000"/>
              </a:lnSpc>
              <a:spcAft>
                <a:spcPts val="700"/>
              </a:spcAft>
            </a:pPr>
            <a:r>
              <a:rPr sz="1150" b="0" i="0">
                <a:solidFill>
                  <a:srgbClr val="334050"/>
                </a:solidFill>
                <a:latin typeface="Segoe UI"/>
                <a:ea typeface="Segoe UI"/>
              </a:rPr>
              <a:t>Metadata Filter</a:t>
            </a:r>
          </a:p>
          <a:p>
            <a:pPr algn="l">
              <a:lnSpc>
                <a:spcPct val="112000"/>
              </a:lnSpc>
              <a:spcAft>
                <a:spcPts val="700"/>
              </a:spcAft>
            </a:pPr>
            <a:r>
              <a:rPr sz="1150" b="0" i="0">
                <a:solidFill>
                  <a:srgbClr val="334050"/>
                </a:solidFill>
                <a:latin typeface="Segoe UI"/>
                <a:ea typeface="Segoe UI"/>
              </a:rPr>
              <a:t>ANN tuning</a:t>
            </a:r>
          </a:p>
        </p:txBody>
      </p:sp>
      <p:sp>
        <p:nvSpPr>
          <p:cNvPr id="16" name="Rounded Rectangle 15"/>
          <p:cNvSpPr/>
          <p:nvPr/>
        </p:nvSpPr>
        <p:spPr>
          <a:xfrm>
            <a:off x="5055900" y="2057400"/>
            <a:ext cx="2079894" cy="457200"/>
          </a:xfrm>
          <a:prstGeom prst="roundRect">
            <a:avLst>
              <a:gd name="adj" fmla="val 12000"/>
            </a:avLst>
          </a:prstGeom>
          <a:solidFill>
            <a:srgbClr val="C0502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7" name="TextBox 16"/>
          <p:cNvSpPr txBox="1"/>
          <p:nvPr/>
        </p:nvSpPr>
        <p:spPr>
          <a:xfrm>
            <a:off x="5055900" y="2176272"/>
            <a:ext cx="2079894" cy="274320"/>
          </a:xfrm>
          <a:prstGeom prst="rect">
            <a:avLst/>
          </a:prstGeom>
          <a:noFill/>
        </p:spPr>
        <p:txBody>
          <a:bodyPr wrap="square" lIns="0" tIns="0" rIns="0" bIns="0">
            <a:spAutoFit/>
          </a:bodyPr>
          <a:lstStyle/>
          <a:p>
            <a:pPr algn="ctr">
              <a:lnSpc>
                <a:spcPct val="120000"/>
              </a:lnSpc>
              <a:spcAft>
                <a:spcPts val="0"/>
              </a:spcAft>
            </a:pPr>
            <a:r>
              <a:rPr sz="1300" b="1" i="0">
                <a:solidFill>
                  <a:srgbClr val="FFFFFF"/>
                </a:solidFill>
                <a:latin typeface="Segoe UI"/>
                <a:ea typeface="Segoe UI"/>
              </a:rPr>
              <a:t>Knowledge base</a:t>
            </a:r>
          </a:p>
        </p:txBody>
      </p:sp>
      <p:sp>
        <p:nvSpPr>
          <p:cNvPr id="18" name="Rounded Rectangle 17"/>
          <p:cNvSpPr/>
          <p:nvPr/>
        </p:nvSpPr>
        <p:spPr>
          <a:xfrm>
            <a:off x="5055900" y="2514600"/>
            <a:ext cx="2079894" cy="2331720"/>
          </a:xfrm>
          <a:prstGeom prst="roundRect">
            <a:avLst>
              <a:gd name="adj" fmla="val 6000"/>
            </a:avLst>
          </a:prstGeom>
          <a:solidFill>
            <a:srgbClr val="F7F9FC"/>
          </a:solidFill>
          <a:ln w="12700">
            <a:solidFill>
              <a:srgbClr val="BBC7D6"/>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9" name="TextBox 18"/>
          <p:cNvSpPr txBox="1"/>
          <p:nvPr/>
        </p:nvSpPr>
        <p:spPr>
          <a:xfrm>
            <a:off x="5202204" y="2670048"/>
            <a:ext cx="1787286" cy="2057400"/>
          </a:xfrm>
          <a:prstGeom prst="rect">
            <a:avLst/>
          </a:prstGeom>
          <a:noFill/>
        </p:spPr>
        <p:txBody>
          <a:bodyPr wrap="square" lIns="0" tIns="0" rIns="0" bIns="0">
            <a:spAutoFit/>
          </a:bodyPr>
          <a:lstStyle/>
          <a:p>
            <a:pPr algn="l">
              <a:lnSpc>
                <a:spcPct val="112000"/>
              </a:lnSpc>
              <a:spcAft>
                <a:spcPts val="700"/>
              </a:spcAft>
            </a:pPr>
            <a:r>
              <a:rPr sz="1150" b="0" i="0">
                <a:solidFill>
                  <a:srgbClr val="334050"/>
                </a:solidFill>
                <a:latin typeface="Segoe UI"/>
                <a:ea typeface="Segoe UI"/>
              </a:rPr>
              <a:t>Graph RAG</a:t>
            </a:r>
          </a:p>
          <a:p>
            <a:pPr algn="l">
              <a:lnSpc>
                <a:spcPct val="112000"/>
              </a:lnSpc>
              <a:spcAft>
                <a:spcPts val="700"/>
              </a:spcAft>
            </a:pPr>
            <a:r>
              <a:rPr sz="1150" b="0" i="0">
                <a:solidFill>
                  <a:srgbClr val="334050"/>
                </a:solidFill>
                <a:latin typeface="Segoe UI"/>
                <a:ea typeface="Segoe UI"/>
              </a:rPr>
              <a:t>RAPTOR</a:t>
            </a:r>
          </a:p>
          <a:p>
            <a:pPr algn="l">
              <a:lnSpc>
                <a:spcPct val="112000"/>
              </a:lnSpc>
              <a:spcAft>
                <a:spcPts val="700"/>
              </a:spcAft>
            </a:pPr>
            <a:r>
              <a:rPr sz="1150" b="0" i="0">
                <a:solidFill>
                  <a:srgbClr val="334050"/>
                </a:solidFill>
                <a:latin typeface="Segoe UI"/>
                <a:ea typeface="Segoe UI"/>
              </a:rPr>
              <a:t>Hierarchical index</a:t>
            </a:r>
          </a:p>
          <a:p>
            <a:pPr algn="l">
              <a:lnSpc>
                <a:spcPct val="112000"/>
              </a:lnSpc>
              <a:spcAft>
                <a:spcPts val="700"/>
              </a:spcAft>
            </a:pPr>
            <a:r>
              <a:rPr sz="1150" b="0" i="0">
                <a:solidFill>
                  <a:srgbClr val="334050"/>
                </a:solidFill>
                <a:latin typeface="Segoe UI"/>
                <a:ea typeface="Segoe UI"/>
              </a:rPr>
              <a:t>Table / multimodal index</a:t>
            </a:r>
          </a:p>
        </p:txBody>
      </p:sp>
      <p:sp>
        <p:nvSpPr>
          <p:cNvPr id="20" name="Rounded Rectangle 19"/>
          <p:cNvSpPr/>
          <p:nvPr/>
        </p:nvSpPr>
        <p:spPr>
          <a:xfrm>
            <a:off x="7300386" y="2057400"/>
            <a:ext cx="2079894" cy="457200"/>
          </a:xfrm>
          <a:prstGeom prst="roundRect">
            <a:avLst>
              <a:gd name="adj" fmla="val 12000"/>
            </a:avLst>
          </a:prstGeom>
          <a:solidFill>
            <a:srgbClr val="C0502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1" name="TextBox 20"/>
          <p:cNvSpPr txBox="1"/>
          <p:nvPr/>
        </p:nvSpPr>
        <p:spPr>
          <a:xfrm>
            <a:off x="7300386" y="2176272"/>
            <a:ext cx="2079894" cy="274320"/>
          </a:xfrm>
          <a:prstGeom prst="rect">
            <a:avLst/>
          </a:prstGeom>
          <a:noFill/>
        </p:spPr>
        <p:txBody>
          <a:bodyPr wrap="square" lIns="0" tIns="0" rIns="0" bIns="0">
            <a:spAutoFit/>
          </a:bodyPr>
          <a:lstStyle/>
          <a:p>
            <a:pPr algn="ctr">
              <a:lnSpc>
                <a:spcPct val="120000"/>
              </a:lnSpc>
              <a:spcAft>
                <a:spcPts val="0"/>
              </a:spcAft>
            </a:pPr>
            <a:r>
              <a:rPr sz="1300" b="1" i="0">
                <a:solidFill>
                  <a:srgbClr val="FFFFFF"/>
                </a:solidFill>
                <a:latin typeface="Segoe UI"/>
                <a:ea typeface="Segoe UI"/>
              </a:rPr>
              <a:t>Post-retrieval</a:t>
            </a:r>
          </a:p>
        </p:txBody>
      </p:sp>
      <p:sp>
        <p:nvSpPr>
          <p:cNvPr id="22" name="Rounded Rectangle 21"/>
          <p:cNvSpPr/>
          <p:nvPr/>
        </p:nvSpPr>
        <p:spPr>
          <a:xfrm>
            <a:off x="7300386" y="2514600"/>
            <a:ext cx="2079894" cy="2331720"/>
          </a:xfrm>
          <a:prstGeom prst="roundRect">
            <a:avLst>
              <a:gd name="adj" fmla="val 6000"/>
            </a:avLst>
          </a:prstGeom>
          <a:solidFill>
            <a:srgbClr val="F7F9FC"/>
          </a:solidFill>
          <a:ln w="12700">
            <a:solidFill>
              <a:srgbClr val="BBC7D6"/>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3" name="TextBox 22"/>
          <p:cNvSpPr txBox="1"/>
          <p:nvPr/>
        </p:nvSpPr>
        <p:spPr>
          <a:xfrm>
            <a:off x="7446690" y="2670048"/>
            <a:ext cx="1787286" cy="2057400"/>
          </a:xfrm>
          <a:prstGeom prst="rect">
            <a:avLst/>
          </a:prstGeom>
          <a:noFill/>
        </p:spPr>
        <p:txBody>
          <a:bodyPr wrap="square" lIns="0" tIns="0" rIns="0" bIns="0">
            <a:spAutoFit/>
          </a:bodyPr>
          <a:lstStyle/>
          <a:p>
            <a:pPr algn="l">
              <a:lnSpc>
                <a:spcPct val="112000"/>
              </a:lnSpc>
              <a:spcAft>
                <a:spcPts val="700"/>
              </a:spcAft>
            </a:pPr>
            <a:r>
              <a:rPr sz="1150" b="0" i="0">
                <a:solidFill>
                  <a:srgbClr val="334050"/>
                </a:solidFill>
                <a:latin typeface="Segoe UI"/>
                <a:ea typeface="Segoe UI"/>
              </a:rPr>
              <a:t>Self-Reflection</a:t>
            </a:r>
          </a:p>
          <a:p>
            <a:pPr algn="l">
              <a:lnSpc>
                <a:spcPct val="112000"/>
              </a:lnSpc>
              <a:spcAft>
                <a:spcPts val="700"/>
              </a:spcAft>
            </a:pPr>
            <a:r>
              <a:rPr sz="1150" b="0" i="0">
                <a:solidFill>
                  <a:srgbClr val="334050"/>
                </a:solidFill>
                <a:latin typeface="Segoe UI"/>
                <a:ea typeface="Segoe UI"/>
              </a:rPr>
              <a:t>Corrective RAG</a:t>
            </a:r>
          </a:p>
          <a:p>
            <a:pPr algn="l">
              <a:lnSpc>
                <a:spcPct val="112000"/>
              </a:lnSpc>
              <a:spcAft>
                <a:spcPts val="700"/>
              </a:spcAft>
            </a:pPr>
            <a:r>
              <a:rPr sz="1150" b="0" i="0">
                <a:solidFill>
                  <a:srgbClr val="334050"/>
                </a:solidFill>
                <a:latin typeface="Segoe UI"/>
                <a:ea typeface="Segoe UI"/>
              </a:rPr>
              <a:t>Context compression</a:t>
            </a:r>
          </a:p>
          <a:p>
            <a:pPr algn="l">
              <a:lnSpc>
                <a:spcPct val="112000"/>
              </a:lnSpc>
              <a:spcAft>
                <a:spcPts val="700"/>
              </a:spcAft>
            </a:pPr>
            <a:r>
              <a:rPr sz="1150" b="0" i="0">
                <a:solidFill>
                  <a:srgbClr val="334050"/>
                </a:solidFill>
                <a:latin typeface="Segoe UI"/>
                <a:ea typeface="Segoe UI"/>
              </a:rPr>
              <a:t>Citations &amp; grounding</a:t>
            </a:r>
          </a:p>
        </p:txBody>
      </p:sp>
      <p:sp>
        <p:nvSpPr>
          <p:cNvPr id="24" name="Rounded Rectangle 23"/>
          <p:cNvSpPr/>
          <p:nvPr/>
        </p:nvSpPr>
        <p:spPr>
          <a:xfrm>
            <a:off x="9544872" y="2057400"/>
            <a:ext cx="2079894" cy="457200"/>
          </a:xfrm>
          <a:prstGeom prst="roundRect">
            <a:avLst>
              <a:gd name="adj" fmla="val 12000"/>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5" name="TextBox 24"/>
          <p:cNvSpPr txBox="1"/>
          <p:nvPr/>
        </p:nvSpPr>
        <p:spPr>
          <a:xfrm>
            <a:off x="9544872" y="2176272"/>
            <a:ext cx="2079894" cy="274320"/>
          </a:xfrm>
          <a:prstGeom prst="rect">
            <a:avLst/>
          </a:prstGeom>
          <a:noFill/>
        </p:spPr>
        <p:txBody>
          <a:bodyPr wrap="square" lIns="0" tIns="0" rIns="0" bIns="0">
            <a:spAutoFit/>
          </a:bodyPr>
          <a:lstStyle/>
          <a:p>
            <a:pPr algn="ctr">
              <a:lnSpc>
                <a:spcPct val="120000"/>
              </a:lnSpc>
              <a:spcAft>
                <a:spcPts val="0"/>
              </a:spcAft>
            </a:pPr>
            <a:r>
              <a:rPr sz="1300" b="1" i="0">
                <a:solidFill>
                  <a:srgbClr val="FFFFFF"/>
                </a:solidFill>
                <a:latin typeface="Segoe UI"/>
                <a:ea typeface="Segoe UI"/>
              </a:rPr>
              <a:t>Orchestration</a:t>
            </a:r>
          </a:p>
        </p:txBody>
      </p:sp>
      <p:sp>
        <p:nvSpPr>
          <p:cNvPr id="26" name="Rounded Rectangle 25"/>
          <p:cNvSpPr/>
          <p:nvPr/>
        </p:nvSpPr>
        <p:spPr>
          <a:xfrm>
            <a:off x="9544872" y="2514600"/>
            <a:ext cx="2079894" cy="2331720"/>
          </a:xfrm>
          <a:prstGeom prst="roundRect">
            <a:avLst>
              <a:gd name="adj" fmla="val 6000"/>
            </a:avLst>
          </a:prstGeom>
          <a:solidFill>
            <a:srgbClr val="F7F9FC"/>
          </a:solidFill>
          <a:ln w="12700">
            <a:solidFill>
              <a:srgbClr val="BBC7D6"/>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7" name="TextBox 26"/>
          <p:cNvSpPr txBox="1"/>
          <p:nvPr/>
        </p:nvSpPr>
        <p:spPr>
          <a:xfrm>
            <a:off x="9691176" y="2670048"/>
            <a:ext cx="1787286" cy="2057400"/>
          </a:xfrm>
          <a:prstGeom prst="rect">
            <a:avLst/>
          </a:prstGeom>
          <a:noFill/>
        </p:spPr>
        <p:txBody>
          <a:bodyPr wrap="square" lIns="0" tIns="0" rIns="0" bIns="0">
            <a:spAutoFit/>
          </a:bodyPr>
          <a:lstStyle/>
          <a:p>
            <a:pPr algn="l">
              <a:lnSpc>
                <a:spcPct val="112000"/>
              </a:lnSpc>
              <a:spcAft>
                <a:spcPts val="700"/>
              </a:spcAft>
            </a:pPr>
            <a:r>
              <a:rPr sz="1150" b="0" i="0">
                <a:solidFill>
                  <a:srgbClr val="334050"/>
                </a:solidFill>
                <a:latin typeface="Segoe UI"/>
                <a:ea typeface="Segoe UI"/>
              </a:rPr>
              <a:t>Adaptive RAG</a:t>
            </a:r>
          </a:p>
          <a:p>
            <a:pPr algn="l">
              <a:lnSpc>
                <a:spcPct val="112000"/>
              </a:lnSpc>
              <a:spcAft>
                <a:spcPts val="700"/>
              </a:spcAft>
            </a:pPr>
            <a:r>
              <a:rPr sz="1150" b="0" i="0">
                <a:solidFill>
                  <a:srgbClr val="334050"/>
                </a:solidFill>
                <a:latin typeface="Segoe UI"/>
                <a:ea typeface="Segoe UI"/>
              </a:rPr>
              <a:t>ReAct loop</a:t>
            </a:r>
          </a:p>
          <a:p>
            <a:pPr algn="l">
              <a:lnSpc>
                <a:spcPct val="112000"/>
              </a:lnSpc>
              <a:spcAft>
                <a:spcPts val="700"/>
              </a:spcAft>
            </a:pPr>
            <a:r>
              <a:rPr sz="1150" b="0" i="0">
                <a:solidFill>
                  <a:srgbClr val="334050"/>
                </a:solidFill>
                <a:latin typeface="Segoe UI"/>
                <a:ea typeface="Segoe UI"/>
              </a:rPr>
              <a:t>Router / Planner</a:t>
            </a:r>
          </a:p>
          <a:p>
            <a:pPr algn="l">
              <a:lnSpc>
                <a:spcPct val="112000"/>
              </a:lnSpc>
              <a:spcAft>
                <a:spcPts val="700"/>
              </a:spcAft>
            </a:pPr>
            <a:r>
              <a:rPr sz="1150" b="0" i="0">
                <a:solidFill>
                  <a:srgbClr val="334050"/>
                </a:solidFill>
                <a:latin typeface="Segoe UI"/>
                <a:ea typeface="Segoe UI"/>
              </a:rPr>
              <a:t>FLARE · SELF-RAG</a:t>
            </a:r>
          </a:p>
        </p:txBody>
      </p:sp>
      <p:sp>
        <p:nvSpPr>
          <p:cNvPr id="28" name="Rounded Rectangle 27"/>
          <p:cNvSpPr/>
          <p:nvPr/>
        </p:nvSpPr>
        <p:spPr>
          <a:xfrm>
            <a:off x="566928" y="5074920"/>
            <a:ext cx="11057839" cy="1691640"/>
          </a:xfrm>
          <a:prstGeom prst="roundRect">
            <a:avLst>
              <a:gd name="adj" fmla="val 3000"/>
            </a:avLst>
          </a:prstGeom>
          <a:noFill/>
          <a:ln w="12700">
            <a:solidFill>
              <a:srgbClr val="D8DEE6"/>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9" name="TextBox 28"/>
          <p:cNvSpPr txBox="1"/>
          <p:nvPr/>
        </p:nvSpPr>
        <p:spPr>
          <a:xfrm>
            <a:off x="804672" y="5248656"/>
            <a:ext cx="10582351" cy="1371600"/>
          </a:xfrm>
          <a:prstGeom prst="rect">
            <a:avLst/>
          </a:prstGeom>
          <a:noFill/>
        </p:spPr>
        <p:txBody>
          <a:bodyPr wrap="square" lIns="0" tIns="0" rIns="0" bIns="0">
            <a:spAutoFit/>
          </a:bodyPr>
          <a:lstStyle/>
          <a:p>
            <a:pPr algn="l">
              <a:lnSpc>
                <a:spcPct val="125000"/>
              </a:lnSpc>
              <a:spcAft>
                <a:spcPts val="800"/>
              </a:spcAft>
            </a:pPr>
            <a:r>
              <a:rPr sz="1250" b="0" i="0">
                <a:solidFill>
                  <a:srgbClr val="1B2533"/>
                </a:solidFill>
                <a:latin typeface="Segoe UI"/>
                <a:ea typeface="Segoe UI"/>
              </a:rPr>
              <a:t>How to read this: from query in to answer out, every stage can gain an “intelligent” step. What they share is feedback and decision-making — either fix the question (query side), fix the evidence (knowledge base and retrieval side), fix the answer (post-retrieval side), or decide whether the whole flow runs at all (orchestration).</a:t>
            </a:r>
          </a:p>
          <a:p>
            <a:pPr algn="l">
              <a:lnSpc>
                <a:spcPct val="120000"/>
              </a:lnSpc>
              <a:spcAft>
                <a:spcPts val="0"/>
              </a:spcAft>
            </a:pPr>
            <a:r>
              <a:rPr sz="1200" b="0" i="0">
                <a:solidFill>
                  <a:srgbClr val="7A8696"/>
                </a:solidFill>
                <a:latin typeface="Segoe UI"/>
                <a:ea typeface="Segoe UI"/>
              </a:rPr>
              <a:t>Next, one ring at a time: Query Rewrite / Multi-Query → Adaptive RAG → Graph RAG → RAPTOR → Reranker → Self-correction &amp; Corrective RAG.</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7724"/>
          </a:xfrm>
          <a:prstGeom prst="rect">
            <a:avLst/>
          </a:prstGeom>
          <a:solidFill>
            <a:srgbClr val="1F5CA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TextBox 2"/>
          <p:cNvSpPr txBox="1"/>
          <p:nvPr/>
        </p:nvSpPr>
        <p:spPr>
          <a:xfrm>
            <a:off x="566928" y="310896"/>
            <a:ext cx="8595360" cy="274320"/>
          </a:xfrm>
          <a:prstGeom prst="rect">
            <a:avLst/>
          </a:prstGeom>
          <a:noFill/>
        </p:spPr>
        <p:txBody>
          <a:bodyPr wrap="square" lIns="0" tIns="0" rIns="0" bIns="0">
            <a:spAutoFit/>
          </a:bodyPr>
          <a:lstStyle/>
          <a:p>
            <a:pPr algn="l">
              <a:lnSpc>
                <a:spcPct val="120000"/>
              </a:lnSpc>
              <a:spcAft>
                <a:spcPts val="0"/>
              </a:spcAft>
            </a:pPr>
            <a:r>
              <a:rPr sz="1050" b="1" i="0">
                <a:solidFill>
                  <a:srgbClr val="1F5CA8"/>
                </a:solidFill>
                <a:latin typeface="Segoe UI"/>
                <a:ea typeface="Segoe UI"/>
              </a:rPr>
              <a:t>PART 2 · AGENTIC RAG</a:t>
            </a:r>
          </a:p>
        </p:txBody>
      </p:sp>
      <p:sp>
        <p:nvSpPr>
          <p:cNvPr id="4" name="TextBox 3"/>
          <p:cNvSpPr txBox="1"/>
          <p:nvPr/>
        </p:nvSpPr>
        <p:spPr>
          <a:xfrm>
            <a:off x="10161727" y="310896"/>
            <a:ext cx="1463040" cy="274320"/>
          </a:xfrm>
          <a:prstGeom prst="rect">
            <a:avLst/>
          </a:prstGeom>
          <a:noFill/>
        </p:spPr>
        <p:txBody>
          <a:bodyPr wrap="square" lIns="0" tIns="0" rIns="0" bIns="0">
            <a:spAutoFit/>
          </a:bodyPr>
          <a:lstStyle/>
          <a:p>
            <a:pPr algn="r">
              <a:lnSpc>
                <a:spcPct val="120000"/>
              </a:lnSpc>
              <a:spcAft>
                <a:spcPts val="0"/>
              </a:spcAft>
            </a:pPr>
            <a:r>
              <a:rPr sz="1050" b="0" i="0">
                <a:solidFill>
                  <a:srgbClr val="7A8696"/>
                </a:solidFill>
                <a:latin typeface="Segoe UI"/>
                <a:ea typeface="Segoe UI"/>
              </a:rPr>
              <a:t>21</a:t>
            </a:r>
          </a:p>
        </p:txBody>
      </p:sp>
      <p:sp>
        <p:nvSpPr>
          <p:cNvPr id="5" name="TextBox 4"/>
          <p:cNvSpPr txBox="1"/>
          <p:nvPr/>
        </p:nvSpPr>
        <p:spPr>
          <a:xfrm>
            <a:off x="566928" y="658368"/>
            <a:ext cx="11057839" cy="658368"/>
          </a:xfrm>
          <a:prstGeom prst="rect">
            <a:avLst/>
          </a:prstGeom>
          <a:noFill/>
        </p:spPr>
        <p:txBody>
          <a:bodyPr wrap="square" lIns="0" tIns="0" rIns="0" bIns="0">
            <a:spAutoFit/>
          </a:bodyPr>
          <a:lstStyle/>
          <a:p>
            <a:pPr algn="l">
              <a:lnSpc>
                <a:spcPct val="120000"/>
              </a:lnSpc>
              <a:spcAft>
                <a:spcPts val="0"/>
              </a:spcAft>
            </a:pPr>
            <a:r>
              <a:rPr sz="2700" b="1" i="0">
                <a:solidFill>
                  <a:srgbClr val="1B2533"/>
                </a:solidFill>
                <a:latin typeface="Segoe UI"/>
                <a:ea typeface="Segoe UI"/>
              </a:rPr>
              <a:t>Query side (1): Query Rewrite</a:t>
            </a:r>
          </a:p>
        </p:txBody>
      </p:sp>
      <p:sp>
        <p:nvSpPr>
          <p:cNvPr id="6" name="Rectangle 5"/>
          <p:cNvSpPr/>
          <p:nvPr/>
        </p:nvSpPr>
        <p:spPr>
          <a:xfrm>
            <a:off x="566928" y="1371600"/>
            <a:ext cx="1051560" cy="50292"/>
          </a:xfrm>
          <a:prstGeom prst="rect">
            <a:avLst/>
          </a:prstGeom>
          <a:solidFill>
            <a:srgbClr val="1F5CA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 name="TextBox 6"/>
          <p:cNvSpPr txBox="1"/>
          <p:nvPr/>
        </p:nvSpPr>
        <p:spPr>
          <a:xfrm>
            <a:off x="566928" y="1517904"/>
            <a:ext cx="11057839" cy="329184"/>
          </a:xfrm>
          <a:prstGeom prst="rect">
            <a:avLst/>
          </a:prstGeom>
          <a:noFill/>
        </p:spPr>
        <p:txBody>
          <a:bodyPr wrap="square" lIns="0" tIns="0" rIns="0" bIns="0">
            <a:spAutoFit/>
          </a:bodyPr>
          <a:lstStyle/>
          <a:p>
            <a:pPr algn="l">
              <a:lnSpc>
                <a:spcPct val="120000"/>
              </a:lnSpc>
              <a:spcAft>
                <a:spcPts val="0"/>
              </a:spcAft>
            </a:pPr>
            <a:r>
              <a:rPr sz="1300" b="0" i="0">
                <a:solidFill>
                  <a:srgbClr val="7A8696"/>
                </a:solidFill>
                <a:latin typeface="Segoe UI"/>
                <a:ea typeface="Segoe UI"/>
              </a:rPr>
              <a:t>What the user says is not what retrieves well</a:t>
            </a:r>
          </a:p>
        </p:txBody>
      </p:sp>
      <p:sp>
        <p:nvSpPr>
          <p:cNvPr id="8" name="Rounded Rectangle 7"/>
          <p:cNvSpPr/>
          <p:nvPr/>
        </p:nvSpPr>
        <p:spPr>
          <a:xfrm>
            <a:off x="566928" y="1938528"/>
            <a:ext cx="5760720" cy="2011680"/>
          </a:xfrm>
          <a:prstGeom prst="roundRect">
            <a:avLst>
              <a:gd name="adj" fmla="val 3000"/>
            </a:avLst>
          </a:prstGeom>
          <a:noFill/>
          <a:ln w="12700">
            <a:solidFill>
              <a:srgbClr val="D8DEE6"/>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TextBox 8"/>
          <p:cNvSpPr txBox="1"/>
          <p:nvPr/>
        </p:nvSpPr>
        <p:spPr>
          <a:xfrm>
            <a:off x="804672" y="2121408"/>
            <a:ext cx="5303520" cy="1691640"/>
          </a:xfrm>
          <a:prstGeom prst="rect">
            <a:avLst/>
          </a:prstGeom>
          <a:noFill/>
        </p:spPr>
        <p:txBody>
          <a:bodyPr wrap="square" lIns="0" tIns="0" rIns="0" bIns="0">
            <a:spAutoFit/>
          </a:bodyPr>
          <a:lstStyle/>
          <a:p>
            <a:pPr algn="l">
              <a:lnSpc>
                <a:spcPct val="120000"/>
              </a:lnSpc>
              <a:spcAft>
                <a:spcPts val="800"/>
              </a:spcAft>
            </a:pPr>
            <a:r>
              <a:rPr sz="1400" b="1" i="0">
                <a:solidFill>
                  <a:srgbClr val="1F5CA8"/>
                </a:solidFill>
                <a:latin typeface="Segoe UI"/>
                <a:ea typeface="Segoe UI"/>
              </a:rPr>
              <a:t>Problems it solves</a:t>
            </a:r>
          </a:p>
          <a:p>
            <a:pPr algn="l">
              <a:lnSpc>
                <a:spcPct val="115000"/>
              </a:lnSpc>
              <a:spcAft>
                <a:spcPts val="700"/>
              </a:spcAft>
            </a:pPr>
            <a:r>
              <a:rPr sz="1250" b="0" i="0">
                <a:solidFill>
                  <a:srgbClr val="334050"/>
                </a:solidFill>
                <a:latin typeface="Segoe UI"/>
                <a:ea typeface="Segoe UI"/>
              </a:rPr>
              <a:t>▪  Coreference: “how much is it?” → “how much is plan X?”</a:t>
            </a:r>
          </a:p>
          <a:p>
            <a:pPr algn="l">
              <a:lnSpc>
                <a:spcPct val="115000"/>
              </a:lnSpc>
              <a:spcAft>
                <a:spcPts val="700"/>
              </a:spcAft>
            </a:pPr>
            <a:r>
              <a:rPr sz="1250" b="0" i="0">
                <a:solidFill>
                  <a:srgbClr val="334050"/>
                </a:solidFill>
                <a:latin typeface="Segoe UI"/>
                <a:ea typeface="Segoe UI"/>
              </a:rPr>
              <a:t>▪  Colloquial to terminology: map everyday wording onto the vocabulary your corpus actually uses</a:t>
            </a:r>
          </a:p>
          <a:p>
            <a:pPr algn="l">
              <a:lnSpc>
                <a:spcPct val="115000"/>
              </a:lnSpc>
              <a:spcAft>
                <a:spcPts val="700"/>
              </a:spcAft>
            </a:pPr>
            <a:r>
              <a:rPr sz="1250" b="0" i="0">
                <a:solidFill>
                  <a:srgbClr val="334050"/>
                </a:solidFill>
                <a:latin typeface="Segoe UI"/>
                <a:ea typeface="Segoe UI"/>
              </a:rPr>
              <a:t>▪  Multi-turn context: compress conversation history into the current query</a:t>
            </a:r>
          </a:p>
        </p:txBody>
      </p:sp>
      <p:graphicFrame>
        <p:nvGraphicFramePr>
          <p:cNvPr id="10" name="Table 9"/>
          <p:cNvGraphicFramePr>
            <a:graphicFrameLocks noGrp="1"/>
          </p:cNvGraphicFramePr>
          <p:nvPr/>
        </p:nvGraphicFramePr>
        <p:xfrm>
          <a:off x="566928" y="4114800"/>
          <a:ext cx="5760719" cy="1261872"/>
        </p:xfrm>
        <a:graphic>
          <a:graphicData uri="http://schemas.openxmlformats.org/drawingml/2006/table">
            <a:tbl>
              <a:tblPr firstRow="1" bandRow="1">
                <a:tableStyleId>{5C22544A-7EE6-4342-B048-85BDC9FD1C3A}</a:tableStyleId>
              </a:tblPr>
              <a:tblGrid>
                <a:gridCol w="1745672">
                  <a:extLst>
                    <a:ext uri="{9D8B030D-6E8A-4147-A177-3AD203B41FA5}">
                      <a16:colId xmlns:a16="http://schemas.microsoft.com/office/drawing/2014/main" val="20000"/>
                    </a:ext>
                  </a:extLst>
                </a:gridCol>
                <a:gridCol w="4015047">
                  <a:extLst>
                    <a:ext uri="{9D8B030D-6E8A-4147-A177-3AD203B41FA5}">
                      <a16:colId xmlns:a16="http://schemas.microsoft.com/office/drawing/2014/main" val="20001"/>
                    </a:ext>
                  </a:extLst>
                </a:gridCol>
              </a:tblGrid>
              <a:tr h="329184">
                <a:tc>
                  <a:txBody>
                    <a:bodyPr/>
                    <a:lstStyle/>
                    <a:p>
                      <a:pPr algn="l">
                        <a:lnSpc>
                          <a:spcPct val="108000"/>
                        </a:lnSpc>
                        <a:spcAft>
                          <a:spcPts val="0"/>
                        </a:spcAft>
                      </a:pPr>
                      <a:r>
                        <a:rPr sz="1050" b="1" i="0">
                          <a:solidFill>
                            <a:srgbClr val="FFFFFF"/>
                          </a:solidFill>
                          <a:latin typeface="Segoe UI"/>
                          <a:ea typeface="Segoe UI"/>
                        </a:rPr>
                        <a:t>Method</a:t>
                      </a:r>
                    </a:p>
                  </a:txBody>
                  <a:tcPr marL="82296" marR="64008" marT="18288" marB="18288" anchor="ctr">
                    <a:solidFill>
                      <a:srgbClr val="1F5CA8"/>
                    </a:solidFill>
                  </a:tcPr>
                </a:tc>
                <a:tc>
                  <a:txBody>
                    <a:bodyPr/>
                    <a:lstStyle/>
                    <a:p>
                      <a:pPr algn="l">
                        <a:lnSpc>
                          <a:spcPct val="108000"/>
                        </a:lnSpc>
                        <a:spcAft>
                          <a:spcPts val="0"/>
                        </a:spcAft>
                      </a:pPr>
                      <a:r>
                        <a:rPr sz="1050" b="1" i="0">
                          <a:solidFill>
                            <a:srgbClr val="FFFFFF"/>
                          </a:solidFill>
                          <a:latin typeface="Segoe UI"/>
                          <a:ea typeface="Segoe UI"/>
                        </a:rPr>
                        <a:t>How it works</a:t>
                      </a:r>
                    </a:p>
                  </a:txBody>
                  <a:tcPr marL="82296" marR="64008" marT="18288" marB="18288" anchor="ctr">
                    <a:solidFill>
                      <a:srgbClr val="1F5CA8"/>
                    </a:solidFill>
                  </a:tcPr>
                </a:tc>
                <a:extLst>
                  <a:ext uri="{0D108BD9-81ED-4DB2-BD59-A6C34878D82A}">
                    <a16:rowId xmlns:a16="http://schemas.microsoft.com/office/drawing/2014/main" val="10000"/>
                  </a:ext>
                </a:extLst>
              </a:tr>
              <a:tr h="310896">
                <a:tc>
                  <a:txBody>
                    <a:bodyPr/>
                    <a:lstStyle/>
                    <a:p>
                      <a:pPr algn="l">
                        <a:lnSpc>
                          <a:spcPct val="108000"/>
                        </a:lnSpc>
                        <a:spcAft>
                          <a:spcPts val="0"/>
                        </a:spcAft>
                      </a:pPr>
                      <a:r>
                        <a:rPr sz="1050" b="0" i="0">
                          <a:solidFill>
                            <a:srgbClr val="334050"/>
                          </a:solidFill>
                          <a:latin typeface="Segoe UI"/>
                          <a:ea typeface="Segoe UI"/>
                        </a:rPr>
                        <a:t>LLM rewrite</a:t>
                      </a:r>
                    </a:p>
                  </a:txBody>
                  <a:tcPr marL="82296" marR="64008" marT="18288" marB="18288" anchor="ctr">
                    <a:solidFill>
                      <a:srgbClr val="FFFFFF"/>
                    </a:solidFill>
                  </a:tcPr>
                </a:tc>
                <a:tc>
                  <a:txBody>
                    <a:bodyPr/>
                    <a:lstStyle/>
                    <a:p>
                      <a:pPr algn="l">
                        <a:lnSpc>
                          <a:spcPct val="108000"/>
                        </a:lnSpc>
                        <a:spcAft>
                          <a:spcPts val="0"/>
                        </a:spcAft>
                      </a:pPr>
                      <a:r>
                        <a:rPr sz="1050" b="0" i="0">
                          <a:solidFill>
                            <a:srgbClr val="334050"/>
                          </a:solidFill>
                          <a:latin typeface="Segoe UI"/>
                          <a:ea typeface="Segoe UI"/>
                        </a:rPr>
                        <a:t>One LLM call turns the raw query into a retrieval-friendly form</a:t>
                      </a:r>
                    </a:p>
                  </a:txBody>
                  <a:tcPr marL="82296" marR="64008" marT="18288" marB="18288" anchor="ctr">
                    <a:solidFill>
                      <a:srgbClr val="FFFFFF"/>
                    </a:solidFill>
                  </a:tcPr>
                </a:tc>
                <a:extLst>
                  <a:ext uri="{0D108BD9-81ED-4DB2-BD59-A6C34878D82A}">
                    <a16:rowId xmlns:a16="http://schemas.microsoft.com/office/drawing/2014/main" val="10001"/>
                  </a:ext>
                </a:extLst>
              </a:tr>
              <a:tr h="310896">
                <a:tc>
                  <a:txBody>
                    <a:bodyPr/>
                    <a:lstStyle/>
                    <a:p>
                      <a:pPr algn="l">
                        <a:lnSpc>
                          <a:spcPct val="108000"/>
                        </a:lnSpc>
                        <a:spcAft>
                          <a:spcPts val="0"/>
                        </a:spcAft>
                      </a:pPr>
                      <a:r>
                        <a:rPr sz="1050" b="0" i="0">
                          <a:solidFill>
                            <a:srgbClr val="334050"/>
                          </a:solidFill>
                          <a:latin typeface="Segoe UI"/>
                          <a:ea typeface="Segoe UI"/>
                        </a:rPr>
                        <a:t>HyDE</a:t>
                      </a:r>
                    </a:p>
                  </a:txBody>
                  <a:tcPr marL="82296" marR="64008" marT="18288" marB="18288" anchor="ctr">
                    <a:solidFill>
                      <a:srgbClr val="F4F7FB"/>
                    </a:solidFill>
                  </a:tcPr>
                </a:tc>
                <a:tc>
                  <a:txBody>
                    <a:bodyPr/>
                    <a:lstStyle/>
                    <a:p>
                      <a:pPr algn="l">
                        <a:lnSpc>
                          <a:spcPct val="108000"/>
                        </a:lnSpc>
                        <a:spcAft>
                          <a:spcPts val="0"/>
                        </a:spcAft>
                      </a:pPr>
                      <a:r>
                        <a:rPr sz="1050" b="0" i="0">
                          <a:solidFill>
                            <a:srgbClr val="334050"/>
                          </a:solidFill>
                          <a:latin typeface="Segoe UI"/>
                          <a:ea typeface="Segoe UI"/>
                        </a:rPr>
                        <a:t>Generate a hypothetical answer first, then retrieve with it (closer to document space)</a:t>
                      </a:r>
                    </a:p>
                  </a:txBody>
                  <a:tcPr marL="82296" marR="64008" marT="18288" marB="18288" anchor="ctr">
                    <a:solidFill>
                      <a:srgbClr val="F4F7FB"/>
                    </a:solidFill>
                  </a:tcPr>
                </a:tc>
                <a:extLst>
                  <a:ext uri="{0D108BD9-81ED-4DB2-BD59-A6C34878D82A}">
                    <a16:rowId xmlns:a16="http://schemas.microsoft.com/office/drawing/2014/main" val="10002"/>
                  </a:ext>
                </a:extLst>
              </a:tr>
              <a:tr h="310896">
                <a:tc>
                  <a:txBody>
                    <a:bodyPr/>
                    <a:lstStyle/>
                    <a:p>
                      <a:pPr algn="l">
                        <a:lnSpc>
                          <a:spcPct val="108000"/>
                        </a:lnSpc>
                        <a:spcAft>
                          <a:spcPts val="0"/>
                        </a:spcAft>
                      </a:pPr>
                      <a:r>
                        <a:rPr sz="1050" b="0" i="0">
                          <a:solidFill>
                            <a:srgbClr val="334050"/>
                          </a:solidFill>
                          <a:latin typeface="Segoe UI"/>
                          <a:ea typeface="Segoe UI"/>
                        </a:rPr>
                        <a:t>Step-back</a:t>
                      </a:r>
                    </a:p>
                  </a:txBody>
                  <a:tcPr marL="82296" marR="64008" marT="18288" marB="18288" anchor="ctr">
                    <a:solidFill>
                      <a:srgbClr val="FFFFFF"/>
                    </a:solidFill>
                  </a:tcPr>
                </a:tc>
                <a:tc>
                  <a:txBody>
                    <a:bodyPr/>
                    <a:lstStyle/>
                    <a:p>
                      <a:pPr algn="l">
                        <a:lnSpc>
                          <a:spcPct val="108000"/>
                        </a:lnSpc>
                        <a:spcAft>
                          <a:spcPts val="0"/>
                        </a:spcAft>
                      </a:pPr>
                      <a:r>
                        <a:rPr sz="1050" b="0" i="0">
                          <a:solidFill>
                            <a:srgbClr val="334050"/>
                          </a:solidFill>
                          <a:latin typeface="Segoe UI"/>
                          <a:ea typeface="Segoe UI"/>
                        </a:rPr>
                        <a:t>Ask a more abstract parent question first, then retrieve (helps reasoning questions)</a:t>
                      </a:r>
                    </a:p>
                  </a:txBody>
                  <a:tcPr marL="82296" marR="64008" marT="18288" marB="18288" anchor="ctr">
                    <a:solidFill>
                      <a:srgbClr val="FFFFFF"/>
                    </a:solidFill>
                  </a:tcPr>
                </a:tc>
                <a:extLst>
                  <a:ext uri="{0D108BD9-81ED-4DB2-BD59-A6C34878D82A}">
                    <a16:rowId xmlns:a16="http://schemas.microsoft.com/office/drawing/2014/main" val="10003"/>
                  </a:ext>
                </a:extLst>
              </a:tr>
            </a:tbl>
          </a:graphicData>
        </a:graphic>
      </p:graphicFrame>
      <p:sp>
        <p:nvSpPr>
          <p:cNvPr id="11" name="Rounded Rectangle 10"/>
          <p:cNvSpPr/>
          <p:nvPr/>
        </p:nvSpPr>
        <p:spPr>
          <a:xfrm>
            <a:off x="6693408" y="1938528"/>
            <a:ext cx="4931359" cy="4754880"/>
          </a:xfrm>
          <a:prstGeom prst="roundRect">
            <a:avLst>
              <a:gd name="adj" fmla="val 3000"/>
            </a:avLst>
          </a:prstGeom>
          <a:solidFill>
            <a:srgbClr val="F7F9FC"/>
          </a:solidFill>
          <a:ln w="12700">
            <a:solidFill>
              <a:srgbClr val="BBC7D6"/>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2" name="TextBox 11"/>
          <p:cNvSpPr txBox="1"/>
          <p:nvPr/>
        </p:nvSpPr>
        <p:spPr>
          <a:xfrm>
            <a:off x="6894576" y="2103120"/>
            <a:ext cx="4529023" cy="4425696"/>
          </a:xfrm>
          <a:prstGeom prst="rect">
            <a:avLst/>
          </a:prstGeom>
          <a:noFill/>
        </p:spPr>
        <p:txBody>
          <a:bodyPr wrap="square" lIns="0" tIns="0" rIns="0" bIns="0">
            <a:spAutoFit/>
          </a:bodyPr>
          <a:lstStyle/>
          <a:p>
            <a:pPr algn="l">
              <a:lnSpc>
                <a:spcPct val="120000"/>
              </a:lnSpc>
              <a:spcAft>
                <a:spcPts val="400"/>
              </a:spcAft>
            </a:pPr>
            <a:r>
              <a:rPr sz="1300" b="1" i="0">
                <a:solidFill>
                  <a:srgbClr val="1F5CA8"/>
                </a:solidFill>
                <a:latin typeface="Segoe UI"/>
                <a:ea typeface="Segoe UI"/>
              </a:rPr>
              <a:t>Placeholder: before / after rewrite examples</a:t>
            </a:r>
          </a:p>
          <a:p>
            <a:pPr algn="l">
              <a:lnSpc>
                <a:spcPct val="120000"/>
              </a:lnSpc>
              <a:spcAft>
                <a:spcPts val="0"/>
              </a:spcAft>
            </a:pPr>
            <a:r>
              <a:rPr sz="1150" b="0" i="0">
                <a:solidFill>
                  <a:srgbClr val="7A8696"/>
                </a:solidFill>
                <a:latin typeface="Segoe UI"/>
                <a:ea typeface="Segoe UI"/>
              </a:rPr>
              <a:t>Suggested: 1-2 real cases showing the original query, the rewrite, and what each one retrieved (with similarity scores)</a:t>
            </a:r>
          </a:p>
          <a:p>
            <a:pPr algn="l">
              <a:lnSpc>
                <a:spcPct val="120000"/>
              </a:lnSpc>
              <a:spcAft>
                <a:spcPts val="200"/>
              </a:spcAft>
            </a:pPr>
            <a:r>
              <a:rPr sz="1150" b="0" i="0">
                <a:solidFill>
                  <a:srgbClr val="BBC7D6"/>
                </a:solidFill>
                <a:latin typeface="Segoe UI"/>
                <a:ea typeface="Segoe UI"/>
              </a:rPr>
              <a:t>· </a:t>
            </a:r>
          </a:p>
          <a:p>
            <a:pPr algn="l">
              <a:lnSpc>
                <a:spcPct val="120000"/>
              </a:lnSpc>
              <a:spcAft>
                <a:spcPts val="200"/>
              </a:spcAft>
            </a:pPr>
            <a:r>
              <a:rPr sz="1150" b="0" i="0">
                <a:solidFill>
                  <a:srgbClr val="BBC7D6"/>
                </a:solidFill>
                <a:latin typeface="Segoe UI"/>
                <a:ea typeface="Segoe UI"/>
              </a:rPr>
              <a:t>· </a:t>
            </a:r>
          </a:p>
          <a:p>
            <a:pPr algn="l">
              <a:lnSpc>
                <a:spcPct val="120000"/>
              </a:lnSpc>
              <a:spcAft>
                <a:spcPts val="200"/>
              </a:spcAft>
            </a:pPr>
            <a:r>
              <a:rPr sz="1150" b="0" i="0">
                <a:solidFill>
                  <a:srgbClr val="BBC7D6"/>
                </a:solidFill>
                <a:latin typeface="Segoe UI"/>
                <a:ea typeface="Segoe UI"/>
              </a:rPr>
              <a:t>· </a:t>
            </a:r>
          </a:p>
          <a:p>
            <a:pPr algn="l">
              <a:lnSpc>
                <a:spcPct val="120000"/>
              </a:lnSpc>
              <a:spcAft>
                <a:spcPts val="200"/>
              </a:spcAft>
            </a:pPr>
            <a:r>
              <a:rPr sz="1150" b="0" i="0">
                <a:solidFill>
                  <a:srgbClr val="BBC7D6"/>
                </a:solidFill>
                <a:latin typeface="Segoe UI"/>
                <a:ea typeface="Segoe UI"/>
              </a:rPr>
              <a:t>· </a:t>
            </a:r>
          </a:p>
          <a:p>
            <a:pPr algn="l">
              <a:lnSpc>
                <a:spcPct val="120000"/>
              </a:lnSpc>
              <a:spcAft>
                <a:spcPts val="200"/>
              </a:spcAft>
            </a:pPr>
            <a:r>
              <a:rPr sz="1150" b="0" i="0">
                <a:solidFill>
                  <a:srgbClr val="BBC7D6"/>
                </a:solidFill>
                <a:latin typeface="Segoe UI"/>
                <a:ea typeface="Segoe UI"/>
              </a:rPr>
              <a:t>· </a:t>
            </a:r>
          </a:p>
          <a:p>
            <a:pPr algn="l">
              <a:lnSpc>
                <a:spcPct val="120000"/>
              </a:lnSpc>
              <a:spcAft>
                <a:spcPts val="200"/>
              </a:spcAft>
            </a:pPr>
            <a:r>
              <a:rPr sz="1150" b="0" i="0">
                <a:solidFill>
                  <a:srgbClr val="BBC7D6"/>
                </a:solidFill>
                <a:latin typeface="Segoe UI"/>
                <a:ea typeface="Segoe UI"/>
              </a:rPr>
              <a:t>· </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7724"/>
          </a:xfrm>
          <a:prstGeom prst="rect">
            <a:avLst/>
          </a:prstGeom>
          <a:solidFill>
            <a:srgbClr val="1F5CA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TextBox 2"/>
          <p:cNvSpPr txBox="1"/>
          <p:nvPr/>
        </p:nvSpPr>
        <p:spPr>
          <a:xfrm>
            <a:off x="566928" y="310896"/>
            <a:ext cx="8595360" cy="274320"/>
          </a:xfrm>
          <a:prstGeom prst="rect">
            <a:avLst/>
          </a:prstGeom>
          <a:noFill/>
        </p:spPr>
        <p:txBody>
          <a:bodyPr wrap="square" lIns="0" tIns="0" rIns="0" bIns="0">
            <a:spAutoFit/>
          </a:bodyPr>
          <a:lstStyle/>
          <a:p>
            <a:pPr algn="l">
              <a:lnSpc>
                <a:spcPct val="120000"/>
              </a:lnSpc>
              <a:spcAft>
                <a:spcPts val="0"/>
              </a:spcAft>
            </a:pPr>
            <a:r>
              <a:rPr sz="1050" b="1" i="0">
                <a:solidFill>
                  <a:srgbClr val="1F5CA8"/>
                </a:solidFill>
                <a:latin typeface="Segoe UI"/>
                <a:ea typeface="Segoe UI"/>
              </a:rPr>
              <a:t>PART 2 · AGENTIC RAG</a:t>
            </a:r>
          </a:p>
        </p:txBody>
      </p:sp>
      <p:sp>
        <p:nvSpPr>
          <p:cNvPr id="4" name="TextBox 3"/>
          <p:cNvSpPr txBox="1"/>
          <p:nvPr/>
        </p:nvSpPr>
        <p:spPr>
          <a:xfrm>
            <a:off x="10161727" y="310896"/>
            <a:ext cx="1463040" cy="274320"/>
          </a:xfrm>
          <a:prstGeom prst="rect">
            <a:avLst/>
          </a:prstGeom>
          <a:noFill/>
        </p:spPr>
        <p:txBody>
          <a:bodyPr wrap="square" lIns="0" tIns="0" rIns="0" bIns="0">
            <a:spAutoFit/>
          </a:bodyPr>
          <a:lstStyle/>
          <a:p>
            <a:pPr algn="r">
              <a:lnSpc>
                <a:spcPct val="120000"/>
              </a:lnSpc>
              <a:spcAft>
                <a:spcPts val="0"/>
              </a:spcAft>
            </a:pPr>
            <a:r>
              <a:rPr sz="1050" b="0" i="0">
                <a:solidFill>
                  <a:srgbClr val="7A8696"/>
                </a:solidFill>
                <a:latin typeface="Segoe UI"/>
                <a:ea typeface="Segoe UI"/>
              </a:rPr>
              <a:t>22</a:t>
            </a:r>
          </a:p>
        </p:txBody>
      </p:sp>
      <p:sp>
        <p:nvSpPr>
          <p:cNvPr id="5" name="TextBox 4"/>
          <p:cNvSpPr txBox="1"/>
          <p:nvPr/>
        </p:nvSpPr>
        <p:spPr>
          <a:xfrm>
            <a:off x="566928" y="658368"/>
            <a:ext cx="11057839" cy="658368"/>
          </a:xfrm>
          <a:prstGeom prst="rect">
            <a:avLst/>
          </a:prstGeom>
          <a:noFill/>
        </p:spPr>
        <p:txBody>
          <a:bodyPr wrap="square" lIns="0" tIns="0" rIns="0" bIns="0">
            <a:spAutoFit/>
          </a:bodyPr>
          <a:lstStyle/>
          <a:p>
            <a:pPr algn="l">
              <a:lnSpc>
                <a:spcPct val="120000"/>
              </a:lnSpc>
              <a:spcAft>
                <a:spcPts val="0"/>
              </a:spcAft>
            </a:pPr>
            <a:r>
              <a:rPr sz="2700" b="1" i="0">
                <a:solidFill>
                  <a:srgbClr val="1B2533"/>
                </a:solidFill>
                <a:latin typeface="Segoe UI"/>
                <a:ea typeface="Segoe UI"/>
              </a:rPr>
              <a:t>Query side (2): Multi-Query and decomposition</a:t>
            </a:r>
          </a:p>
        </p:txBody>
      </p:sp>
      <p:sp>
        <p:nvSpPr>
          <p:cNvPr id="6" name="Rectangle 5"/>
          <p:cNvSpPr/>
          <p:nvPr/>
        </p:nvSpPr>
        <p:spPr>
          <a:xfrm>
            <a:off x="566928" y="1371600"/>
            <a:ext cx="1051560" cy="50292"/>
          </a:xfrm>
          <a:prstGeom prst="rect">
            <a:avLst/>
          </a:prstGeom>
          <a:solidFill>
            <a:srgbClr val="1F5CA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 name="TextBox 6"/>
          <p:cNvSpPr txBox="1"/>
          <p:nvPr/>
        </p:nvSpPr>
        <p:spPr>
          <a:xfrm>
            <a:off x="566928" y="1517904"/>
            <a:ext cx="11057839" cy="329184"/>
          </a:xfrm>
          <a:prstGeom prst="rect">
            <a:avLst/>
          </a:prstGeom>
          <a:noFill/>
        </p:spPr>
        <p:txBody>
          <a:bodyPr wrap="square" lIns="0" tIns="0" rIns="0" bIns="0">
            <a:spAutoFit/>
          </a:bodyPr>
          <a:lstStyle/>
          <a:p>
            <a:pPr algn="l">
              <a:lnSpc>
                <a:spcPct val="120000"/>
              </a:lnSpc>
              <a:spcAft>
                <a:spcPts val="0"/>
              </a:spcAft>
            </a:pPr>
            <a:r>
              <a:rPr sz="1300" b="0" i="0">
                <a:solidFill>
                  <a:srgbClr val="7A8696"/>
                </a:solidFill>
                <a:latin typeface="Segoe UI"/>
                <a:ea typeface="Segoe UI"/>
              </a:rPr>
              <a:t>If one vector cannot recall everything, recall along several paths</a:t>
            </a:r>
          </a:p>
        </p:txBody>
      </p:sp>
      <p:sp>
        <p:nvSpPr>
          <p:cNvPr id="8" name="Rounded Rectangle 7"/>
          <p:cNvSpPr/>
          <p:nvPr/>
        </p:nvSpPr>
        <p:spPr>
          <a:xfrm>
            <a:off x="566928" y="1938528"/>
            <a:ext cx="5760720" cy="2542032"/>
          </a:xfrm>
          <a:prstGeom prst="roundRect">
            <a:avLst>
              <a:gd name="adj" fmla="val 3000"/>
            </a:avLst>
          </a:prstGeom>
          <a:noFill/>
          <a:ln w="12700">
            <a:solidFill>
              <a:srgbClr val="D8DEE6"/>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TextBox 8"/>
          <p:cNvSpPr txBox="1"/>
          <p:nvPr/>
        </p:nvSpPr>
        <p:spPr>
          <a:xfrm>
            <a:off x="804672" y="2084831"/>
            <a:ext cx="5303520" cy="2377440"/>
          </a:xfrm>
          <a:prstGeom prst="rect">
            <a:avLst/>
          </a:prstGeom>
          <a:noFill/>
        </p:spPr>
        <p:txBody>
          <a:bodyPr wrap="square" lIns="0" tIns="0" rIns="0" bIns="0">
            <a:spAutoFit/>
          </a:bodyPr>
          <a:lstStyle/>
          <a:p>
            <a:pPr algn="l">
              <a:lnSpc>
                <a:spcPct val="120000"/>
              </a:lnSpc>
              <a:spcAft>
                <a:spcPts val="800"/>
              </a:spcAft>
            </a:pPr>
            <a:r>
              <a:rPr sz="1400" b="1" i="0">
                <a:solidFill>
                  <a:srgbClr val="1F5CA8"/>
                </a:solidFill>
                <a:latin typeface="Segoe UI"/>
                <a:ea typeface="Segoe UI"/>
              </a:rPr>
              <a:t>Multi-Query</a:t>
            </a:r>
          </a:p>
          <a:p>
            <a:pPr algn="l">
              <a:lnSpc>
                <a:spcPct val="115000"/>
              </a:lnSpc>
              <a:spcAft>
                <a:spcPts val="700"/>
              </a:spcAft>
            </a:pPr>
            <a:r>
              <a:rPr sz="1250" b="0" i="0">
                <a:solidFill>
                  <a:srgbClr val="334050"/>
                </a:solidFill>
                <a:latin typeface="Segoe UI"/>
                <a:ea typeface="Segoe UI"/>
              </a:rPr>
              <a:t>▪  An LLM rewrites the query into N variants with different angles and phrasing</a:t>
            </a:r>
          </a:p>
          <a:p>
            <a:pPr algn="l">
              <a:lnSpc>
                <a:spcPct val="115000"/>
              </a:lnSpc>
              <a:spcAft>
                <a:spcPts val="700"/>
              </a:spcAft>
            </a:pPr>
            <a:r>
              <a:rPr sz="1250" b="0" i="0">
                <a:solidFill>
                  <a:srgbClr val="334050"/>
                </a:solidFill>
                <a:latin typeface="Segoe UI"/>
                <a:ea typeface="Segoe UI"/>
              </a:rPr>
              <a:t>▪  Retrieve with each, merge the candidate sets, then dedupe and rerank (RRF reciprocal rank fusion is common)</a:t>
            </a:r>
          </a:p>
          <a:p>
            <a:pPr algn="l">
              <a:lnSpc>
                <a:spcPct val="115000"/>
              </a:lnSpc>
              <a:spcAft>
                <a:spcPts val="700"/>
              </a:spcAft>
            </a:pPr>
            <a:r>
              <a:rPr sz="1250" b="0" i="0">
                <a:solidFill>
                  <a:srgbClr val="334050"/>
                </a:solidFill>
                <a:latin typeface="Segoe UI"/>
                <a:ea typeface="Segoe UI"/>
              </a:rPr>
              <a:t>▪  Benefit: higher recall, working around the expressive limit of a single query vector</a:t>
            </a:r>
          </a:p>
          <a:p>
            <a:pPr algn="l">
              <a:lnSpc>
                <a:spcPct val="115000"/>
              </a:lnSpc>
              <a:spcAft>
                <a:spcPts val="700"/>
              </a:spcAft>
            </a:pPr>
            <a:r>
              <a:rPr sz="1250" b="0" i="0">
                <a:solidFill>
                  <a:srgbClr val="334050"/>
                </a:solidFill>
                <a:latin typeface="Segoe UI"/>
                <a:ea typeface="Segoe UI"/>
              </a:rPr>
              <a:t>▪  Cost: N times the retrieval work plus a fusion step; N of 3-5 is usually enough</a:t>
            </a:r>
          </a:p>
        </p:txBody>
      </p:sp>
      <p:sp>
        <p:nvSpPr>
          <p:cNvPr id="10" name="Rounded Rectangle 9"/>
          <p:cNvSpPr/>
          <p:nvPr/>
        </p:nvSpPr>
        <p:spPr>
          <a:xfrm>
            <a:off x="566928" y="4498848"/>
            <a:ext cx="5760720" cy="2194560"/>
          </a:xfrm>
          <a:prstGeom prst="roundRect">
            <a:avLst>
              <a:gd name="adj" fmla="val 3000"/>
            </a:avLst>
          </a:prstGeom>
          <a:solidFill>
            <a:srgbClr val="F7F9FC"/>
          </a:solidFill>
          <a:ln w="12700">
            <a:solidFill>
              <a:srgbClr val="BBC7D6"/>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 name="TextBox 10"/>
          <p:cNvSpPr txBox="1"/>
          <p:nvPr/>
        </p:nvSpPr>
        <p:spPr>
          <a:xfrm>
            <a:off x="786384" y="4663440"/>
            <a:ext cx="5303520" cy="1874519"/>
          </a:xfrm>
          <a:prstGeom prst="rect">
            <a:avLst/>
          </a:prstGeom>
          <a:noFill/>
        </p:spPr>
        <p:txBody>
          <a:bodyPr wrap="square" lIns="0" tIns="0" rIns="0" bIns="0">
            <a:spAutoFit/>
          </a:bodyPr>
          <a:lstStyle/>
          <a:p>
            <a:pPr algn="l">
              <a:lnSpc>
                <a:spcPct val="120000"/>
              </a:lnSpc>
              <a:spcAft>
                <a:spcPts val="500"/>
              </a:spcAft>
            </a:pPr>
            <a:r>
              <a:rPr sz="1300" b="1" i="0">
                <a:solidFill>
                  <a:srgbClr val="1F5CA8"/>
                </a:solidFill>
                <a:latin typeface="Segoe UI"/>
                <a:ea typeface="Segoe UI"/>
              </a:rPr>
              <a:t>Related: query decomposition</a:t>
            </a:r>
          </a:p>
          <a:p>
            <a:pPr algn="l">
              <a:lnSpc>
                <a:spcPct val="118000"/>
              </a:lnSpc>
              <a:spcAft>
                <a:spcPts val="0"/>
              </a:spcAft>
            </a:pPr>
            <a:r>
              <a:rPr sz="1150" b="0" i="0">
                <a:solidFill>
                  <a:srgbClr val="334050"/>
                </a:solidFill>
                <a:latin typeface="Segoe UI"/>
                <a:ea typeface="Segoe UI"/>
              </a:rPr>
              <a:t>Split a compound question into sub-questions, retrieve and answer each, then synthesize. For example “which of A or B is better for cold start?” becomes two retrievals: cold-start capability of A, and of B.</a:t>
            </a:r>
          </a:p>
        </p:txBody>
      </p:sp>
      <p:sp>
        <p:nvSpPr>
          <p:cNvPr id="12" name="Rounded Rectangle 11"/>
          <p:cNvSpPr/>
          <p:nvPr/>
        </p:nvSpPr>
        <p:spPr>
          <a:xfrm>
            <a:off x="6693408" y="1938528"/>
            <a:ext cx="4931359" cy="4754880"/>
          </a:xfrm>
          <a:prstGeom prst="roundRect">
            <a:avLst>
              <a:gd name="adj" fmla="val 3000"/>
            </a:avLst>
          </a:prstGeom>
          <a:solidFill>
            <a:srgbClr val="F7F9FC"/>
          </a:solidFill>
          <a:ln w="12700">
            <a:solidFill>
              <a:srgbClr val="BBC7D6"/>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3" name="TextBox 12"/>
          <p:cNvSpPr txBox="1"/>
          <p:nvPr/>
        </p:nvSpPr>
        <p:spPr>
          <a:xfrm>
            <a:off x="6894576" y="2103120"/>
            <a:ext cx="4529023" cy="4425696"/>
          </a:xfrm>
          <a:prstGeom prst="rect">
            <a:avLst/>
          </a:prstGeom>
          <a:noFill/>
        </p:spPr>
        <p:txBody>
          <a:bodyPr wrap="square" lIns="0" tIns="0" rIns="0" bIns="0">
            <a:spAutoFit/>
          </a:bodyPr>
          <a:lstStyle/>
          <a:p>
            <a:pPr algn="l">
              <a:lnSpc>
                <a:spcPct val="120000"/>
              </a:lnSpc>
              <a:spcAft>
                <a:spcPts val="400"/>
              </a:spcAft>
            </a:pPr>
            <a:r>
              <a:rPr sz="1300" b="1" i="0">
                <a:solidFill>
                  <a:srgbClr val="1F5CA8"/>
                </a:solidFill>
                <a:latin typeface="Segoe UI"/>
                <a:ea typeface="Segoe UI"/>
              </a:rPr>
              <a:t>Placeholder: Multi-Query flow / RRF formula</a:t>
            </a:r>
          </a:p>
          <a:p>
            <a:pPr algn="l">
              <a:lnSpc>
                <a:spcPct val="120000"/>
              </a:lnSpc>
              <a:spcAft>
                <a:spcPts val="0"/>
              </a:spcAft>
            </a:pPr>
            <a:r>
              <a:rPr sz="1150" b="0" i="0">
                <a:solidFill>
                  <a:srgbClr val="7A8696"/>
                </a:solidFill>
                <a:latin typeface="Segoe UI"/>
                <a:ea typeface="Segoe UI"/>
              </a:rPr>
              <a:t>Suggested: query → LLM generates q1..q3 → three retrievals → merge and dedupe → rerank → top-k; with RRF: score = Σ 1/(k + rank_i)</a:t>
            </a:r>
          </a:p>
          <a:p>
            <a:pPr algn="l">
              <a:lnSpc>
                <a:spcPct val="120000"/>
              </a:lnSpc>
              <a:spcAft>
                <a:spcPts val="200"/>
              </a:spcAft>
            </a:pPr>
            <a:r>
              <a:rPr sz="1150" b="0" i="0">
                <a:solidFill>
                  <a:srgbClr val="BBC7D6"/>
                </a:solidFill>
                <a:latin typeface="Segoe UI"/>
                <a:ea typeface="Segoe UI"/>
              </a:rPr>
              <a:t>· </a:t>
            </a:r>
          </a:p>
          <a:p>
            <a:pPr algn="l">
              <a:lnSpc>
                <a:spcPct val="120000"/>
              </a:lnSpc>
              <a:spcAft>
                <a:spcPts val="200"/>
              </a:spcAft>
            </a:pPr>
            <a:r>
              <a:rPr sz="1150" b="0" i="0">
                <a:solidFill>
                  <a:srgbClr val="BBC7D6"/>
                </a:solidFill>
                <a:latin typeface="Segoe UI"/>
                <a:ea typeface="Segoe UI"/>
              </a:rPr>
              <a:t>· </a:t>
            </a:r>
          </a:p>
          <a:p>
            <a:pPr algn="l">
              <a:lnSpc>
                <a:spcPct val="120000"/>
              </a:lnSpc>
              <a:spcAft>
                <a:spcPts val="200"/>
              </a:spcAft>
            </a:pPr>
            <a:r>
              <a:rPr sz="1150" b="0" i="0">
                <a:solidFill>
                  <a:srgbClr val="BBC7D6"/>
                </a:solidFill>
                <a:latin typeface="Segoe UI"/>
                <a:ea typeface="Segoe UI"/>
              </a:rPr>
              <a:t>· </a:t>
            </a:r>
          </a:p>
          <a:p>
            <a:pPr algn="l">
              <a:lnSpc>
                <a:spcPct val="120000"/>
              </a:lnSpc>
              <a:spcAft>
                <a:spcPts val="200"/>
              </a:spcAft>
            </a:pPr>
            <a:r>
              <a:rPr sz="1150" b="0" i="0">
                <a:solidFill>
                  <a:srgbClr val="BBC7D6"/>
                </a:solidFill>
                <a:latin typeface="Segoe UI"/>
                <a:ea typeface="Segoe UI"/>
              </a:rPr>
              <a:t>· </a:t>
            </a:r>
          </a:p>
          <a:p>
            <a:pPr algn="l">
              <a:lnSpc>
                <a:spcPct val="120000"/>
              </a:lnSpc>
              <a:spcAft>
                <a:spcPts val="200"/>
              </a:spcAft>
            </a:pPr>
            <a:r>
              <a:rPr sz="1150" b="0" i="0">
                <a:solidFill>
                  <a:srgbClr val="BBC7D6"/>
                </a:solidFill>
                <a:latin typeface="Segoe UI"/>
                <a:ea typeface="Segoe UI"/>
              </a:rPr>
              <a:t>· </a:t>
            </a:r>
          </a:p>
          <a:p>
            <a:pPr algn="l">
              <a:lnSpc>
                <a:spcPct val="120000"/>
              </a:lnSpc>
              <a:spcAft>
                <a:spcPts val="200"/>
              </a:spcAft>
            </a:pPr>
            <a:r>
              <a:rPr sz="1150" b="0" i="0">
                <a:solidFill>
                  <a:srgbClr val="BBC7D6"/>
                </a:solidFill>
                <a:latin typeface="Segoe UI"/>
                <a:ea typeface="Segoe UI"/>
              </a:rPr>
              <a:t>· </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7724"/>
          </a:xfrm>
          <a:prstGeom prst="rect">
            <a:avLst/>
          </a:prstGeom>
          <a:solidFill>
            <a:srgbClr val="1F5CA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TextBox 2"/>
          <p:cNvSpPr txBox="1"/>
          <p:nvPr/>
        </p:nvSpPr>
        <p:spPr>
          <a:xfrm>
            <a:off x="566928" y="310896"/>
            <a:ext cx="8595360" cy="274320"/>
          </a:xfrm>
          <a:prstGeom prst="rect">
            <a:avLst/>
          </a:prstGeom>
          <a:noFill/>
        </p:spPr>
        <p:txBody>
          <a:bodyPr wrap="square" lIns="0" tIns="0" rIns="0" bIns="0">
            <a:spAutoFit/>
          </a:bodyPr>
          <a:lstStyle/>
          <a:p>
            <a:pPr algn="l">
              <a:lnSpc>
                <a:spcPct val="120000"/>
              </a:lnSpc>
              <a:spcAft>
                <a:spcPts val="0"/>
              </a:spcAft>
            </a:pPr>
            <a:r>
              <a:rPr sz="1050" b="1" i="0">
                <a:solidFill>
                  <a:srgbClr val="1F5CA8"/>
                </a:solidFill>
                <a:latin typeface="Segoe UI"/>
                <a:ea typeface="Segoe UI"/>
              </a:rPr>
              <a:t>PART 2 · AGENTIC RAG</a:t>
            </a:r>
          </a:p>
        </p:txBody>
      </p:sp>
      <p:sp>
        <p:nvSpPr>
          <p:cNvPr id="4" name="TextBox 3"/>
          <p:cNvSpPr txBox="1"/>
          <p:nvPr/>
        </p:nvSpPr>
        <p:spPr>
          <a:xfrm>
            <a:off x="10161727" y="310896"/>
            <a:ext cx="1463040" cy="274320"/>
          </a:xfrm>
          <a:prstGeom prst="rect">
            <a:avLst/>
          </a:prstGeom>
          <a:noFill/>
        </p:spPr>
        <p:txBody>
          <a:bodyPr wrap="square" lIns="0" tIns="0" rIns="0" bIns="0">
            <a:spAutoFit/>
          </a:bodyPr>
          <a:lstStyle/>
          <a:p>
            <a:pPr algn="r">
              <a:lnSpc>
                <a:spcPct val="120000"/>
              </a:lnSpc>
              <a:spcAft>
                <a:spcPts val="0"/>
              </a:spcAft>
            </a:pPr>
            <a:r>
              <a:rPr sz="1050" b="0" i="0">
                <a:solidFill>
                  <a:srgbClr val="7A8696"/>
                </a:solidFill>
                <a:latin typeface="Segoe UI"/>
                <a:ea typeface="Segoe UI"/>
              </a:rPr>
              <a:t>23</a:t>
            </a:r>
          </a:p>
        </p:txBody>
      </p:sp>
      <p:sp>
        <p:nvSpPr>
          <p:cNvPr id="5" name="TextBox 4"/>
          <p:cNvSpPr txBox="1"/>
          <p:nvPr/>
        </p:nvSpPr>
        <p:spPr>
          <a:xfrm>
            <a:off x="566928" y="658368"/>
            <a:ext cx="11057839" cy="658368"/>
          </a:xfrm>
          <a:prstGeom prst="rect">
            <a:avLst/>
          </a:prstGeom>
          <a:noFill/>
        </p:spPr>
        <p:txBody>
          <a:bodyPr wrap="square" lIns="0" tIns="0" rIns="0" bIns="0">
            <a:spAutoFit/>
          </a:bodyPr>
          <a:lstStyle/>
          <a:p>
            <a:pPr algn="l">
              <a:lnSpc>
                <a:spcPct val="120000"/>
              </a:lnSpc>
              <a:spcAft>
                <a:spcPts val="0"/>
              </a:spcAft>
            </a:pPr>
            <a:r>
              <a:rPr sz="2700" b="1" i="0">
                <a:solidFill>
                  <a:srgbClr val="1B2533"/>
                </a:solidFill>
                <a:latin typeface="Segoe UI"/>
                <a:ea typeface="Segoe UI"/>
              </a:rPr>
              <a:t>Orchestration: Adaptive RAG</a:t>
            </a:r>
          </a:p>
        </p:txBody>
      </p:sp>
      <p:sp>
        <p:nvSpPr>
          <p:cNvPr id="6" name="Rectangle 5"/>
          <p:cNvSpPr/>
          <p:nvPr/>
        </p:nvSpPr>
        <p:spPr>
          <a:xfrm>
            <a:off x="566928" y="1371600"/>
            <a:ext cx="1051560" cy="50292"/>
          </a:xfrm>
          <a:prstGeom prst="rect">
            <a:avLst/>
          </a:prstGeom>
          <a:solidFill>
            <a:srgbClr val="1F5CA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 name="TextBox 6"/>
          <p:cNvSpPr txBox="1"/>
          <p:nvPr/>
        </p:nvSpPr>
        <p:spPr>
          <a:xfrm>
            <a:off x="566928" y="1517904"/>
            <a:ext cx="11057839" cy="329184"/>
          </a:xfrm>
          <a:prstGeom prst="rect">
            <a:avLst/>
          </a:prstGeom>
          <a:noFill/>
        </p:spPr>
        <p:txBody>
          <a:bodyPr wrap="square" lIns="0" tIns="0" rIns="0" bIns="0">
            <a:spAutoFit/>
          </a:bodyPr>
          <a:lstStyle/>
          <a:p>
            <a:pPr algn="l">
              <a:lnSpc>
                <a:spcPct val="120000"/>
              </a:lnSpc>
              <a:spcAft>
                <a:spcPts val="0"/>
              </a:spcAft>
            </a:pPr>
            <a:r>
              <a:rPr sz="1300" b="0" i="0">
                <a:solidFill>
                  <a:srgbClr val="7A8696"/>
                </a:solidFill>
                <a:latin typeface="Segoe UI"/>
                <a:ea typeface="Segoe UI"/>
              </a:rPr>
              <a:t>Let the system decide whether to retrieve, how often, and how deep</a:t>
            </a:r>
          </a:p>
        </p:txBody>
      </p:sp>
      <p:sp>
        <p:nvSpPr>
          <p:cNvPr id="8" name="Rounded Rectangle 7"/>
          <p:cNvSpPr/>
          <p:nvPr/>
        </p:nvSpPr>
        <p:spPr>
          <a:xfrm>
            <a:off x="566928" y="1938528"/>
            <a:ext cx="5760720" cy="4754880"/>
          </a:xfrm>
          <a:prstGeom prst="roundRect">
            <a:avLst>
              <a:gd name="adj" fmla="val 3000"/>
            </a:avLst>
          </a:prstGeom>
          <a:noFill/>
          <a:ln w="12700">
            <a:solidFill>
              <a:srgbClr val="D8DEE6"/>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TextBox 8"/>
          <p:cNvSpPr txBox="1"/>
          <p:nvPr/>
        </p:nvSpPr>
        <p:spPr>
          <a:xfrm>
            <a:off x="804672" y="2139696"/>
            <a:ext cx="5303520" cy="3566160"/>
          </a:xfrm>
          <a:prstGeom prst="rect">
            <a:avLst/>
          </a:prstGeom>
          <a:noFill/>
        </p:spPr>
        <p:txBody>
          <a:bodyPr wrap="square" lIns="0" tIns="0" rIns="0" bIns="0">
            <a:spAutoFit/>
          </a:bodyPr>
          <a:lstStyle/>
          <a:p>
            <a:pPr algn="l">
              <a:lnSpc>
                <a:spcPct val="120000"/>
              </a:lnSpc>
              <a:spcAft>
                <a:spcPts val="800"/>
              </a:spcAft>
            </a:pPr>
            <a:r>
              <a:rPr sz="1400" b="1" i="0">
                <a:solidFill>
                  <a:srgbClr val="1F5CA8"/>
                </a:solidFill>
                <a:latin typeface="Segoe UI"/>
                <a:ea typeface="Segoe UI"/>
              </a:rPr>
              <a:t>Core idea</a:t>
            </a:r>
          </a:p>
          <a:p>
            <a:pPr algn="l">
              <a:lnSpc>
                <a:spcPct val="115000"/>
              </a:lnSpc>
              <a:spcAft>
                <a:spcPts val="700"/>
              </a:spcAft>
            </a:pPr>
            <a:r>
              <a:rPr sz="1250" b="0" i="0">
                <a:solidFill>
                  <a:srgbClr val="334050"/>
                </a:solidFill>
                <a:latin typeface="Segoe UI"/>
                <a:ea typeface="Segoe UI"/>
              </a:rPr>
              <a:t>▪  Not every question needs retrieval. “What is 1+1” is fine from parametric knowledge, and retrieving there only adds noise and latency</a:t>
            </a:r>
          </a:p>
          <a:p>
            <a:pPr algn="l">
              <a:lnSpc>
                <a:spcPct val="115000"/>
              </a:lnSpc>
              <a:spcAft>
                <a:spcPts val="700"/>
              </a:spcAft>
            </a:pPr>
            <a:r>
              <a:rPr sz="1250" b="0" i="0">
                <a:solidFill>
                  <a:srgbClr val="334050"/>
                </a:solidFill>
                <a:latin typeface="Segoe UI"/>
                <a:ea typeface="Segoe UI"/>
              </a:rPr>
              <a:t>▪  Typical design: a lightweight classifier or LLM judges query complexity, then routes to one of three paths</a:t>
            </a:r>
          </a:p>
          <a:p>
            <a:pPr algn="l">
              <a:lnSpc>
                <a:spcPct val="115000"/>
              </a:lnSpc>
              <a:spcAft>
                <a:spcPts val="700"/>
              </a:spcAft>
            </a:pPr>
            <a:r>
              <a:rPr sz="1250" b="0" i="0">
                <a:solidFill>
                  <a:srgbClr val="334050"/>
                </a:solidFill>
                <a:latin typeface="Segoe UI"/>
                <a:ea typeface="Segoe UI"/>
              </a:rPr>
              <a:t>▪  Path A (no retrieval): answer directly from the LLM</a:t>
            </a:r>
          </a:p>
          <a:p>
            <a:pPr algn="l">
              <a:lnSpc>
                <a:spcPct val="115000"/>
              </a:lnSpc>
              <a:spcAft>
                <a:spcPts val="700"/>
              </a:spcAft>
            </a:pPr>
            <a:r>
              <a:rPr sz="1250" b="0" i="0">
                <a:solidFill>
                  <a:srgbClr val="334050"/>
                </a:solidFill>
                <a:latin typeface="Segoe UI"/>
                <a:ea typeface="Segoe UI"/>
              </a:rPr>
              <a:t>▪  Path B (single-step): one retrieval, then generate</a:t>
            </a:r>
          </a:p>
          <a:p>
            <a:pPr algn="l">
              <a:lnSpc>
                <a:spcPct val="115000"/>
              </a:lnSpc>
              <a:spcAft>
                <a:spcPts val="700"/>
              </a:spcAft>
            </a:pPr>
            <a:r>
              <a:rPr sz="1250" b="0" i="0">
                <a:solidFill>
                  <a:srgbClr val="334050"/>
                </a:solidFill>
                <a:latin typeface="Segoe UI"/>
                <a:ea typeface="Segoe UI"/>
              </a:rPr>
              <a:t>▪  Path C (multi-step): iterative retrieval, sub-question decomposition, query reformulation as needed</a:t>
            </a:r>
          </a:p>
          <a:p>
            <a:pPr algn="l">
              <a:lnSpc>
                <a:spcPct val="115000"/>
              </a:lnSpc>
              <a:spcAft>
                <a:spcPts val="700"/>
              </a:spcAft>
            </a:pPr>
            <a:r>
              <a:rPr sz="1250" b="0" i="0">
                <a:solidFill>
                  <a:srgbClr val="334050"/>
                </a:solidFill>
                <a:latin typeface="Segoe UI"/>
                <a:ea typeface="Segoe UI"/>
              </a:rPr>
              <a:t>▪  The signal can come from query classification, retrieval relevance scores, or generation confidence</a:t>
            </a:r>
          </a:p>
        </p:txBody>
      </p:sp>
      <p:sp>
        <p:nvSpPr>
          <p:cNvPr id="10" name="Rounded Rectangle 9"/>
          <p:cNvSpPr/>
          <p:nvPr/>
        </p:nvSpPr>
        <p:spPr>
          <a:xfrm>
            <a:off x="6693408" y="1938528"/>
            <a:ext cx="4931359" cy="4754880"/>
          </a:xfrm>
          <a:prstGeom prst="roundRect">
            <a:avLst>
              <a:gd name="adj" fmla="val 3000"/>
            </a:avLst>
          </a:prstGeom>
          <a:solidFill>
            <a:srgbClr val="F7F9FC"/>
          </a:solidFill>
          <a:ln w="12700">
            <a:solidFill>
              <a:srgbClr val="BBC7D6"/>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 name="TextBox 10"/>
          <p:cNvSpPr txBox="1"/>
          <p:nvPr/>
        </p:nvSpPr>
        <p:spPr>
          <a:xfrm>
            <a:off x="6894576" y="2103120"/>
            <a:ext cx="4529023" cy="4425696"/>
          </a:xfrm>
          <a:prstGeom prst="rect">
            <a:avLst/>
          </a:prstGeom>
          <a:noFill/>
        </p:spPr>
        <p:txBody>
          <a:bodyPr wrap="square" lIns="0" tIns="0" rIns="0" bIns="0">
            <a:spAutoFit/>
          </a:bodyPr>
          <a:lstStyle/>
          <a:p>
            <a:pPr algn="l">
              <a:lnSpc>
                <a:spcPct val="120000"/>
              </a:lnSpc>
              <a:spcAft>
                <a:spcPts val="400"/>
              </a:spcAft>
            </a:pPr>
            <a:r>
              <a:rPr sz="1300" b="1" i="0">
                <a:solidFill>
                  <a:srgbClr val="1F5CA8"/>
                </a:solidFill>
                <a:latin typeface="Segoe UI"/>
                <a:ea typeface="Segoe UI"/>
              </a:rPr>
              <a:t>Placeholder: Adaptive RAG routing diagram</a:t>
            </a:r>
          </a:p>
          <a:p>
            <a:pPr algn="l">
              <a:lnSpc>
                <a:spcPct val="120000"/>
              </a:lnSpc>
              <a:spcAft>
                <a:spcPts val="0"/>
              </a:spcAft>
            </a:pPr>
            <a:r>
              <a:rPr sz="1150" b="0" i="0">
                <a:solidFill>
                  <a:srgbClr val="7A8696"/>
                </a:solidFill>
                <a:latin typeface="Segoe UI"/>
                <a:ea typeface="Segoe UI"/>
              </a:rPr>
              <a:t>Suggested: query → (complexity classifier) → no-retrieval / single-step / multi-step branches, annotated with the latency and cost of each</a:t>
            </a:r>
          </a:p>
          <a:p>
            <a:pPr algn="l">
              <a:lnSpc>
                <a:spcPct val="120000"/>
              </a:lnSpc>
              <a:spcAft>
                <a:spcPts val="200"/>
              </a:spcAft>
            </a:pPr>
            <a:r>
              <a:rPr sz="1150" b="0" i="0">
                <a:solidFill>
                  <a:srgbClr val="BBC7D6"/>
                </a:solidFill>
                <a:latin typeface="Segoe UI"/>
                <a:ea typeface="Segoe UI"/>
              </a:rPr>
              <a:t>· </a:t>
            </a:r>
          </a:p>
          <a:p>
            <a:pPr algn="l">
              <a:lnSpc>
                <a:spcPct val="120000"/>
              </a:lnSpc>
              <a:spcAft>
                <a:spcPts val="200"/>
              </a:spcAft>
            </a:pPr>
            <a:r>
              <a:rPr sz="1150" b="0" i="0">
                <a:solidFill>
                  <a:srgbClr val="BBC7D6"/>
                </a:solidFill>
                <a:latin typeface="Segoe UI"/>
                <a:ea typeface="Segoe UI"/>
              </a:rPr>
              <a:t>· </a:t>
            </a:r>
          </a:p>
          <a:p>
            <a:pPr algn="l">
              <a:lnSpc>
                <a:spcPct val="120000"/>
              </a:lnSpc>
              <a:spcAft>
                <a:spcPts val="200"/>
              </a:spcAft>
            </a:pPr>
            <a:r>
              <a:rPr sz="1150" b="0" i="0">
                <a:solidFill>
                  <a:srgbClr val="BBC7D6"/>
                </a:solidFill>
                <a:latin typeface="Segoe UI"/>
                <a:ea typeface="Segoe UI"/>
              </a:rPr>
              <a:t>· </a:t>
            </a:r>
          </a:p>
          <a:p>
            <a:pPr algn="l">
              <a:lnSpc>
                <a:spcPct val="120000"/>
              </a:lnSpc>
              <a:spcAft>
                <a:spcPts val="200"/>
              </a:spcAft>
            </a:pPr>
            <a:r>
              <a:rPr sz="1150" b="0" i="0">
                <a:solidFill>
                  <a:srgbClr val="BBC7D6"/>
                </a:solidFill>
                <a:latin typeface="Segoe UI"/>
                <a:ea typeface="Segoe UI"/>
              </a:rPr>
              <a:t>· </a:t>
            </a:r>
          </a:p>
          <a:p>
            <a:pPr algn="l">
              <a:lnSpc>
                <a:spcPct val="120000"/>
              </a:lnSpc>
              <a:spcAft>
                <a:spcPts val="200"/>
              </a:spcAft>
            </a:pPr>
            <a:r>
              <a:rPr sz="1150" b="0" i="0">
                <a:solidFill>
                  <a:srgbClr val="BBC7D6"/>
                </a:solidFill>
                <a:latin typeface="Segoe UI"/>
                <a:ea typeface="Segoe UI"/>
              </a:rPr>
              <a:t>· </a:t>
            </a:r>
          </a:p>
          <a:p>
            <a:pPr algn="l">
              <a:lnSpc>
                <a:spcPct val="120000"/>
              </a:lnSpc>
              <a:spcAft>
                <a:spcPts val="200"/>
              </a:spcAft>
            </a:pPr>
            <a:r>
              <a:rPr sz="1150" b="0" i="0">
                <a:solidFill>
                  <a:srgbClr val="BBC7D6"/>
                </a:solidFill>
                <a:latin typeface="Segoe UI"/>
                <a:ea typeface="Segoe UI"/>
              </a:rPr>
              <a:t>· </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7724"/>
          </a:xfrm>
          <a:prstGeom prst="rect">
            <a:avLst/>
          </a:prstGeom>
          <a:solidFill>
            <a:srgbClr val="1F5CA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TextBox 2"/>
          <p:cNvSpPr txBox="1"/>
          <p:nvPr/>
        </p:nvSpPr>
        <p:spPr>
          <a:xfrm>
            <a:off x="566928" y="310896"/>
            <a:ext cx="8595360" cy="274320"/>
          </a:xfrm>
          <a:prstGeom prst="rect">
            <a:avLst/>
          </a:prstGeom>
          <a:noFill/>
        </p:spPr>
        <p:txBody>
          <a:bodyPr wrap="square" lIns="0" tIns="0" rIns="0" bIns="0">
            <a:spAutoFit/>
          </a:bodyPr>
          <a:lstStyle/>
          <a:p>
            <a:pPr algn="l">
              <a:lnSpc>
                <a:spcPct val="120000"/>
              </a:lnSpc>
              <a:spcAft>
                <a:spcPts val="0"/>
              </a:spcAft>
            </a:pPr>
            <a:r>
              <a:rPr sz="1050" b="1" i="0">
                <a:solidFill>
                  <a:srgbClr val="1F5CA8"/>
                </a:solidFill>
                <a:latin typeface="Segoe UI"/>
                <a:ea typeface="Segoe UI"/>
              </a:rPr>
              <a:t>PART 2 · AGENTIC RAG</a:t>
            </a:r>
          </a:p>
        </p:txBody>
      </p:sp>
      <p:sp>
        <p:nvSpPr>
          <p:cNvPr id="4" name="TextBox 3"/>
          <p:cNvSpPr txBox="1"/>
          <p:nvPr/>
        </p:nvSpPr>
        <p:spPr>
          <a:xfrm>
            <a:off x="10161727" y="310896"/>
            <a:ext cx="1463040" cy="274320"/>
          </a:xfrm>
          <a:prstGeom prst="rect">
            <a:avLst/>
          </a:prstGeom>
          <a:noFill/>
        </p:spPr>
        <p:txBody>
          <a:bodyPr wrap="square" lIns="0" tIns="0" rIns="0" bIns="0">
            <a:spAutoFit/>
          </a:bodyPr>
          <a:lstStyle/>
          <a:p>
            <a:pPr algn="r">
              <a:lnSpc>
                <a:spcPct val="120000"/>
              </a:lnSpc>
              <a:spcAft>
                <a:spcPts val="0"/>
              </a:spcAft>
            </a:pPr>
            <a:r>
              <a:rPr sz="1050" b="0" i="0">
                <a:solidFill>
                  <a:srgbClr val="7A8696"/>
                </a:solidFill>
                <a:latin typeface="Segoe UI"/>
                <a:ea typeface="Segoe UI"/>
              </a:rPr>
              <a:t>24</a:t>
            </a:r>
          </a:p>
        </p:txBody>
      </p:sp>
      <p:sp>
        <p:nvSpPr>
          <p:cNvPr id="5" name="TextBox 4"/>
          <p:cNvSpPr txBox="1"/>
          <p:nvPr/>
        </p:nvSpPr>
        <p:spPr>
          <a:xfrm>
            <a:off x="566928" y="658368"/>
            <a:ext cx="11057839" cy="658368"/>
          </a:xfrm>
          <a:prstGeom prst="rect">
            <a:avLst/>
          </a:prstGeom>
          <a:noFill/>
        </p:spPr>
        <p:txBody>
          <a:bodyPr wrap="square" lIns="0" tIns="0" rIns="0" bIns="0">
            <a:spAutoFit/>
          </a:bodyPr>
          <a:lstStyle/>
          <a:p>
            <a:pPr algn="l">
              <a:lnSpc>
                <a:spcPct val="120000"/>
              </a:lnSpc>
              <a:spcAft>
                <a:spcPts val="0"/>
              </a:spcAft>
            </a:pPr>
            <a:r>
              <a:rPr sz="2700" b="1" i="0">
                <a:solidFill>
                  <a:srgbClr val="1B2533"/>
                </a:solidFill>
                <a:latin typeface="Segoe UI"/>
                <a:ea typeface="Segoe UI"/>
              </a:rPr>
              <a:t>Knowledge base side (1): Graph RAG</a:t>
            </a:r>
          </a:p>
        </p:txBody>
      </p:sp>
      <p:sp>
        <p:nvSpPr>
          <p:cNvPr id="6" name="Rectangle 5"/>
          <p:cNvSpPr/>
          <p:nvPr/>
        </p:nvSpPr>
        <p:spPr>
          <a:xfrm>
            <a:off x="566928" y="1371600"/>
            <a:ext cx="1051560" cy="50292"/>
          </a:xfrm>
          <a:prstGeom prst="rect">
            <a:avLst/>
          </a:prstGeom>
          <a:solidFill>
            <a:srgbClr val="1F5CA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 name="TextBox 6"/>
          <p:cNvSpPr txBox="1"/>
          <p:nvPr/>
        </p:nvSpPr>
        <p:spPr>
          <a:xfrm>
            <a:off x="566928" y="1517904"/>
            <a:ext cx="11057839" cy="329184"/>
          </a:xfrm>
          <a:prstGeom prst="rect">
            <a:avLst/>
          </a:prstGeom>
          <a:noFill/>
        </p:spPr>
        <p:txBody>
          <a:bodyPr wrap="square" lIns="0" tIns="0" rIns="0" bIns="0">
            <a:spAutoFit/>
          </a:bodyPr>
          <a:lstStyle/>
          <a:p>
            <a:pPr algn="l">
              <a:lnSpc>
                <a:spcPct val="120000"/>
              </a:lnSpc>
              <a:spcAft>
                <a:spcPts val="0"/>
              </a:spcAft>
            </a:pPr>
            <a:r>
              <a:rPr sz="1300" b="0" i="0">
                <a:solidFill>
                  <a:srgbClr val="7A8696"/>
                </a:solidFill>
                <a:latin typeface="Segoe UI"/>
                <a:ea typeface="Segoe UI"/>
              </a:rPr>
              <a:t>When the answer requires connecting facts across documents, vector search fails</a:t>
            </a:r>
          </a:p>
        </p:txBody>
      </p:sp>
      <p:sp>
        <p:nvSpPr>
          <p:cNvPr id="8" name="Rounded Rectangle 7"/>
          <p:cNvSpPr/>
          <p:nvPr/>
        </p:nvSpPr>
        <p:spPr>
          <a:xfrm>
            <a:off x="566928" y="1938528"/>
            <a:ext cx="5760720" cy="2148840"/>
          </a:xfrm>
          <a:prstGeom prst="roundRect">
            <a:avLst>
              <a:gd name="adj" fmla="val 3000"/>
            </a:avLst>
          </a:prstGeom>
          <a:noFill/>
          <a:ln w="12700">
            <a:solidFill>
              <a:srgbClr val="D8DEE6"/>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TextBox 8"/>
          <p:cNvSpPr txBox="1"/>
          <p:nvPr/>
        </p:nvSpPr>
        <p:spPr>
          <a:xfrm>
            <a:off x="804672" y="2121408"/>
            <a:ext cx="5303520" cy="1828800"/>
          </a:xfrm>
          <a:prstGeom prst="rect">
            <a:avLst/>
          </a:prstGeom>
          <a:noFill/>
        </p:spPr>
        <p:txBody>
          <a:bodyPr wrap="square" lIns="0" tIns="0" rIns="0" bIns="0">
            <a:spAutoFit/>
          </a:bodyPr>
          <a:lstStyle/>
          <a:p>
            <a:pPr algn="l">
              <a:lnSpc>
                <a:spcPct val="120000"/>
              </a:lnSpc>
              <a:spcAft>
                <a:spcPts val="800"/>
              </a:spcAft>
            </a:pPr>
            <a:r>
              <a:rPr sz="1400" b="1" i="0">
                <a:solidFill>
                  <a:srgbClr val="1F5CA8"/>
                </a:solidFill>
                <a:latin typeface="Segoe UI"/>
                <a:ea typeface="Segoe UI"/>
              </a:rPr>
              <a:t>Problems it solves</a:t>
            </a:r>
          </a:p>
          <a:p>
            <a:pPr algn="l">
              <a:lnSpc>
                <a:spcPct val="115000"/>
              </a:lnSpc>
              <a:spcAft>
                <a:spcPts val="700"/>
              </a:spcAft>
            </a:pPr>
            <a:r>
              <a:rPr sz="1250" b="0" i="0">
                <a:solidFill>
                  <a:srgbClr val="334050"/>
                </a:solidFill>
                <a:latin typeface="Segoe UI"/>
                <a:ea typeface="Segoe UI"/>
              </a:rPr>
              <a:t>▪  Global questions: “what are the main themes of the whole corpus?” — no single chunk contains that answer</a:t>
            </a:r>
          </a:p>
          <a:p>
            <a:pPr algn="l">
              <a:lnSpc>
                <a:spcPct val="115000"/>
              </a:lnSpc>
              <a:spcAft>
                <a:spcPts val="700"/>
              </a:spcAft>
            </a:pPr>
            <a:r>
              <a:rPr sz="1250" b="0" i="0">
                <a:solidFill>
                  <a:srgbClr val="334050"/>
                </a:solidFill>
                <a:latin typeface="Segoe UI"/>
                <a:ea typeface="Segoe UI"/>
              </a:rPr>
              <a:t>▪  Multi-hop questions: “which other companies did the CEO of A's supplier invest in?” — requires walking a chain of relations</a:t>
            </a:r>
          </a:p>
          <a:p>
            <a:pPr algn="l">
              <a:lnSpc>
                <a:spcPct val="115000"/>
              </a:lnSpc>
              <a:spcAft>
                <a:spcPts val="700"/>
              </a:spcAft>
            </a:pPr>
            <a:r>
              <a:rPr sz="1250" b="0" i="0">
                <a:solidFill>
                  <a:srgbClr val="334050"/>
                </a:solidFill>
                <a:latin typeface="Segoe UI"/>
                <a:ea typeface="Segoe UI"/>
              </a:rPr>
              <a:t>▪  Vector top-K returns similar fragments; it cannot return relational structure</a:t>
            </a:r>
          </a:p>
        </p:txBody>
      </p:sp>
      <p:sp>
        <p:nvSpPr>
          <p:cNvPr id="10" name="Rounded Rectangle 9"/>
          <p:cNvSpPr/>
          <p:nvPr/>
        </p:nvSpPr>
        <p:spPr>
          <a:xfrm>
            <a:off x="566928" y="4361688"/>
            <a:ext cx="5760720" cy="1536192"/>
          </a:xfrm>
          <a:prstGeom prst="roundRect">
            <a:avLst>
              <a:gd name="adj" fmla="val 3000"/>
            </a:avLst>
          </a:prstGeom>
          <a:noFill/>
          <a:ln w="12700">
            <a:solidFill>
              <a:srgbClr val="D8DEE6"/>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 name="TextBox 10"/>
          <p:cNvSpPr txBox="1"/>
          <p:nvPr/>
        </p:nvSpPr>
        <p:spPr>
          <a:xfrm>
            <a:off x="804672" y="4480560"/>
            <a:ext cx="5303520" cy="1645920"/>
          </a:xfrm>
          <a:prstGeom prst="rect">
            <a:avLst/>
          </a:prstGeom>
          <a:noFill/>
        </p:spPr>
        <p:txBody>
          <a:bodyPr wrap="square" lIns="0" tIns="0" rIns="0" bIns="0">
            <a:spAutoFit/>
          </a:bodyPr>
          <a:lstStyle/>
          <a:p>
            <a:pPr algn="l">
              <a:lnSpc>
                <a:spcPct val="120000"/>
              </a:lnSpc>
              <a:spcAft>
                <a:spcPts val="700"/>
              </a:spcAft>
            </a:pPr>
            <a:r>
              <a:rPr sz="1400" b="1" i="0">
                <a:solidFill>
                  <a:srgbClr val="1F5CA8"/>
                </a:solidFill>
                <a:latin typeface="Segoe UI"/>
                <a:ea typeface="Segoe UI"/>
              </a:rPr>
              <a:t>Typical approach (Microsoft GraphRAG)</a:t>
            </a:r>
          </a:p>
          <a:p>
            <a:pPr algn="l">
              <a:lnSpc>
                <a:spcPct val="115000"/>
              </a:lnSpc>
              <a:spcAft>
                <a:spcPts val="700"/>
              </a:spcAft>
            </a:pPr>
            <a:r>
              <a:rPr sz="1150" b="0" i="0">
                <a:solidFill>
                  <a:srgbClr val="334050"/>
                </a:solidFill>
                <a:latin typeface="Segoe UI"/>
                <a:ea typeface="Segoe UI"/>
              </a:rPr>
              <a:t>▪  An LLM extracts entities, relations and claims from every chunk to build a knowledge graph</a:t>
            </a:r>
          </a:p>
          <a:p>
            <a:pPr algn="l">
              <a:lnSpc>
                <a:spcPct val="115000"/>
              </a:lnSpc>
              <a:spcAft>
                <a:spcPts val="700"/>
              </a:spcAft>
            </a:pPr>
            <a:r>
              <a:rPr sz="1150" b="0" i="0">
                <a:solidFill>
                  <a:srgbClr val="334050"/>
                </a:solidFill>
                <a:latin typeface="Segoe UI"/>
                <a:ea typeface="Segoe UI"/>
              </a:rPr>
              <a:t>▪  Hierarchical communities are detected and summarized ahead of time</a:t>
            </a:r>
          </a:p>
          <a:p>
            <a:pPr algn="l">
              <a:lnSpc>
                <a:spcPct val="115000"/>
              </a:lnSpc>
              <a:spcAft>
                <a:spcPts val="700"/>
              </a:spcAft>
            </a:pPr>
            <a:r>
              <a:rPr sz="1150" b="0" i="0">
                <a:solidFill>
                  <a:srgbClr val="334050"/>
                </a:solidFill>
                <a:latin typeface="Segoe UI"/>
                <a:ea typeface="Segoe UI"/>
              </a:rPr>
              <a:t>▪  At query time: local search walks entity neighborhoods; global questions use community summaries in map-reduce</a:t>
            </a:r>
          </a:p>
        </p:txBody>
      </p:sp>
      <p:sp>
        <p:nvSpPr>
          <p:cNvPr id="12" name="Rounded Rectangle 11"/>
          <p:cNvSpPr/>
          <p:nvPr/>
        </p:nvSpPr>
        <p:spPr>
          <a:xfrm>
            <a:off x="6693408" y="1938528"/>
            <a:ext cx="4931359" cy="4754880"/>
          </a:xfrm>
          <a:prstGeom prst="roundRect">
            <a:avLst>
              <a:gd name="adj" fmla="val 3000"/>
            </a:avLst>
          </a:prstGeom>
          <a:solidFill>
            <a:srgbClr val="F7F9FC"/>
          </a:solidFill>
          <a:ln w="12700">
            <a:solidFill>
              <a:srgbClr val="BBC7D6"/>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3" name="TextBox 12"/>
          <p:cNvSpPr txBox="1"/>
          <p:nvPr/>
        </p:nvSpPr>
        <p:spPr>
          <a:xfrm>
            <a:off x="6894576" y="2103120"/>
            <a:ext cx="4529023" cy="4425696"/>
          </a:xfrm>
          <a:prstGeom prst="rect">
            <a:avLst/>
          </a:prstGeom>
          <a:noFill/>
        </p:spPr>
        <p:txBody>
          <a:bodyPr wrap="square" lIns="0" tIns="0" rIns="0" bIns="0">
            <a:spAutoFit/>
          </a:bodyPr>
          <a:lstStyle/>
          <a:p>
            <a:pPr algn="l">
              <a:lnSpc>
                <a:spcPct val="120000"/>
              </a:lnSpc>
              <a:spcAft>
                <a:spcPts val="400"/>
              </a:spcAft>
            </a:pPr>
            <a:r>
              <a:rPr sz="1300" b="1" i="0">
                <a:solidFill>
                  <a:srgbClr val="1F5CA8"/>
                </a:solidFill>
                <a:latin typeface="Segoe UI"/>
                <a:ea typeface="Segoe UI"/>
              </a:rPr>
              <a:t>Placeholder: knowledge graph + community hierarchy</a:t>
            </a:r>
          </a:p>
          <a:p>
            <a:pPr algn="l">
              <a:lnSpc>
                <a:spcPct val="120000"/>
              </a:lnSpc>
              <a:spcAft>
                <a:spcPts val="0"/>
              </a:spcAft>
            </a:pPr>
            <a:r>
              <a:rPr sz="1150" b="0" i="0">
                <a:solidFill>
                  <a:srgbClr val="7A8696"/>
                </a:solidFill>
                <a:latin typeface="Segoe UI"/>
                <a:ea typeface="Segoe UI"/>
              </a:rPr>
              <a:t>Suggested: a small node-and-edge graph with colored rings showing community levels, plus an example map-reduce result for a global question</a:t>
            </a:r>
          </a:p>
          <a:p>
            <a:pPr algn="l">
              <a:lnSpc>
                <a:spcPct val="120000"/>
              </a:lnSpc>
              <a:spcAft>
                <a:spcPts val="200"/>
              </a:spcAft>
            </a:pPr>
            <a:r>
              <a:rPr sz="1150" b="0" i="0">
                <a:solidFill>
                  <a:srgbClr val="BBC7D6"/>
                </a:solidFill>
                <a:latin typeface="Segoe UI"/>
                <a:ea typeface="Segoe UI"/>
              </a:rPr>
              <a:t>· </a:t>
            </a:r>
          </a:p>
          <a:p>
            <a:pPr algn="l">
              <a:lnSpc>
                <a:spcPct val="120000"/>
              </a:lnSpc>
              <a:spcAft>
                <a:spcPts val="200"/>
              </a:spcAft>
            </a:pPr>
            <a:r>
              <a:rPr sz="1150" b="0" i="0">
                <a:solidFill>
                  <a:srgbClr val="BBC7D6"/>
                </a:solidFill>
                <a:latin typeface="Segoe UI"/>
                <a:ea typeface="Segoe UI"/>
              </a:rPr>
              <a:t>· </a:t>
            </a:r>
          </a:p>
          <a:p>
            <a:pPr algn="l">
              <a:lnSpc>
                <a:spcPct val="120000"/>
              </a:lnSpc>
              <a:spcAft>
                <a:spcPts val="200"/>
              </a:spcAft>
            </a:pPr>
            <a:r>
              <a:rPr sz="1150" b="0" i="0">
                <a:solidFill>
                  <a:srgbClr val="BBC7D6"/>
                </a:solidFill>
                <a:latin typeface="Segoe UI"/>
                <a:ea typeface="Segoe UI"/>
              </a:rPr>
              <a:t>· </a:t>
            </a:r>
          </a:p>
          <a:p>
            <a:pPr algn="l">
              <a:lnSpc>
                <a:spcPct val="120000"/>
              </a:lnSpc>
              <a:spcAft>
                <a:spcPts val="200"/>
              </a:spcAft>
            </a:pPr>
            <a:r>
              <a:rPr sz="1150" b="0" i="0">
                <a:solidFill>
                  <a:srgbClr val="BBC7D6"/>
                </a:solidFill>
                <a:latin typeface="Segoe UI"/>
                <a:ea typeface="Segoe UI"/>
              </a:rPr>
              <a:t>· </a:t>
            </a:r>
          </a:p>
          <a:p>
            <a:pPr algn="l">
              <a:lnSpc>
                <a:spcPct val="120000"/>
              </a:lnSpc>
              <a:spcAft>
                <a:spcPts val="200"/>
              </a:spcAft>
            </a:pPr>
            <a:r>
              <a:rPr sz="1150" b="0" i="0">
                <a:solidFill>
                  <a:srgbClr val="BBC7D6"/>
                </a:solidFill>
                <a:latin typeface="Segoe UI"/>
                <a:ea typeface="Segoe UI"/>
              </a:rPr>
              <a:t>· </a:t>
            </a:r>
          </a:p>
          <a:p>
            <a:pPr algn="l">
              <a:lnSpc>
                <a:spcPct val="120000"/>
              </a:lnSpc>
              <a:spcAft>
                <a:spcPts val="200"/>
              </a:spcAft>
            </a:pPr>
            <a:r>
              <a:rPr sz="1150" b="0" i="0">
                <a:solidFill>
                  <a:srgbClr val="BBC7D6"/>
                </a:solidFill>
                <a:latin typeface="Segoe UI"/>
                <a:ea typeface="Segoe UI"/>
              </a:rPr>
              <a:t>· </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7724"/>
          </a:xfrm>
          <a:prstGeom prst="rect">
            <a:avLst/>
          </a:prstGeom>
          <a:solidFill>
            <a:srgbClr val="1F5CA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TextBox 2"/>
          <p:cNvSpPr txBox="1"/>
          <p:nvPr/>
        </p:nvSpPr>
        <p:spPr>
          <a:xfrm>
            <a:off x="566928" y="310896"/>
            <a:ext cx="8595360" cy="274320"/>
          </a:xfrm>
          <a:prstGeom prst="rect">
            <a:avLst/>
          </a:prstGeom>
          <a:noFill/>
        </p:spPr>
        <p:txBody>
          <a:bodyPr wrap="square" lIns="0" tIns="0" rIns="0" bIns="0">
            <a:spAutoFit/>
          </a:bodyPr>
          <a:lstStyle/>
          <a:p>
            <a:pPr algn="l">
              <a:lnSpc>
                <a:spcPct val="120000"/>
              </a:lnSpc>
              <a:spcAft>
                <a:spcPts val="0"/>
              </a:spcAft>
            </a:pPr>
            <a:r>
              <a:rPr sz="1050" b="1" i="0">
                <a:solidFill>
                  <a:srgbClr val="1F5CA8"/>
                </a:solidFill>
                <a:latin typeface="Segoe UI"/>
                <a:ea typeface="Segoe UI"/>
              </a:rPr>
              <a:t>PART 2 · AGENTIC RAG</a:t>
            </a:r>
          </a:p>
        </p:txBody>
      </p:sp>
      <p:sp>
        <p:nvSpPr>
          <p:cNvPr id="4" name="TextBox 3"/>
          <p:cNvSpPr txBox="1"/>
          <p:nvPr/>
        </p:nvSpPr>
        <p:spPr>
          <a:xfrm>
            <a:off x="10161727" y="310896"/>
            <a:ext cx="1463040" cy="274320"/>
          </a:xfrm>
          <a:prstGeom prst="rect">
            <a:avLst/>
          </a:prstGeom>
          <a:noFill/>
        </p:spPr>
        <p:txBody>
          <a:bodyPr wrap="square" lIns="0" tIns="0" rIns="0" bIns="0">
            <a:spAutoFit/>
          </a:bodyPr>
          <a:lstStyle/>
          <a:p>
            <a:pPr algn="r">
              <a:lnSpc>
                <a:spcPct val="120000"/>
              </a:lnSpc>
              <a:spcAft>
                <a:spcPts val="0"/>
              </a:spcAft>
            </a:pPr>
            <a:r>
              <a:rPr sz="1050" b="0" i="0">
                <a:solidFill>
                  <a:srgbClr val="7A8696"/>
                </a:solidFill>
                <a:latin typeface="Segoe UI"/>
                <a:ea typeface="Segoe UI"/>
              </a:rPr>
              <a:t>25</a:t>
            </a:r>
          </a:p>
        </p:txBody>
      </p:sp>
      <p:sp>
        <p:nvSpPr>
          <p:cNvPr id="5" name="TextBox 4"/>
          <p:cNvSpPr txBox="1"/>
          <p:nvPr/>
        </p:nvSpPr>
        <p:spPr>
          <a:xfrm>
            <a:off x="566928" y="658368"/>
            <a:ext cx="11057839" cy="658368"/>
          </a:xfrm>
          <a:prstGeom prst="rect">
            <a:avLst/>
          </a:prstGeom>
          <a:noFill/>
        </p:spPr>
        <p:txBody>
          <a:bodyPr wrap="square" lIns="0" tIns="0" rIns="0" bIns="0">
            <a:spAutoFit/>
          </a:bodyPr>
          <a:lstStyle/>
          <a:p>
            <a:pPr algn="l">
              <a:lnSpc>
                <a:spcPct val="120000"/>
              </a:lnSpc>
              <a:spcAft>
                <a:spcPts val="0"/>
              </a:spcAft>
            </a:pPr>
            <a:r>
              <a:rPr sz="2700" b="1" i="0">
                <a:solidFill>
                  <a:srgbClr val="1B2533"/>
                </a:solidFill>
                <a:latin typeface="Segoe UI"/>
                <a:ea typeface="Segoe UI"/>
              </a:rPr>
              <a:t>Knowledge base side (2): RAPTOR</a:t>
            </a:r>
          </a:p>
        </p:txBody>
      </p:sp>
      <p:sp>
        <p:nvSpPr>
          <p:cNvPr id="6" name="Rectangle 5"/>
          <p:cNvSpPr/>
          <p:nvPr/>
        </p:nvSpPr>
        <p:spPr>
          <a:xfrm>
            <a:off x="566928" y="1371600"/>
            <a:ext cx="1051560" cy="50292"/>
          </a:xfrm>
          <a:prstGeom prst="rect">
            <a:avLst/>
          </a:prstGeom>
          <a:solidFill>
            <a:srgbClr val="1F5CA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 name="TextBox 6"/>
          <p:cNvSpPr txBox="1"/>
          <p:nvPr/>
        </p:nvSpPr>
        <p:spPr>
          <a:xfrm>
            <a:off x="566928" y="1517904"/>
            <a:ext cx="11057839" cy="329184"/>
          </a:xfrm>
          <a:prstGeom prst="rect">
            <a:avLst/>
          </a:prstGeom>
          <a:noFill/>
        </p:spPr>
        <p:txBody>
          <a:bodyPr wrap="square" lIns="0" tIns="0" rIns="0" bIns="0">
            <a:spAutoFit/>
          </a:bodyPr>
          <a:lstStyle/>
          <a:p>
            <a:pPr algn="l">
              <a:lnSpc>
                <a:spcPct val="120000"/>
              </a:lnSpc>
              <a:spcAft>
                <a:spcPts val="0"/>
              </a:spcAft>
            </a:pPr>
            <a:r>
              <a:rPr sz="1300" b="0" i="0">
                <a:solidFill>
                  <a:srgbClr val="7A8696"/>
                </a:solidFill>
                <a:latin typeface="Segoe UI"/>
                <a:ea typeface="Segoe UI"/>
              </a:rPr>
              <a:t>Recursive Abstractive Processing for Tree-Organized Retrieval</a:t>
            </a:r>
          </a:p>
        </p:txBody>
      </p:sp>
      <p:sp>
        <p:nvSpPr>
          <p:cNvPr id="8" name="Rounded Rectangle 7"/>
          <p:cNvSpPr/>
          <p:nvPr/>
        </p:nvSpPr>
        <p:spPr>
          <a:xfrm>
            <a:off x="566928" y="1938528"/>
            <a:ext cx="5760720" cy="4754880"/>
          </a:xfrm>
          <a:prstGeom prst="roundRect">
            <a:avLst>
              <a:gd name="adj" fmla="val 3000"/>
            </a:avLst>
          </a:prstGeom>
          <a:noFill/>
          <a:ln w="12700">
            <a:solidFill>
              <a:srgbClr val="D8DEE6"/>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TextBox 8"/>
          <p:cNvSpPr txBox="1"/>
          <p:nvPr/>
        </p:nvSpPr>
        <p:spPr>
          <a:xfrm>
            <a:off x="804672" y="2103120"/>
            <a:ext cx="5303520" cy="4114800"/>
          </a:xfrm>
          <a:prstGeom prst="rect">
            <a:avLst/>
          </a:prstGeom>
          <a:noFill/>
        </p:spPr>
        <p:txBody>
          <a:bodyPr wrap="square" lIns="0" tIns="0" rIns="0" bIns="0">
            <a:spAutoFit/>
          </a:bodyPr>
          <a:lstStyle/>
          <a:p>
            <a:pPr algn="l">
              <a:lnSpc>
                <a:spcPct val="120000"/>
              </a:lnSpc>
              <a:spcAft>
                <a:spcPts val="800"/>
              </a:spcAft>
            </a:pPr>
            <a:r>
              <a:rPr sz="1400" b="1" i="0">
                <a:solidFill>
                  <a:srgbClr val="1F5CA8"/>
                </a:solidFill>
                <a:latin typeface="Segoe UI"/>
                <a:ea typeface="Segoe UI"/>
              </a:rPr>
              <a:t>The idea</a:t>
            </a:r>
          </a:p>
          <a:p>
            <a:pPr algn="l">
              <a:lnSpc>
                <a:spcPct val="115000"/>
              </a:lnSpc>
              <a:spcAft>
                <a:spcPts val="700"/>
              </a:spcAft>
            </a:pPr>
            <a:r>
              <a:rPr sz="1250" b="0" i="0">
                <a:solidFill>
                  <a:srgbClr val="334050"/>
                </a:solidFill>
                <a:latin typeface="Segoe UI"/>
                <a:ea typeface="Segoe UI"/>
              </a:rPr>
              <a:t>▪  Summarize documents recursively, bottom-up, to build a multi-level tree</a:t>
            </a:r>
          </a:p>
          <a:p>
            <a:pPr algn="l">
              <a:lnSpc>
                <a:spcPct val="115000"/>
              </a:lnSpc>
              <a:spcAft>
                <a:spcPts val="700"/>
              </a:spcAft>
            </a:pPr>
            <a:r>
              <a:rPr sz="1250" b="0" i="0">
                <a:solidFill>
                  <a:srgbClr val="334050"/>
                </a:solidFill>
                <a:latin typeface="Segoe UI"/>
                <a:ea typeface="Segoe UI"/>
              </a:rPr>
              <a:t>▪  Leaf level: the original chunks; upper levels: LLM summaries of clustered neighboring chunks</a:t>
            </a:r>
          </a:p>
          <a:p>
            <a:pPr algn="l">
              <a:lnSpc>
                <a:spcPct val="115000"/>
              </a:lnSpc>
              <a:spcAft>
                <a:spcPts val="700"/>
              </a:spcAft>
            </a:pPr>
            <a:r>
              <a:rPr sz="1250" b="0" i="0">
                <a:solidFill>
                  <a:srgbClr val="334050"/>
                </a:solidFill>
                <a:latin typeface="Segoe UI"/>
                <a:ea typeface="Segoe UI"/>
              </a:rPr>
              <a:t>▪  Recurse until a root node forms — the root is an abstract summary of the whole document</a:t>
            </a:r>
          </a:p>
          <a:p>
            <a:pPr algn="l">
              <a:lnSpc>
                <a:spcPct val="115000"/>
              </a:lnSpc>
              <a:spcAft>
                <a:spcPts val="700"/>
              </a:spcAft>
            </a:pPr>
            <a:r>
              <a:rPr sz="1250" b="0" i="0">
                <a:solidFill>
                  <a:srgbClr val="334050"/>
                </a:solidFill>
                <a:latin typeface="Segoe UI"/>
                <a:ea typeface="Segoe UI"/>
              </a:rPr>
              <a:t>▪  Every node at every level gets its own embedding and lives in the same vector store</a:t>
            </a:r>
          </a:p>
          <a:p>
            <a:pPr algn="l">
              <a:lnSpc>
                <a:spcPct val="120000"/>
              </a:lnSpc>
              <a:spcAft>
                <a:spcPts val="700"/>
              </a:spcAft>
            </a:pPr>
            <a:r>
              <a:rPr sz="1400" b="1" i="0">
                <a:solidFill>
                  <a:srgbClr val="1F5CA8"/>
                </a:solidFill>
                <a:latin typeface="Segoe UI"/>
                <a:ea typeface="Segoe UI"/>
              </a:rPr>
              <a:t>At retrieval time</a:t>
            </a:r>
          </a:p>
          <a:p>
            <a:pPr algn="l">
              <a:lnSpc>
                <a:spcPct val="115000"/>
              </a:lnSpc>
              <a:spcAft>
                <a:spcPts val="700"/>
              </a:spcAft>
            </a:pPr>
            <a:r>
              <a:rPr sz="1200" b="0" i="0">
                <a:solidFill>
                  <a:srgbClr val="334050"/>
                </a:solidFill>
                <a:latin typeface="Segoe UI"/>
                <a:ea typeface="Segoe UI"/>
              </a:rPr>
              <a:t>▪  One query can hit both original chunks (detail) and higher-level summaries (the big picture)</a:t>
            </a:r>
          </a:p>
          <a:p>
            <a:pPr algn="l">
              <a:lnSpc>
                <a:spcPct val="115000"/>
              </a:lnSpc>
              <a:spcAft>
                <a:spcPts val="700"/>
              </a:spcAft>
            </a:pPr>
            <a:r>
              <a:rPr sz="1200" b="0" i="0">
                <a:solidFill>
                  <a:srgbClr val="334050"/>
                </a:solidFill>
                <a:latin typeface="Segoe UI"/>
                <a:ea typeface="Segoe UI"/>
              </a:rPr>
              <a:t>▪  Effectively the retriever decides for itself whether to read details or the gist</a:t>
            </a:r>
          </a:p>
          <a:p>
            <a:pPr algn="l">
              <a:lnSpc>
                <a:spcPct val="115000"/>
              </a:lnSpc>
              <a:spcAft>
                <a:spcPts val="700"/>
              </a:spcAft>
            </a:pPr>
            <a:r>
              <a:rPr sz="1200" b="0" i="0">
                <a:solidFill>
                  <a:srgbClr val="334050"/>
                </a:solidFill>
                <a:latin typeface="Segoe UI"/>
                <a:ea typeface="Segoe UI"/>
              </a:rPr>
              <a:t>▪  Common variants: collapsed tree (all nodes flattened into one level) or tree traversal</a:t>
            </a:r>
          </a:p>
        </p:txBody>
      </p:sp>
      <p:sp>
        <p:nvSpPr>
          <p:cNvPr id="10" name="Rounded Rectangle 9"/>
          <p:cNvSpPr/>
          <p:nvPr/>
        </p:nvSpPr>
        <p:spPr>
          <a:xfrm>
            <a:off x="6693408" y="1938528"/>
            <a:ext cx="4931359" cy="4754880"/>
          </a:xfrm>
          <a:prstGeom prst="roundRect">
            <a:avLst>
              <a:gd name="adj" fmla="val 3000"/>
            </a:avLst>
          </a:prstGeom>
          <a:solidFill>
            <a:srgbClr val="F7F9FC"/>
          </a:solidFill>
          <a:ln w="12700">
            <a:solidFill>
              <a:srgbClr val="BBC7D6"/>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 name="TextBox 10"/>
          <p:cNvSpPr txBox="1"/>
          <p:nvPr/>
        </p:nvSpPr>
        <p:spPr>
          <a:xfrm>
            <a:off x="6894576" y="2103120"/>
            <a:ext cx="4529023" cy="4425696"/>
          </a:xfrm>
          <a:prstGeom prst="rect">
            <a:avLst/>
          </a:prstGeom>
          <a:noFill/>
        </p:spPr>
        <p:txBody>
          <a:bodyPr wrap="square" lIns="0" tIns="0" rIns="0" bIns="0">
            <a:spAutoFit/>
          </a:bodyPr>
          <a:lstStyle/>
          <a:p>
            <a:pPr algn="l">
              <a:lnSpc>
                <a:spcPct val="120000"/>
              </a:lnSpc>
              <a:spcAft>
                <a:spcPts val="400"/>
              </a:spcAft>
            </a:pPr>
            <a:r>
              <a:rPr sz="1300" b="1" i="0">
                <a:solidFill>
                  <a:srgbClr val="1F5CA8"/>
                </a:solidFill>
                <a:latin typeface="Segoe UI"/>
                <a:ea typeface="Segoe UI"/>
              </a:rPr>
              <a:t>Placeholder: RAPTOR tree diagram</a:t>
            </a:r>
          </a:p>
          <a:p>
            <a:pPr algn="l">
              <a:lnSpc>
                <a:spcPct val="120000"/>
              </a:lnSpc>
              <a:spcAft>
                <a:spcPts val="0"/>
              </a:spcAft>
            </a:pPr>
            <a:r>
              <a:rPr sz="1150" b="0" i="0">
                <a:solidFill>
                  <a:srgbClr val="7A8696"/>
                </a:solidFill>
                <a:latin typeface="Segoe UI"/>
                <a:ea typeface="Segoe UI"/>
              </a:rPr>
              <a:t>Suggested: 6-8 chunks at the bottom → 3 cluster summaries → 1 root summary on top, with one query shown hitting nodes at two different levels</a:t>
            </a:r>
          </a:p>
          <a:p>
            <a:pPr algn="l">
              <a:lnSpc>
                <a:spcPct val="120000"/>
              </a:lnSpc>
              <a:spcAft>
                <a:spcPts val="200"/>
              </a:spcAft>
            </a:pPr>
            <a:r>
              <a:rPr sz="1150" b="0" i="0">
                <a:solidFill>
                  <a:srgbClr val="BBC7D6"/>
                </a:solidFill>
                <a:latin typeface="Segoe UI"/>
                <a:ea typeface="Segoe UI"/>
              </a:rPr>
              <a:t>· </a:t>
            </a:r>
          </a:p>
          <a:p>
            <a:pPr algn="l">
              <a:lnSpc>
                <a:spcPct val="120000"/>
              </a:lnSpc>
              <a:spcAft>
                <a:spcPts val="200"/>
              </a:spcAft>
            </a:pPr>
            <a:r>
              <a:rPr sz="1150" b="0" i="0">
                <a:solidFill>
                  <a:srgbClr val="BBC7D6"/>
                </a:solidFill>
                <a:latin typeface="Segoe UI"/>
                <a:ea typeface="Segoe UI"/>
              </a:rPr>
              <a:t>· </a:t>
            </a:r>
          </a:p>
          <a:p>
            <a:pPr algn="l">
              <a:lnSpc>
                <a:spcPct val="120000"/>
              </a:lnSpc>
              <a:spcAft>
                <a:spcPts val="200"/>
              </a:spcAft>
            </a:pPr>
            <a:r>
              <a:rPr sz="1150" b="0" i="0">
                <a:solidFill>
                  <a:srgbClr val="BBC7D6"/>
                </a:solidFill>
                <a:latin typeface="Segoe UI"/>
                <a:ea typeface="Segoe UI"/>
              </a:rPr>
              <a:t>· </a:t>
            </a:r>
          </a:p>
          <a:p>
            <a:pPr algn="l">
              <a:lnSpc>
                <a:spcPct val="120000"/>
              </a:lnSpc>
              <a:spcAft>
                <a:spcPts val="200"/>
              </a:spcAft>
            </a:pPr>
            <a:r>
              <a:rPr sz="1150" b="0" i="0">
                <a:solidFill>
                  <a:srgbClr val="BBC7D6"/>
                </a:solidFill>
                <a:latin typeface="Segoe UI"/>
                <a:ea typeface="Segoe UI"/>
              </a:rPr>
              <a:t>· </a:t>
            </a:r>
          </a:p>
          <a:p>
            <a:pPr algn="l">
              <a:lnSpc>
                <a:spcPct val="120000"/>
              </a:lnSpc>
              <a:spcAft>
                <a:spcPts val="200"/>
              </a:spcAft>
            </a:pPr>
            <a:r>
              <a:rPr sz="1150" b="0" i="0">
                <a:solidFill>
                  <a:srgbClr val="BBC7D6"/>
                </a:solidFill>
                <a:latin typeface="Segoe UI"/>
                <a:ea typeface="Segoe UI"/>
              </a:rPr>
              <a:t>· </a:t>
            </a:r>
          </a:p>
          <a:p>
            <a:pPr algn="l">
              <a:lnSpc>
                <a:spcPct val="120000"/>
              </a:lnSpc>
              <a:spcAft>
                <a:spcPts val="200"/>
              </a:spcAft>
            </a:pPr>
            <a:r>
              <a:rPr sz="1150" b="0" i="0">
                <a:solidFill>
                  <a:srgbClr val="BBC7D6"/>
                </a:solidFill>
                <a:latin typeface="Segoe UI"/>
                <a:ea typeface="Segoe UI"/>
              </a:rPr>
              <a:t>· </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7724"/>
          </a:xfrm>
          <a:prstGeom prst="rect">
            <a:avLst/>
          </a:prstGeom>
          <a:solidFill>
            <a:srgbClr val="1F5CA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TextBox 2"/>
          <p:cNvSpPr txBox="1"/>
          <p:nvPr/>
        </p:nvSpPr>
        <p:spPr>
          <a:xfrm>
            <a:off x="566928" y="310896"/>
            <a:ext cx="8595360" cy="274320"/>
          </a:xfrm>
          <a:prstGeom prst="rect">
            <a:avLst/>
          </a:prstGeom>
          <a:noFill/>
        </p:spPr>
        <p:txBody>
          <a:bodyPr wrap="square" lIns="0" tIns="0" rIns="0" bIns="0">
            <a:spAutoFit/>
          </a:bodyPr>
          <a:lstStyle/>
          <a:p>
            <a:pPr algn="l">
              <a:lnSpc>
                <a:spcPct val="120000"/>
              </a:lnSpc>
              <a:spcAft>
                <a:spcPts val="0"/>
              </a:spcAft>
            </a:pPr>
            <a:r>
              <a:rPr sz="1050" b="1" i="0">
                <a:solidFill>
                  <a:srgbClr val="1F5CA8"/>
                </a:solidFill>
                <a:latin typeface="Segoe UI"/>
                <a:ea typeface="Segoe UI"/>
              </a:rPr>
              <a:t>PART 2 · AGENTIC RAG</a:t>
            </a:r>
          </a:p>
        </p:txBody>
      </p:sp>
      <p:sp>
        <p:nvSpPr>
          <p:cNvPr id="4" name="TextBox 3"/>
          <p:cNvSpPr txBox="1"/>
          <p:nvPr/>
        </p:nvSpPr>
        <p:spPr>
          <a:xfrm>
            <a:off x="10161727" y="310896"/>
            <a:ext cx="1463040" cy="274320"/>
          </a:xfrm>
          <a:prstGeom prst="rect">
            <a:avLst/>
          </a:prstGeom>
          <a:noFill/>
        </p:spPr>
        <p:txBody>
          <a:bodyPr wrap="square" lIns="0" tIns="0" rIns="0" bIns="0">
            <a:spAutoFit/>
          </a:bodyPr>
          <a:lstStyle/>
          <a:p>
            <a:pPr algn="r">
              <a:lnSpc>
                <a:spcPct val="120000"/>
              </a:lnSpc>
              <a:spcAft>
                <a:spcPts val="0"/>
              </a:spcAft>
            </a:pPr>
            <a:r>
              <a:rPr sz="1050" b="0" i="0">
                <a:solidFill>
                  <a:srgbClr val="7A8696"/>
                </a:solidFill>
                <a:latin typeface="Segoe UI"/>
                <a:ea typeface="Segoe UI"/>
              </a:rPr>
              <a:t>26</a:t>
            </a:r>
          </a:p>
        </p:txBody>
      </p:sp>
      <p:sp>
        <p:nvSpPr>
          <p:cNvPr id="5" name="TextBox 4"/>
          <p:cNvSpPr txBox="1"/>
          <p:nvPr/>
        </p:nvSpPr>
        <p:spPr>
          <a:xfrm>
            <a:off x="566928" y="658368"/>
            <a:ext cx="11057839" cy="658368"/>
          </a:xfrm>
          <a:prstGeom prst="rect">
            <a:avLst/>
          </a:prstGeom>
          <a:noFill/>
        </p:spPr>
        <p:txBody>
          <a:bodyPr wrap="square" lIns="0" tIns="0" rIns="0" bIns="0">
            <a:spAutoFit/>
          </a:bodyPr>
          <a:lstStyle/>
          <a:p>
            <a:pPr algn="l">
              <a:lnSpc>
                <a:spcPct val="120000"/>
              </a:lnSpc>
              <a:spcAft>
                <a:spcPts val="0"/>
              </a:spcAft>
            </a:pPr>
            <a:r>
              <a:rPr sz="2700" b="1" i="0">
                <a:solidFill>
                  <a:srgbClr val="1B2533"/>
                </a:solidFill>
                <a:latin typeface="Segoe UI"/>
                <a:ea typeface="Segoe UI"/>
              </a:rPr>
              <a:t>Retrieval side: Reranker</a:t>
            </a:r>
          </a:p>
        </p:txBody>
      </p:sp>
      <p:sp>
        <p:nvSpPr>
          <p:cNvPr id="6" name="Rectangle 5"/>
          <p:cNvSpPr/>
          <p:nvPr/>
        </p:nvSpPr>
        <p:spPr>
          <a:xfrm>
            <a:off x="566928" y="1371600"/>
            <a:ext cx="1051560" cy="50292"/>
          </a:xfrm>
          <a:prstGeom prst="rect">
            <a:avLst/>
          </a:prstGeom>
          <a:solidFill>
            <a:srgbClr val="1F5CA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 name="TextBox 6"/>
          <p:cNvSpPr txBox="1"/>
          <p:nvPr/>
        </p:nvSpPr>
        <p:spPr>
          <a:xfrm>
            <a:off x="566928" y="1517904"/>
            <a:ext cx="11057839" cy="329184"/>
          </a:xfrm>
          <a:prstGeom prst="rect">
            <a:avLst/>
          </a:prstGeom>
          <a:noFill/>
        </p:spPr>
        <p:txBody>
          <a:bodyPr wrap="square" lIns="0" tIns="0" rIns="0" bIns="0">
            <a:spAutoFit/>
          </a:bodyPr>
          <a:lstStyle/>
          <a:p>
            <a:pPr algn="l">
              <a:lnSpc>
                <a:spcPct val="120000"/>
              </a:lnSpc>
              <a:spcAft>
                <a:spcPts val="0"/>
              </a:spcAft>
            </a:pPr>
            <a:r>
              <a:rPr sz="1300" b="0" i="0">
                <a:solidFill>
                  <a:srgbClr val="7A8696"/>
                </a:solidFill>
                <a:latin typeface="Segoe UI"/>
                <a:ea typeface="Segoe UI"/>
              </a:rPr>
              <a:t>Recall can be broad, but ranking has to be precise</a:t>
            </a:r>
          </a:p>
        </p:txBody>
      </p:sp>
      <p:sp>
        <p:nvSpPr>
          <p:cNvPr id="8" name="Rounded Rectangle 7"/>
          <p:cNvSpPr/>
          <p:nvPr/>
        </p:nvSpPr>
        <p:spPr>
          <a:xfrm>
            <a:off x="566928" y="1938528"/>
            <a:ext cx="5669280" cy="2194560"/>
          </a:xfrm>
          <a:prstGeom prst="roundRect">
            <a:avLst>
              <a:gd name="adj" fmla="val 3000"/>
            </a:avLst>
          </a:prstGeom>
          <a:noFill/>
          <a:ln w="12700">
            <a:solidFill>
              <a:srgbClr val="D8DEE6"/>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TextBox 8"/>
          <p:cNvSpPr txBox="1"/>
          <p:nvPr/>
        </p:nvSpPr>
        <p:spPr>
          <a:xfrm>
            <a:off x="804672" y="2121408"/>
            <a:ext cx="5212080" cy="1874519"/>
          </a:xfrm>
          <a:prstGeom prst="rect">
            <a:avLst/>
          </a:prstGeom>
          <a:noFill/>
        </p:spPr>
        <p:txBody>
          <a:bodyPr wrap="square" lIns="0" tIns="0" rIns="0" bIns="0">
            <a:spAutoFit/>
          </a:bodyPr>
          <a:lstStyle/>
          <a:p>
            <a:pPr algn="l">
              <a:lnSpc>
                <a:spcPct val="120000"/>
              </a:lnSpc>
              <a:spcAft>
                <a:spcPts val="800"/>
              </a:spcAft>
            </a:pPr>
            <a:r>
              <a:rPr sz="1400" b="1" i="0">
                <a:solidFill>
                  <a:srgbClr val="1F5CA8"/>
                </a:solidFill>
                <a:latin typeface="Segoe UI"/>
                <a:ea typeface="Segoe UI"/>
              </a:rPr>
              <a:t>Two-stage retrieval (recall then precision)</a:t>
            </a:r>
          </a:p>
          <a:p>
            <a:pPr algn="l">
              <a:lnSpc>
                <a:spcPct val="115000"/>
              </a:lnSpc>
              <a:spcAft>
                <a:spcPts val="700"/>
              </a:spcAft>
            </a:pPr>
            <a:r>
              <a:rPr sz="1250" b="0" i="0">
                <a:solidFill>
                  <a:srgbClr val="334050"/>
                </a:solidFill>
                <a:latin typeface="Segoe UI"/>
                <a:ea typeface="Segoe UI"/>
              </a:rPr>
              <a:t>▪  Stage 1 (recall): a bi-encoder plus ANN quickly pulls top-100 from millions — optimized for not missing anything</a:t>
            </a:r>
          </a:p>
          <a:p>
            <a:pPr algn="l">
              <a:lnSpc>
                <a:spcPct val="115000"/>
              </a:lnSpc>
              <a:spcAft>
                <a:spcPts val="700"/>
              </a:spcAft>
            </a:pPr>
            <a:r>
              <a:rPr sz="1250" b="0" i="0">
                <a:solidFill>
                  <a:srgbClr val="334050"/>
                </a:solidFill>
                <a:latin typeface="Segoe UI"/>
                <a:ea typeface="Segoe UI"/>
              </a:rPr>
              <a:t>▪  Stage 2 (rerank): a cross-encoder scores each query-document pair precisely and returns top-5 — optimized for being right</a:t>
            </a:r>
          </a:p>
          <a:p>
            <a:pPr algn="l">
              <a:lnSpc>
                <a:spcPct val="115000"/>
              </a:lnSpc>
              <a:spcAft>
                <a:spcPts val="700"/>
              </a:spcAft>
            </a:pPr>
            <a:r>
              <a:rPr sz="1250" b="0" i="0">
                <a:solidFill>
                  <a:srgbClr val="334050"/>
                </a:solidFill>
                <a:latin typeface="Segoe UI"/>
                <a:ea typeface="Segoe UI"/>
              </a:rPr>
              <a:t>▪  Why two stages are mandatory: cross-encoders are accurate but cannot be precomputed, so they only run on a small candidate set</a:t>
            </a:r>
          </a:p>
        </p:txBody>
      </p:sp>
      <p:sp>
        <p:nvSpPr>
          <p:cNvPr id="10" name="Rounded Rectangle 9"/>
          <p:cNvSpPr/>
          <p:nvPr/>
        </p:nvSpPr>
        <p:spPr>
          <a:xfrm>
            <a:off x="566928" y="4315968"/>
            <a:ext cx="5669280" cy="2377440"/>
          </a:xfrm>
          <a:prstGeom prst="roundRect">
            <a:avLst>
              <a:gd name="adj" fmla="val 3000"/>
            </a:avLst>
          </a:prstGeom>
          <a:solidFill>
            <a:srgbClr val="F7F9FC"/>
          </a:solidFill>
          <a:ln w="12700">
            <a:solidFill>
              <a:srgbClr val="BBC7D6"/>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 name="TextBox 10"/>
          <p:cNvSpPr txBox="1"/>
          <p:nvPr/>
        </p:nvSpPr>
        <p:spPr>
          <a:xfrm>
            <a:off x="786384" y="4480560"/>
            <a:ext cx="5212080" cy="2057400"/>
          </a:xfrm>
          <a:prstGeom prst="rect">
            <a:avLst/>
          </a:prstGeom>
          <a:noFill/>
        </p:spPr>
        <p:txBody>
          <a:bodyPr wrap="square" lIns="0" tIns="0" rIns="0" bIns="0">
            <a:spAutoFit/>
          </a:bodyPr>
          <a:lstStyle/>
          <a:p>
            <a:pPr algn="l">
              <a:lnSpc>
                <a:spcPct val="120000"/>
              </a:lnSpc>
              <a:spcAft>
                <a:spcPts val="600"/>
              </a:spcAft>
            </a:pPr>
            <a:r>
              <a:rPr sz="1300" b="1" i="0">
                <a:solidFill>
                  <a:srgbClr val="1F5CA8"/>
                </a:solidFill>
                <a:latin typeface="Segoe UI"/>
                <a:ea typeface="Segoe UI"/>
              </a:rPr>
              <a:t>Practical notes</a:t>
            </a:r>
          </a:p>
          <a:p>
            <a:pPr algn="l">
              <a:lnSpc>
                <a:spcPct val="115000"/>
              </a:lnSpc>
              <a:spcAft>
                <a:spcPts val="700"/>
              </a:spcAft>
            </a:pPr>
            <a:r>
              <a:rPr sz="1150" b="0" i="0">
                <a:solidFill>
                  <a:srgbClr val="334050"/>
                </a:solidFill>
                <a:latin typeface="Segoe UI"/>
                <a:ea typeface="Segoe UI"/>
              </a:rPr>
              <a:t>▪  Candidate set size is the main tuning knob: 50-100 is usually the sweet spot; beyond that gains flatten while latency grows linearly</a:t>
            </a:r>
          </a:p>
          <a:p>
            <a:pPr algn="l">
              <a:lnSpc>
                <a:spcPct val="115000"/>
              </a:lnSpc>
              <a:spcAft>
                <a:spcPts val="700"/>
              </a:spcAft>
            </a:pPr>
            <a:r>
              <a:rPr sz="1150" b="0" i="0">
                <a:solidFill>
                  <a:srgbClr val="334050"/>
                </a:solidFill>
                <a:latin typeface="Segoe UI"/>
                <a:ea typeface="Segoe UI"/>
              </a:rPr>
              <a:t>▪  Common models: the bge-reranker family, Qwen3-Reranker, Cohere Rerank</a:t>
            </a:r>
          </a:p>
        </p:txBody>
      </p:sp>
      <p:sp>
        <p:nvSpPr>
          <p:cNvPr id="12" name="Rounded Rectangle 11"/>
          <p:cNvSpPr/>
          <p:nvPr/>
        </p:nvSpPr>
        <p:spPr>
          <a:xfrm>
            <a:off x="6601968" y="1938528"/>
            <a:ext cx="5022799" cy="4754880"/>
          </a:xfrm>
          <a:prstGeom prst="roundRect">
            <a:avLst>
              <a:gd name="adj" fmla="val 3000"/>
            </a:avLst>
          </a:prstGeom>
          <a:solidFill>
            <a:srgbClr val="F7F9FC"/>
          </a:solidFill>
          <a:ln w="12700">
            <a:solidFill>
              <a:srgbClr val="BBC7D6"/>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3" name="TextBox 12"/>
          <p:cNvSpPr txBox="1"/>
          <p:nvPr/>
        </p:nvSpPr>
        <p:spPr>
          <a:xfrm>
            <a:off x="6803136" y="2103120"/>
            <a:ext cx="4620463" cy="4425696"/>
          </a:xfrm>
          <a:prstGeom prst="rect">
            <a:avLst/>
          </a:prstGeom>
          <a:noFill/>
        </p:spPr>
        <p:txBody>
          <a:bodyPr wrap="square" lIns="0" tIns="0" rIns="0" bIns="0">
            <a:spAutoFit/>
          </a:bodyPr>
          <a:lstStyle/>
          <a:p>
            <a:pPr algn="l">
              <a:lnSpc>
                <a:spcPct val="120000"/>
              </a:lnSpc>
              <a:spcAft>
                <a:spcPts val="400"/>
              </a:spcAft>
            </a:pPr>
            <a:r>
              <a:rPr sz="1300" b="1" i="0">
                <a:solidFill>
                  <a:srgbClr val="1F5CA8"/>
                </a:solidFill>
                <a:latin typeface="Segoe UI"/>
                <a:ea typeface="Segoe UI"/>
              </a:rPr>
              <a:t>Placeholder: top-k before vs after reranking</a:t>
            </a:r>
          </a:p>
          <a:p>
            <a:pPr algn="l">
              <a:lnSpc>
                <a:spcPct val="120000"/>
              </a:lnSpc>
              <a:spcAft>
                <a:spcPts val="0"/>
              </a:spcAft>
            </a:pPr>
            <a:r>
              <a:rPr sz="1150" b="0" i="0">
                <a:solidFill>
                  <a:srgbClr val="7A8696"/>
                </a:solidFill>
                <a:latin typeface="Segoe UI"/>
                <a:ea typeface="Segoe UI"/>
              </a:rPr>
              <a:t>Suggested: a real case with the same query showing top-5 before and after rerank, the score changes, and the difference in final answer quality</a:t>
            </a:r>
          </a:p>
          <a:p>
            <a:pPr algn="l">
              <a:lnSpc>
                <a:spcPct val="120000"/>
              </a:lnSpc>
              <a:spcAft>
                <a:spcPts val="200"/>
              </a:spcAft>
            </a:pPr>
            <a:r>
              <a:rPr sz="1150" b="0" i="0">
                <a:solidFill>
                  <a:srgbClr val="BBC7D6"/>
                </a:solidFill>
                <a:latin typeface="Segoe UI"/>
                <a:ea typeface="Segoe UI"/>
              </a:rPr>
              <a:t>· </a:t>
            </a:r>
          </a:p>
          <a:p>
            <a:pPr algn="l">
              <a:lnSpc>
                <a:spcPct val="120000"/>
              </a:lnSpc>
              <a:spcAft>
                <a:spcPts val="200"/>
              </a:spcAft>
            </a:pPr>
            <a:r>
              <a:rPr sz="1150" b="0" i="0">
                <a:solidFill>
                  <a:srgbClr val="BBC7D6"/>
                </a:solidFill>
                <a:latin typeface="Segoe UI"/>
                <a:ea typeface="Segoe UI"/>
              </a:rPr>
              <a:t>· </a:t>
            </a:r>
          </a:p>
          <a:p>
            <a:pPr algn="l">
              <a:lnSpc>
                <a:spcPct val="120000"/>
              </a:lnSpc>
              <a:spcAft>
                <a:spcPts val="200"/>
              </a:spcAft>
            </a:pPr>
            <a:r>
              <a:rPr sz="1150" b="0" i="0">
                <a:solidFill>
                  <a:srgbClr val="BBC7D6"/>
                </a:solidFill>
                <a:latin typeface="Segoe UI"/>
                <a:ea typeface="Segoe UI"/>
              </a:rPr>
              <a:t>· </a:t>
            </a:r>
          </a:p>
          <a:p>
            <a:pPr algn="l">
              <a:lnSpc>
                <a:spcPct val="120000"/>
              </a:lnSpc>
              <a:spcAft>
                <a:spcPts val="200"/>
              </a:spcAft>
            </a:pPr>
            <a:r>
              <a:rPr sz="1150" b="0" i="0">
                <a:solidFill>
                  <a:srgbClr val="BBC7D6"/>
                </a:solidFill>
                <a:latin typeface="Segoe UI"/>
                <a:ea typeface="Segoe UI"/>
              </a:rPr>
              <a:t>· </a:t>
            </a:r>
          </a:p>
          <a:p>
            <a:pPr algn="l">
              <a:lnSpc>
                <a:spcPct val="120000"/>
              </a:lnSpc>
              <a:spcAft>
                <a:spcPts val="200"/>
              </a:spcAft>
            </a:pPr>
            <a:r>
              <a:rPr sz="1150" b="0" i="0">
                <a:solidFill>
                  <a:srgbClr val="BBC7D6"/>
                </a:solidFill>
                <a:latin typeface="Segoe UI"/>
                <a:ea typeface="Segoe UI"/>
              </a:rPr>
              <a:t>· </a:t>
            </a:r>
          </a:p>
          <a:p>
            <a:pPr algn="l">
              <a:lnSpc>
                <a:spcPct val="120000"/>
              </a:lnSpc>
              <a:spcAft>
                <a:spcPts val="200"/>
              </a:spcAft>
            </a:pPr>
            <a:r>
              <a:rPr sz="1150" b="0" i="0">
                <a:solidFill>
                  <a:srgbClr val="BBC7D6"/>
                </a:solidFill>
                <a:latin typeface="Segoe UI"/>
                <a:ea typeface="Segoe UI"/>
              </a:rPr>
              <a:t>· </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7724"/>
          </a:xfrm>
          <a:prstGeom prst="rect">
            <a:avLst/>
          </a:prstGeom>
          <a:solidFill>
            <a:srgbClr val="1F5CA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TextBox 2"/>
          <p:cNvSpPr txBox="1"/>
          <p:nvPr/>
        </p:nvSpPr>
        <p:spPr>
          <a:xfrm>
            <a:off x="566928" y="310896"/>
            <a:ext cx="8595360" cy="274320"/>
          </a:xfrm>
          <a:prstGeom prst="rect">
            <a:avLst/>
          </a:prstGeom>
          <a:noFill/>
        </p:spPr>
        <p:txBody>
          <a:bodyPr wrap="square" lIns="0" tIns="0" rIns="0" bIns="0">
            <a:spAutoFit/>
          </a:bodyPr>
          <a:lstStyle/>
          <a:p>
            <a:pPr algn="l">
              <a:lnSpc>
                <a:spcPct val="120000"/>
              </a:lnSpc>
              <a:spcAft>
                <a:spcPts val="0"/>
              </a:spcAft>
            </a:pPr>
            <a:r>
              <a:rPr sz="1050" b="1" i="0">
                <a:solidFill>
                  <a:srgbClr val="1F5CA8"/>
                </a:solidFill>
                <a:latin typeface="Segoe UI"/>
                <a:ea typeface="Segoe UI"/>
              </a:rPr>
              <a:t>PART 2 · AGENTIC RAG</a:t>
            </a:r>
          </a:p>
        </p:txBody>
      </p:sp>
      <p:sp>
        <p:nvSpPr>
          <p:cNvPr id="4" name="TextBox 3"/>
          <p:cNvSpPr txBox="1"/>
          <p:nvPr/>
        </p:nvSpPr>
        <p:spPr>
          <a:xfrm>
            <a:off x="10161727" y="310896"/>
            <a:ext cx="1463040" cy="274320"/>
          </a:xfrm>
          <a:prstGeom prst="rect">
            <a:avLst/>
          </a:prstGeom>
          <a:noFill/>
        </p:spPr>
        <p:txBody>
          <a:bodyPr wrap="square" lIns="0" tIns="0" rIns="0" bIns="0">
            <a:spAutoFit/>
          </a:bodyPr>
          <a:lstStyle/>
          <a:p>
            <a:pPr algn="r">
              <a:lnSpc>
                <a:spcPct val="120000"/>
              </a:lnSpc>
              <a:spcAft>
                <a:spcPts val="0"/>
              </a:spcAft>
            </a:pPr>
            <a:r>
              <a:rPr sz="1050" b="0" i="0">
                <a:solidFill>
                  <a:srgbClr val="7A8696"/>
                </a:solidFill>
                <a:latin typeface="Segoe UI"/>
                <a:ea typeface="Segoe UI"/>
              </a:rPr>
              <a:t>27</a:t>
            </a:r>
          </a:p>
        </p:txBody>
      </p:sp>
      <p:sp>
        <p:nvSpPr>
          <p:cNvPr id="5" name="TextBox 4"/>
          <p:cNvSpPr txBox="1"/>
          <p:nvPr/>
        </p:nvSpPr>
        <p:spPr>
          <a:xfrm>
            <a:off x="566928" y="658368"/>
            <a:ext cx="11057839" cy="658368"/>
          </a:xfrm>
          <a:prstGeom prst="rect">
            <a:avLst/>
          </a:prstGeom>
          <a:noFill/>
        </p:spPr>
        <p:txBody>
          <a:bodyPr wrap="square" lIns="0" tIns="0" rIns="0" bIns="0">
            <a:spAutoFit/>
          </a:bodyPr>
          <a:lstStyle/>
          <a:p>
            <a:pPr algn="l">
              <a:lnSpc>
                <a:spcPct val="120000"/>
              </a:lnSpc>
              <a:spcAft>
                <a:spcPts val="0"/>
              </a:spcAft>
            </a:pPr>
            <a:r>
              <a:rPr sz="2700" b="1" i="0">
                <a:solidFill>
                  <a:srgbClr val="1B2533"/>
                </a:solidFill>
                <a:latin typeface="Segoe UI"/>
                <a:ea typeface="Segoe UI"/>
              </a:rPr>
              <a:t>Post-retrieval side: Self-correction and the ReAct loop</a:t>
            </a:r>
          </a:p>
        </p:txBody>
      </p:sp>
      <p:sp>
        <p:nvSpPr>
          <p:cNvPr id="6" name="Rectangle 5"/>
          <p:cNvSpPr/>
          <p:nvPr/>
        </p:nvSpPr>
        <p:spPr>
          <a:xfrm>
            <a:off x="566928" y="1371600"/>
            <a:ext cx="1051560" cy="50292"/>
          </a:xfrm>
          <a:prstGeom prst="rect">
            <a:avLst/>
          </a:prstGeom>
          <a:solidFill>
            <a:srgbClr val="1F5CA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 name="TextBox 6"/>
          <p:cNvSpPr txBox="1"/>
          <p:nvPr/>
        </p:nvSpPr>
        <p:spPr>
          <a:xfrm>
            <a:off x="566928" y="1517904"/>
            <a:ext cx="11057839" cy="329184"/>
          </a:xfrm>
          <a:prstGeom prst="rect">
            <a:avLst/>
          </a:prstGeom>
          <a:noFill/>
        </p:spPr>
        <p:txBody>
          <a:bodyPr wrap="square" lIns="0" tIns="0" rIns="0" bIns="0">
            <a:spAutoFit/>
          </a:bodyPr>
          <a:lstStyle/>
          <a:p>
            <a:pPr algn="l">
              <a:lnSpc>
                <a:spcPct val="120000"/>
              </a:lnSpc>
              <a:spcAft>
                <a:spcPts val="0"/>
              </a:spcAft>
            </a:pPr>
            <a:r>
              <a:rPr sz="1300" b="0" i="0">
                <a:solidFill>
                  <a:srgbClr val="7A8696"/>
                </a:solidFill>
                <a:latin typeface="Segoe UI"/>
                <a:ea typeface="Segoe UI"/>
              </a:rPr>
              <a:t>Retrieving is not the end — check the evidence and the answer</a:t>
            </a:r>
          </a:p>
        </p:txBody>
      </p:sp>
      <p:sp>
        <p:nvSpPr>
          <p:cNvPr id="8" name="Rounded Rectangle 7"/>
          <p:cNvSpPr/>
          <p:nvPr/>
        </p:nvSpPr>
        <p:spPr>
          <a:xfrm>
            <a:off x="566928" y="1938528"/>
            <a:ext cx="5760720" cy="4754880"/>
          </a:xfrm>
          <a:prstGeom prst="roundRect">
            <a:avLst>
              <a:gd name="adj" fmla="val 3000"/>
            </a:avLst>
          </a:prstGeom>
          <a:noFill/>
          <a:ln w="12700">
            <a:solidFill>
              <a:srgbClr val="D8DEE6"/>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TextBox 8"/>
          <p:cNvSpPr txBox="1"/>
          <p:nvPr/>
        </p:nvSpPr>
        <p:spPr>
          <a:xfrm>
            <a:off x="804672" y="2139696"/>
            <a:ext cx="5303520" cy="3566160"/>
          </a:xfrm>
          <a:prstGeom prst="rect">
            <a:avLst/>
          </a:prstGeom>
          <a:noFill/>
        </p:spPr>
        <p:txBody>
          <a:bodyPr wrap="square" lIns="0" tIns="0" rIns="0" bIns="0">
            <a:spAutoFit/>
          </a:bodyPr>
          <a:lstStyle/>
          <a:p>
            <a:pPr algn="l">
              <a:lnSpc>
                <a:spcPct val="120000"/>
              </a:lnSpc>
              <a:spcAft>
                <a:spcPts val="800"/>
              </a:spcAft>
            </a:pPr>
            <a:r>
              <a:rPr sz="1400" b="1" i="0">
                <a:solidFill>
                  <a:srgbClr val="1F5CA8"/>
                </a:solidFill>
                <a:latin typeface="Segoe UI"/>
                <a:ea typeface="Segoe UI"/>
              </a:rPr>
              <a:t>Two checkpoints for self-correction</a:t>
            </a:r>
          </a:p>
          <a:p>
            <a:pPr algn="l">
              <a:lnSpc>
                <a:spcPct val="115000"/>
              </a:lnSpc>
              <a:spcAft>
                <a:spcPts val="700"/>
              </a:spcAft>
            </a:pPr>
            <a:r>
              <a:rPr sz="1250" b="0" i="0">
                <a:solidFill>
                  <a:srgbClr val="334050"/>
                </a:solidFill>
                <a:latin typeface="Segoe UI"/>
                <a:ea typeface="Segoe UI"/>
              </a:rPr>
              <a:t>▪  Check after retrieval: are the retrieved documents actually relevant? If not, rewrite the query and retrieve again</a:t>
            </a:r>
          </a:p>
          <a:p>
            <a:pPr algn="l">
              <a:lnSpc>
                <a:spcPct val="115000"/>
              </a:lnSpc>
              <a:spcAft>
                <a:spcPts val="700"/>
              </a:spcAft>
            </a:pPr>
            <a:r>
              <a:rPr sz="1250" b="0" i="0">
                <a:solidFill>
                  <a:srgbClr val="334050"/>
                </a:solidFill>
                <a:latin typeface="Segoe UI"/>
                <a:ea typeface="Segoe UI"/>
              </a:rPr>
              <a:t>▪  Check after generation: is every claim supported by a citation? If not, flag it or regenerate</a:t>
            </a:r>
          </a:p>
          <a:p>
            <a:pPr algn="l">
              <a:lnSpc>
                <a:spcPct val="115000"/>
              </a:lnSpc>
              <a:spcAft>
                <a:spcPts val="700"/>
              </a:spcAft>
            </a:pPr>
            <a:r>
              <a:rPr sz="1250" b="0" i="0">
                <a:solidFill>
                  <a:srgbClr val="334050"/>
                </a:solidFill>
                <a:latin typeface="Segoe UI"/>
                <a:ea typeface="Segoe UI"/>
              </a:rPr>
              <a:t>▪  Implementation: an extra LLM call acting as critic, or a purpose-trained discriminator model</a:t>
            </a:r>
          </a:p>
          <a:p>
            <a:pPr algn="l">
              <a:lnSpc>
                <a:spcPct val="120000"/>
              </a:lnSpc>
              <a:spcAft>
                <a:spcPts val="700"/>
              </a:spcAft>
            </a:pPr>
            <a:r>
              <a:rPr sz="1400" b="1" i="0">
                <a:solidFill>
                  <a:srgbClr val="1F5CA8"/>
                </a:solidFill>
                <a:latin typeface="Segoe UI"/>
                <a:ea typeface="Segoe UI"/>
              </a:rPr>
              <a:t>The ReAct loop: Reason → Act → Observe</a:t>
            </a:r>
          </a:p>
          <a:p>
            <a:pPr algn="l">
              <a:lnSpc>
                <a:spcPct val="115000"/>
              </a:lnSpc>
              <a:spcAft>
                <a:spcPts val="700"/>
              </a:spcAft>
            </a:pPr>
            <a:r>
              <a:rPr sz="1200" b="0" i="0">
                <a:solidFill>
                  <a:srgbClr val="334050"/>
                </a:solidFill>
                <a:latin typeface="Segoe UI"/>
                <a:ea typeface="Segoe UI"/>
              </a:rPr>
              <a:t>▪  Retrieval becomes one of the agent's tools, and the model decides when to call it and with what arguments</a:t>
            </a:r>
          </a:p>
          <a:p>
            <a:pPr algn="l">
              <a:lnSpc>
                <a:spcPct val="115000"/>
              </a:lnSpc>
              <a:spcAft>
                <a:spcPts val="700"/>
              </a:spcAft>
            </a:pPr>
            <a:r>
              <a:rPr sz="1200" b="0" i="0">
                <a:solidFill>
                  <a:srgbClr val="334050"/>
                </a:solidFill>
                <a:latin typeface="Segoe UI"/>
                <a:ea typeface="Segoe UI"/>
              </a:rPr>
              <a:t>▪  Multiple turns: think, call a tool, read the result, decide the next step</a:t>
            </a:r>
          </a:p>
          <a:p>
            <a:pPr algn="l">
              <a:lnSpc>
                <a:spcPct val="115000"/>
              </a:lnSpc>
              <a:spcAft>
                <a:spcPts val="700"/>
              </a:spcAft>
            </a:pPr>
            <a:r>
              <a:rPr sz="1200" b="0" i="0">
                <a:solidFill>
                  <a:srgbClr val="334050"/>
                </a:solidFill>
                <a:latin typeface="Segoe UI"/>
                <a:ea typeface="Segoe UI"/>
              </a:rPr>
              <a:t>▪  The real difference from Native RAG: how many retrievals happen and what gets asked are no longer hardcoded</a:t>
            </a:r>
          </a:p>
        </p:txBody>
      </p:sp>
      <p:sp>
        <p:nvSpPr>
          <p:cNvPr id="10" name="Rounded Rectangle 9"/>
          <p:cNvSpPr/>
          <p:nvPr/>
        </p:nvSpPr>
        <p:spPr>
          <a:xfrm>
            <a:off x="6693408" y="1938528"/>
            <a:ext cx="4931359" cy="4754880"/>
          </a:xfrm>
          <a:prstGeom prst="roundRect">
            <a:avLst>
              <a:gd name="adj" fmla="val 3000"/>
            </a:avLst>
          </a:prstGeom>
          <a:solidFill>
            <a:srgbClr val="F7F9FC"/>
          </a:solidFill>
          <a:ln w="12700">
            <a:solidFill>
              <a:srgbClr val="BBC7D6"/>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 name="TextBox 10"/>
          <p:cNvSpPr txBox="1"/>
          <p:nvPr/>
        </p:nvSpPr>
        <p:spPr>
          <a:xfrm>
            <a:off x="6894576" y="2103120"/>
            <a:ext cx="4529023" cy="4425696"/>
          </a:xfrm>
          <a:prstGeom prst="rect">
            <a:avLst/>
          </a:prstGeom>
          <a:noFill/>
        </p:spPr>
        <p:txBody>
          <a:bodyPr wrap="square" lIns="0" tIns="0" rIns="0" bIns="0">
            <a:spAutoFit/>
          </a:bodyPr>
          <a:lstStyle/>
          <a:p>
            <a:pPr algn="l">
              <a:lnSpc>
                <a:spcPct val="120000"/>
              </a:lnSpc>
              <a:spcAft>
                <a:spcPts val="400"/>
              </a:spcAft>
            </a:pPr>
            <a:r>
              <a:rPr sz="1300" b="1" i="0">
                <a:solidFill>
                  <a:srgbClr val="1F5CA8"/>
                </a:solidFill>
                <a:latin typeface="Segoe UI"/>
                <a:ea typeface="Segoe UI"/>
              </a:rPr>
              <a:t>Placeholder: ReAct trace (Thought/Action/Observation)</a:t>
            </a:r>
          </a:p>
          <a:p>
            <a:pPr algn="l">
              <a:lnSpc>
                <a:spcPct val="120000"/>
              </a:lnSpc>
              <a:spcAft>
                <a:spcPts val="0"/>
              </a:spcAft>
            </a:pPr>
            <a:r>
              <a:rPr sz="1150" b="0" i="0">
                <a:solidFill>
                  <a:srgbClr val="7A8696"/>
                </a:solidFill>
                <a:latin typeface="Segoe UI"/>
                <a:ea typeface="Segoe UI"/>
              </a:rPr>
              <a:t>Suggested: a real multi-turn trace where the model queries A, finds it insufficient, then queries B; annotate latency and token cost per step</a:t>
            </a:r>
          </a:p>
          <a:p>
            <a:pPr algn="l">
              <a:lnSpc>
                <a:spcPct val="120000"/>
              </a:lnSpc>
              <a:spcAft>
                <a:spcPts val="200"/>
              </a:spcAft>
            </a:pPr>
            <a:r>
              <a:rPr sz="1150" b="0" i="0">
                <a:solidFill>
                  <a:srgbClr val="BBC7D6"/>
                </a:solidFill>
                <a:latin typeface="Segoe UI"/>
                <a:ea typeface="Segoe UI"/>
              </a:rPr>
              <a:t>· </a:t>
            </a:r>
          </a:p>
          <a:p>
            <a:pPr algn="l">
              <a:lnSpc>
                <a:spcPct val="120000"/>
              </a:lnSpc>
              <a:spcAft>
                <a:spcPts val="200"/>
              </a:spcAft>
            </a:pPr>
            <a:r>
              <a:rPr sz="1150" b="0" i="0">
                <a:solidFill>
                  <a:srgbClr val="BBC7D6"/>
                </a:solidFill>
                <a:latin typeface="Segoe UI"/>
                <a:ea typeface="Segoe UI"/>
              </a:rPr>
              <a:t>· </a:t>
            </a:r>
          </a:p>
          <a:p>
            <a:pPr algn="l">
              <a:lnSpc>
                <a:spcPct val="120000"/>
              </a:lnSpc>
              <a:spcAft>
                <a:spcPts val="200"/>
              </a:spcAft>
            </a:pPr>
            <a:r>
              <a:rPr sz="1150" b="0" i="0">
                <a:solidFill>
                  <a:srgbClr val="BBC7D6"/>
                </a:solidFill>
                <a:latin typeface="Segoe UI"/>
                <a:ea typeface="Segoe UI"/>
              </a:rPr>
              <a:t>· </a:t>
            </a:r>
          </a:p>
          <a:p>
            <a:pPr algn="l">
              <a:lnSpc>
                <a:spcPct val="120000"/>
              </a:lnSpc>
              <a:spcAft>
                <a:spcPts val="200"/>
              </a:spcAft>
            </a:pPr>
            <a:r>
              <a:rPr sz="1150" b="0" i="0">
                <a:solidFill>
                  <a:srgbClr val="BBC7D6"/>
                </a:solidFill>
                <a:latin typeface="Segoe UI"/>
                <a:ea typeface="Segoe UI"/>
              </a:rPr>
              <a:t>· </a:t>
            </a:r>
          </a:p>
          <a:p>
            <a:pPr algn="l">
              <a:lnSpc>
                <a:spcPct val="120000"/>
              </a:lnSpc>
              <a:spcAft>
                <a:spcPts val="200"/>
              </a:spcAft>
            </a:pPr>
            <a:r>
              <a:rPr sz="1150" b="0" i="0">
                <a:solidFill>
                  <a:srgbClr val="BBC7D6"/>
                </a:solidFill>
                <a:latin typeface="Segoe UI"/>
                <a:ea typeface="Segoe UI"/>
              </a:rPr>
              <a:t>· </a:t>
            </a:r>
          </a:p>
          <a:p>
            <a:pPr algn="l">
              <a:lnSpc>
                <a:spcPct val="120000"/>
              </a:lnSpc>
              <a:spcAft>
                <a:spcPts val="200"/>
              </a:spcAft>
            </a:pPr>
            <a:r>
              <a:rPr sz="1150" b="0" i="0">
                <a:solidFill>
                  <a:srgbClr val="BBC7D6"/>
                </a:solidFill>
                <a:latin typeface="Segoe UI"/>
                <a:ea typeface="Segoe UI"/>
              </a:rPr>
              <a:t>· </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7724"/>
          </a:xfrm>
          <a:prstGeom prst="rect">
            <a:avLst/>
          </a:prstGeom>
          <a:solidFill>
            <a:srgbClr val="1F5CA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TextBox 2"/>
          <p:cNvSpPr txBox="1"/>
          <p:nvPr/>
        </p:nvSpPr>
        <p:spPr>
          <a:xfrm>
            <a:off x="566928" y="310896"/>
            <a:ext cx="8595360" cy="274320"/>
          </a:xfrm>
          <a:prstGeom prst="rect">
            <a:avLst/>
          </a:prstGeom>
          <a:noFill/>
        </p:spPr>
        <p:txBody>
          <a:bodyPr wrap="square" lIns="0" tIns="0" rIns="0" bIns="0">
            <a:spAutoFit/>
          </a:bodyPr>
          <a:lstStyle/>
          <a:p>
            <a:pPr algn="l">
              <a:lnSpc>
                <a:spcPct val="120000"/>
              </a:lnSpc>
              <a:spcAft>
                <a:spcPts val="0"/>
              </a:spcAft>
            </a:pPr>
            <a:r>
              <a:rPr sz="1050" b="1" i="0">
                <a:solidFill>
                  <a:srgbClr val="1F5CA8"/>
                </a:solidFill>
                <a:latin typeface="Segoe UI"/>
                <a:ea typeface="Segoe UI"/>
              </a:rPr>
              <a:t>PART 2 · AGENTIC RAG</a:t>
            </a:r>
          </a:p>
        </p:txBody>
      </p:sp>
      <p:sp>
        <p:nvSpPr>
          <p:cNvPr id="4" name="TextBox 3"/>
          <p:cNvSpPr txBox="1"/>
          <p:nvPr/>
        </p:nvSpPr>
        <p:spPr>
          <a:xfrm>
            <a:off x="10161727" y="310896"/>
            <a:ext cx="1463040" cy="274320"/>
          </a:xfrm>
          <a:prstGeom prst="rect">
            <a:avLst/>
          </a:prstGeom>
          <a:noFill/>
        </p:spPr>
        <p:txBody>
          <a:bodyPr wrap="square" lIns="0" tIns="0" rIns="0" bIns="0">
            <a:spAutoFit/>
          </a:bodyPr>
          <a:lstStyle/>
          <a:p>
            <a:pPr algn="r">
              <a:lnSpc>
                <a:spcPct val="120000"/>
              </a:lnSpc>
              <a:spcAft>
                <a:spcPts val="0"/>
              </a:spcAft>
            </a:pPr>
            <a:r>
              <a:rPr sz="1050" b="0" i="0">
                <a:solidFill>
                  <a:srgbClr val="7A8696"/>
                </a:solidFill>
                <a:latin typeface="Segoe UI"/>
                <a:ea typeface="Segoe UI"/>
              </a:rPr>
              <a:t>28</a:t>
            </a:r>
          </a:p>
        </p:txBody>
      </p:sp>
      <p:sp>
        <p:nvSpPr>
          <p:cNvPr id="5" name="TextBox 4"/>
          <p:cNvSpPr txBox="1"/>
          <p:nvPr/>
        </p:nvSpPr>
        <p:spPr>
          <a:xfrm>
            <a:off x="566928" y="658368"/>
            <a:ext cx="11057839" cy="658368"/>
          </a:xfrm>
          <a:prstGeom prst="rect">
            <a:avLst/>
          </a:prstGeom>
          <a:noFill/>
        </p:spPr>
        <p:txBody>
          <a:bodyPr wrap="square" lIns="0" tIns="0" rIns="0" bIns="0">
            <a:spAutoFit/>
          </a:bodyPr>
          <a:lstStyle/>
          <a:p>
            <a:pPr algn="l">
              <a:lnSpc>
                <a:spcPct val="120000"/>
              </a:lnSpc>
              <a:spcAft>
                <a:spcPts val="0"/>
              </a:spcAft>
            </a:pPr>
            <a:r>
              <a:rPr sz="2700" b="1" i="0">
                <a:solidFill>
                  <a:srgbClr val="1B2533"/>
                </a:solidFill>
                <a:latin typeface="Segoe UI"/>
                <a:ea typeface="Segoe UI"/>
              </a:rPr>
              <a:t>Post-retrieval side: Corrective RAG (CRAG)</a:t>
            </a:r>
          </a:p>
        </p:txBody>
      </p:sp>
      <p:sp>
        <p:nvSpPr>
          <p:cNvPr id="6" name="Rectangle 5"/>
          <p:cNvSpPr/>
          <p:nvPr/>
        </p:nvSpPr>
        <p:spPr>
          <a:xfrm>
            <a:off x="566928" y="1371600"/>
            <a:ext cx="1051560" cy="50292"/>
          </a:xfrm>
          <a:prstGeom prst="rect">
            <a:avLst/>
          </a:prstGeom>
          <a:solidFill>
            <a:srgbClr val="1F5CA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 name="TextBox 6"/>
          <p:cNvSpPr txBox="1"/>
          <p:nvPr/>
        </p:nvSpPr>
        <p:spPr>
          <a:xfrm>
            <a:off x="566928" y="1517904"/>
            <a:ext cx="11057839" cy="329184"/>
          </a:xfrm>
          <a:prstGeom prst="rect">
            <a:avLst/>
          </a:prstGeom>
          <a:noFill/>
        </p:spPr>
        <p:txBody>
          <a:bodyPr wrap="square" lIns="0" tIns="0" rIns="0" bIns="0">
            <a:spAutoFit/>
          </a:bodyPr>
          <a:lstStyle/>
          <a:p>
            <a:pPr algn="l">
              <a:lnSpc>
                <a:spcPct val="120000"/>
              </a:lnSpc>
              <a:spcAft>
                <a:spcPts val="0"/>
              </a:spcAft>
            </a:pPr>
            <a:r>
              <a:rPr sz="1300" b="0" i="0">
                <a:solidFill>
                  <a:srgbClr val="7A8696"/>
                </a:solidFill>
                <a:latin typeface="Segoe UI"/>
                <a:ea typeface="Segoe UI"/>
              </a:rPr>
              <a:t>Put a quality gate on the retrieval results</a:t>
            </a:r>
          </a:p>
        </p:txBody>
      </p:sp>
      <p:sp>
        <p:nvSpPr>
          <p:cNvPr id="8" name="Rounded Rectangle 7"/>
          <p:cNvSpPr/>
          <p:nvPr/>
        </p:nvSpPr>
        <p:spPr>
          <a:xfrm>
            <a:off x="566928" y="1938528"/>
            <a:ext cx="5760720" cy="2057400"/>
          </a:xfrm>
          <a:prstGeom prst="roundRect">
            <a:avLst>
              <a:gd name="adj" fmla="val 3000"/>
            </a:avLst>
          </a:prstGeom>
          <a:noFill/>
          <a:ln w="12700">
            <a:solidFill>
              <a:srgbClr val="D8DEE6"/>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TextBox 8"/>
          <p:cNvSpPr txBox="1"/>
          <p:nvPr/>
        </p:nvSpPr>
        <p:spPr>
          <a:xfrm>
            <a:off x="804672" y="2121408"/>
            <a:ext cx="5303520" cy="1737360"/>
          </a:xfrm>
          <a:prstGeom prst="rect">
            <a:avLst/>
          </a:prstGeom>
          <a:noFill/>
        </p:spPr>
        <p:txBody>
          <a:bodyPr wrap="square" lIns="0" tIns="0" rIns="0" bIns="0">
            <a:spAutoFit/>
          </a:bodyPr>
          <a:lstStyle/>
          <a:p>
            <a:pPr algn="l">
              <a:lnSpc>
                <a:spcPct val="120000"/>
              </a:lnSpc>
              <a:spcAft>
                <a:spcPts val="800"/>
              </a:spcAft>
            </a:pPr>
            <a:r>
              <a:rPr sz="1400" b="1" i="0">
                <a:solidFill>
                  <a:srgbClr val="1F5CA8"/>
                </a:solidFill>
                <a:latin typeface="Segoe UI"/>
                <a:ea typeface="Segoe UI"/>
              </a:rPr>
              <a:t>Three-step flow</a:t>
            </a:r>
          </a:p>
          <a:p>
            <a:pPr algn="l">
              <a:lnSpc>
                <a:spcPct val="115000"/>
              </a:lnSpc>
              <a:spcAft>
                <a:spcPts val="700"/>
              </a:spcAft>
            </a:pPr>
            <a:r>
              <a:rPr sz="1200" b="0" i="0">
                <a:solidFill>
                  <a:srgbClr val="334050"/>
                </a:solidFill>
                <a:latin typeface="Segoe UI"/>
                <a:ea typeface="Segoe UI"/>
              </a:rPr>
              <a:t>▪  1) Evaluate: a lightweight evaluator scores the relevance of each retrieved document (self-assessment or a trained retrieval evaluator)</a:t>
            </a:r>
          </a:p>
          <a:p>
            <a:pPr algn="l">
              <a:lnSpc>
                <a:spcPct val="115000"/>
              </a:lnSpc>
              <a:spcAft>
                <a:spcPts val="700"/>
              </a:spcAft>
            </a:pPr>
            <a:r>
              <a:rPr sz="1200" b="0" i="0">
                <a:solidFill>
                  <a:srgbClr val="334050"/>
                </a:solidFill>
                <a:latin typeface="Segoe UI"/>
                <a:ea typeface="Segoe UI"/>
              </a:rPr>
              <a:t>▪  2) Bucket: sort results into Correct / Incorrect / Ambiguous by score</a:t>
            </a:r>
          </a:p>
          <a:p>
            <a:pPr algn="l">
              <a:lnSpc>
                <a:spcPct val="115000"/>
              </a:lnSpc>
              <a:spcAft>
                <a:spcPts val="700"/>
              </a:spcAft>
            </a:pPr>
            <a:r>
              <a:rPr sz="1200" b="0" i="0">
                <a:solidFill>
                  <a:srgbClr val="334050"/>
                </a:solidFill>
                <a:latin typeface="Segoe UI"/>
                <a:ea typeface="Segoe UI"/>
              </a:rPr>
              <a:t>▪  3) Act: choose the follow-up per bucket (correct, or fall back to web search, or generate directly)</a:t>
            </a:r>
          </a:p>
        </p:txBody>
      </p:sp>
      <p:graphicFrame>
        <p:nvGraphicFramePr>
          <p:cNvPr id="10" name="Table 9"/>
          <p:cNvGraphicFramePr>
            <a:graphicFrameLocks noGrp="1"/>
          </p:cNvGraphicFramePr>
          <p:nvPr/>
        </p:nvGraphicFramePr>
        <p:xfrm>
          <a:off x="566928" y="4160520"/>
          <a:ext cx="5760720" cy="1261872"/>
        </p:xfrm>
        <a:graphic>
          <a:graphicData uri="http://schemas.openxmlformats.org/drawingml/2006/table">
            <a:tbl>
              <a:tblPr firstRow="1" bandRow="1">
                <a:tableStyleId>{5C22544A-7EE6-4342-B048-85BDC9FD1C3A}</a:tableStyleId>
              </a:tblPr>
              <a:tblGrid>
                <a:gridCol w="1296162">
                  <a:extLst>
                    <a:ext uri="{9D8B030D-6E8A-4147-A177-3AD203B41FA5}">
                      <a16:colId xmlns:a16="http://schemas.microsoft.com/office/drawing/2014/main" val="20000"/>
                    </a:ext>
                  </a:extLst>
                </a:gridCol>
                <a:gridCol w="1584198">
                  <a:extLst>
                    <a:ext uri="{9D8B030D-6E8A-4147-A177-3AD203B41FA5}">
                      <a16:colId xmlns:a16="http://schemas.microsoft.com/office/drawing/2014/main" val="20001"/>
                    </a:ext>
                  </a:extLst>
                </a:gridCol>
                <a:gridCol w="2880360">
                  <a:extLst>
                    <a:ext uri="{9D8B030D-6E8A-4147-A177-3AD203B41FA5}">
                      <a16:colId xmlns:a16="http://schemas.microsoft.com/office/drawing/2014/main" val="20002"/>
                    </a:ext>
                  </a:extLst>
                </a:gridCol>
              </a:tblGrid>
              <a:tr h="329184">
                <a:tc>
                  <a:txBody>
                    <a:bodyPr/>
                    <a:lstStyle/>
                    <a:p>
                      <a:pPr algn="l">
                        <a:lnSpc>
                          <a:spcPct val="108000"/>
                        </a:lnSpc>
                        <a:spcAft>
                          <a:spcPts val="0"/>
                        </a:spcAft>
                      </a:pPr>
                      <a:r>
                        <a:rPr sz="1050" b="1" i="0">
                          <a:solidFill>
                            <a:srgbClr val="FFFFFF"/>
                          </a:solidFill>
                          <a:latin typeface="Segoe UI"/>
                          <a:ea typeface="Segoe UI"/>
                        </a:rPr>
                        <a:t>Bucket</a:t>
                      </a:r>
                    </a:p>
                  </a:txBody>
                  <a:tcPr marL="82296" marR="64008" marT="18288" marB="18288" anchor="ctr">
                    <a:solidFill>
                      <a:srgbClr val="1F5CA8"/>
                    </a:solidFill>
                  </a:tcPr>
                </a:tc>
                <a:tc>
                  <a:txBody>
                    <a:bodyPr/>
                    <a:lstStyle/>
                    <a:p>
                      <a:pPr algn="l">
                        <a:lnSpc>
                          <a:spcPct val="108000"/>
                        </a:lnSpc>
                        <a:spcAft>
                          <a:spcPts val="0"/>
                        </a:spcAft>
                      </a:pPr>
                      <a:r>
                        <a:rPr sz="1050" b="1" i="0">
                          <a:solidFill>
                            <a:srgbClr val="FFFFFF"/>
                          </a:solidFill>
                          <a:latin typeface="Segoe UI"/>
                          <a:ea typeface="Segoe UI"/>
                        </a:rPr>
                        <a:t>Meaning</a:t>
                      </a:r>
                    </a:p>
                  </a:txBody>
                  <a:tcPr marL="82296" marR="64008" marT="18288" marB="18288" anchor="ctr">
                    <a:solidFill>
                      <a:srgbClr val="1F5CA8"/>
                    </a:solidFill>
                  </a:tcPr>
                </a:tc>
                <a:tc>
                  <a:txBody>
                    <a:bodyPr/>
                    <a:lstStyle/>
                    <a:p>
                      <a:pPr algn="l">
                        <a:lnSpc>
                          <a:spcPct val="108000"/>
                        </a:lnSpc>
                        <a:spcAft>
                          <a:spcPts val="0"/>
                        </a:spcAft>
                      </a:pPr>
                      <a:r>
                        <a:rPr sz="1050" b="1" i="0">
                          <a:solidFill>
                            <a:srgbClr val="FFFFFF"/>
                          </a:solidFill>
                          <a:latin typeface="Segoe UI"/>
                          <a:ea typeface="Segoe UI"/>
                        </a:rPr>
                        <a:t>Action</a:t>
                      </a:r>
                    </a:p>
                  </a:txBody>
                  <a:tcPr marL="82296" marR="64008" marT="18288" marB="18288" anchor="ctr">
                    <a:solidFill>
                      <a:srgbClr val="1F5CA8"/>
                    </a:solidFill>
                  </a:tcPr>
                </a:tc>
                <a:extLst>
                  <a:ext uri="{0D108BD9-81ED-4DB2-BD59-A6C34878D82A}">
                    <a16:rowId xmlns:a16="http://schemas.microsoft.com/office/drawing/2014/main" val="10000"/>
                  </a:ext>
                </a:extLst>
              </a:tr>
              <a:tr h="310896">
                <a:tc>
                  <a:txBody>
                    <a:bodyPr/>
                    <a:lstStyle/>
                    <a:p>
                      <a:pPr algn="l">
                        <a:lnSpc>
                          <a:spcPct val="108000"/>
                        </a:lnSpc>
                        <a:spcAft>
                          <a:spcPts val="0"/>
                        </a:spcAft>
                      </a:pPr>
                      <a:r>
                        <a:rPr sz="1050" b="0" i="0">
                          <a:solidFill>
                            <a:srgbClr val="334050"/>
                          </a:solidFill>
                          <a:latin typeface="Segoe UI"/>
                          <a:ea typeface="Segoe UI"/>
                        </a:rPr>
                        <a:t>Correct</a:t>
                      </a:r>
                    </a:p>
                  </a:txBody>
                  <a:tcPr marL="82296" marR="64008" marT="18288" marB="18288" anchor="ctr">
                    <a:solidFill>
                      <a:srgbClr val="FFFFFF"/>
                    </a:solidFill>
                  </a:tcPr>
                </a:tc>
                <a:tc>
                  <a:txBody>
                    <a:bodyPr/>
                    <a:lstStyle/>
                    <a:p>
                      <a:pPr algn="l">
                        <a:lnSpc>
                          <a:spcPct val="108000"/>
                        </a:lnSpc>
                        <a:spcAft>
                          <a:spcPts val="0"/>
                        </a:spcAft>
                      </a:pPr>
                      <a:r>
                        <a:rPr sz="1050" b="0" i="0">
                          <a:solidFill>
                            <a:srgbClr val="334050"/>
                          </a:solidFill>
                          <a:latin typeface="Segoe UI"/>
                          <a:ea typeface="Segoe UI"/>
                        </a:rPr>
                        <a:t>Relevant and reliable</a:t>
                      </a:r>
                    </a:p>
                  </a:txBody>
                  <a:tcPr marL="82296" marR="64008" marT="18288" marB="18288" anchor="ctr">
                    <a:solidFill>
                      <a:srgbClr val="FFFFFF"/>
                    </a:solidFill>
                  </a:tcPr>
                </a:tc>
                <a:tc>
                  <a:txBody>
                    <a:bodyPr/>
                    <a:lstStyle/>
                    <a:p>
                      <a:pPr algn="l">
                        <a:lnSpc>
                          <a:spcPct val="108000"/>
                        </a:lnSpc>
                        <a:spcAft>
                          <a:spcPts val="0"/>
                        </a:spcAft>
                      </a:pPr>
                      <a:r>
                        <a:rPr sz="1050" b="0" i="0">
                          <a:solidFill>
                            <a:srgbClr val="334050"/>
                          </a:solidFill>
                          <a:latin typeface="Segoe UI"/>
                          <a:ea typeface="Segoe UI"/>
                        </a:rPr>
                        <a:t>Use directly for generation</a:t>
                      </a:r>
                    </a:p>
                  </a:txBody>
                  <a:tcPr marL="82296" marR="64008" marT="18288" marB="18288" anchor="ctr">
                    <a:solidFill>
                      <a:srgbClr val="FFFFFF"/>
                    </a:solidFill>
                  </a:tcPr>
                </a:tc>
                <a:extLst>
                  <a:ext uri="{0D108BD9-81ED-4DB2-BD59-A6C34878D82A}">
                    <a16:rowId xmlns:a16="http://schemas.microsoft.com/office/drawing/2014/main" val="10001"/>
                  </a:ext>
                </a:extLst>
              </a:tr>
              <a:tr h="310896">
                <a:tc>
                  <a:txBody>
                    <a:bodyPr/>
                    <a:lstStyle/>
                    <a:p>
                      <a:pPr algn="l">
                        <a:lnSpc>
                          <a:spcPct val="108000"/>
                        </a:lnSpc>
                        <a:spcAft>
                          <a:spcPts val="0"/>
                        </a:spcAft>
                      </a:pPr>
                      <a:r>
                        <a:rPr sz="1050" b="0" i="0">
                          <a:solidFill>
                            <a:srgbClr val="334050"/>
                          </a:solidFill>
                          <a:latin typeface="Segoe UI"/>
                          <a:ea typeface="Segoe UI"/>
                        </a:rPr>
                        <a:t>Incorrect</a:t>
                      </a:r>
                    </a:p>
                  </a:txBody>
                  <a:tcPr marL="82296" marR="64008" marT="18288" marB="18288" anchor="ctr">
                    <a:solidFill>
                      <a:srgbClr val="F4F7FB"/>
                    </a:solidFill>
                  </a:tcPr>
                </a:tc>
                <a:tc>
                  <a:txBody>
                    <a:bodyPr/>
                    <a:lstStyle/>
                    <a:p>
                      <a:pPr algn="l">
                        <a:lnSpc>
                          <a:spcPct val="108000"/>
                        </a:lnSpc>
                        <a:spcAft>
                          <a:spcPts val="0"/>
                        </a:spcAft>
                      </a:pPr>
                      <a:r>
                        <a:rPr sz="1050" b="0" i="0">
                          <a:solidFill>
                            <a:srgbClr val="334050"/>
                          </a:solidFill>
                          <a:latin typeface="Segoe UI"/>
                          <a:ea typeface="Segoe UI"/>
                        </a:rPr>
                        <a:t>Irrelevant</a:t>
                      </a:r>
                    </a:p>
                  </a:txBody>
                  <a:tcPr marL="82296" marR="64008" marT="18288" marB="18288" anchor="ctr">
                    <a:solidFill>
                      <a:srgbClr val="F4F7FB"/>
                    </a:solidFill>
                  </a:tcPr>
                </a:tc>
                <a:tc>
                  <a:txBody>
                    <a:bodyPr/>
                    <a:lstStyle/>
                    <a:p>
                      <a:pPr algn="l">
                        <a:lnSpc>
                          <a:spcPct val="108000"/>
                        </a:lnSpc>
                        <a:spcAft>
                          <a:spcPts val="0"/>
                        </a:spcAft>
                      </a:pPr>
                      <a:r>
                        <a:rPr sz="1050" b="0" i="0">
                          <a:solidFill>
                            <a:srgbClr val="334050"/>
                          </a:solidFill>
                          <a:latin typeface="Segoe UI"/>
                          <a:ea typeface="Segoe UI"/>
                        </a:rPr>
                        <a:t>Discard, rewrite the query and retrieve, or fall back to external search</a:t>
                      </a:r>
                    </a:p>
                  </a:txBody>
                  <a:tcPr marL="82296" marR="64008" marT="18288" marB="18288" anchor="ctr">
                    <a:solidFill>
                      <a:srgbClr val="F4F7FB"/>
                    </a:solidFill>
                  </a:tcPr>
                </a:tc>
                <a:extLst>
                  <a:ext uri="{0D108BD9-81ED-4DB2-BD59-A6C34878D82A}">
                    <a16:rowId xmlns:a16="http://schemas.microsoft.com/office/drawing/2014/main" val="10002"/>
                  </a:ext>
                </a:extLst>
              </a:tr>
              <a:tr h="310896">
                <a:tc>
                  <a:txBody>
                    <a:bodyPr/>
                    <a:lstStyle/>
                    <a:p>
                      <a:pPr algn="l">
                        <a:lnSpc>
                          <a:spcPct val="108000"/>
                        </a:lnSpc>
                        <a:spcAft>
                          <a:spcPts val="0"/>
                        </a:spcAft>
                      </a:pPr>
                      <a:r>
                        <a:rPr sz="1050" b="0" i="0">
                          <a:solidFill>
                            <a:srgbClr val="334050"/>
                          </a:solidFill>
                          <a:latin typeface="Segoe UI"/>
                          <a:ea typeface="Segoe UI"/>
                        </a:rPr>
                        <a:t>Ambiguous</a:t>
                      </a:r>
                    </a:p>
                  </a:txBody>
                  <a:tcPr marL="82296" marR="64008" marT="18288" marB="18288" anchor="ctr">
                    <a:solidFill>
                      <a:srgbClr val="FFFFFF"/>
                    </a:solidFill>
                  </a:tcPr>
                </a:tc>
                <a:tc>
                  <a:txBody>
                    <a:bodyPr/>
                    <a:lstStyle/>
                    <a:p>
                      <a:pPr algn="l">
                        <a:lnSpc>
                          <a:spcPct val="108000"/>
                        </a:lnSpc>
                        <a:spcAft>
                          <a:spcPts val="0"/>
                        </a:spcAft>
                      </a:pPr>
                      <a:r>
                        <a:rPr sz="1050" b="0" i="0">
                          <a:solidFill>
                            <a:srgbClr val="334050"/>
                          </a:solidFill>
                          <a:latin typeface="Segoe UI"/>
                          <a:ea typeface="Segoe UI"/>
                        </a:rPr>
                        <a:t>Partly relevant</a:t>
                      </a:r>
                    </a:p>
                  </a:txBody>
                  <a:tcPr marL="82296" marR="64008" marT="18288" marB="18288" anchor="ctr">
                    <a:solidFill>
                      <a:srgbClr val="FFFFFF"/>
                    </a:solidFill>
                  </a:tcPr>
                </a:tc>
                <a:tc>
                  <a:txBody>
                    <a:bodyPr/>
                    <a:lstStyle/>
                    <a:p>
                      <a:pPr algn="l">
                        <a:lnSpc>
                          <a:spcPct val="108000"/>
                        </a:lnSpc>
                        <a:spcAft>
                          <a:spcPts val="0"/>
                        </a:spcAft>
                      </a:pPr>
                      <a:r>
                        <a:rPr sz="1050" b="0" i="0">
                          <a:solidFill>
                            <a:srgbClr val="334050"/>
                          </a:solidFill>
                          <a:latin typeface="Segoe UI"/>
                          <a:ea typeface="Segoe UI"/>
                        </a:rPr>
                        <a:t>Combine both: knowledge base plus external search fusion</a:t>
                      </a:r>
                    </a:p>
                  </a:txBody>
                  <a:tcPr marL="82296" marR="64008" marT="18288" marB="18288" anchor="ctr">
                    <a:solidFill>
                      <a:srgbClr val="FFFFFF"/>
                    </a:solidFill>
                  </a:tcPr>
                </a:tc>
                <a:extLst>
                  <a:ext uri="{0D108BD9-81ED-4DB2-BD59-A6C34878D82A}">
                    <a16:rowId xmlns:a16="http://schemas.microsoft.com/office/drawing/2014/main" val="10003"/>
                  </a:ext>
                </a:extLst>
              </a:tr>
            </a:tbl>
          </a:graphicData>
        </a:graphic>
      </p:graphicFrame>
      <p:sp>
        <p:nvSpPr>
          <p:cNvPr id="11" name="Rounded Rectangle 10"/>
          <p:cNvSpPr/>
          <p:nvPr/>
        </p:nvSpPr>
        <p:spPr>
          <a:xfrm>
            <a:off x="6693408" y="1938528"/>
            <a:ext cx="4931359" cy="4754880"/>
          </a:xfrm>
          <a:prstGeom prst="roundRect">
            <a:avLst>
              <a:gd name="adj" fmla="val 3000"/>
            </a:avLst>
          </a:prstGeom>
          <a:solidFill>
            <a:srgbClr val="F7F9FC"/>
          </a:solidFill>
          <a:ln w="12700">
            <a:solidFill>
              <a:srgbClr val="BBC7D6"/>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2" name="TextBox 11"/>
          <p:cNvSpPr txBox="1"/>
          <p:nvPr/>
        </p:nvSpPr>
        <p:spPr>
          <a:xfrm>
            <a:off x="6894576" y="2103120"/>
            <a:ext cx="4529023" cy="4425696"/>
          </a:xfrm>
          <a:prstGeom prst="rect">
            <a:avLst/>
          </a:prstGeom>
          <a:noFill/>
        </p:spPr>
        <p:txBody>
          <a:bodyPr wrap="square" lIns="0" tIns="0" rIns="0" bIns="0">
            <a:spAutoFit/>
          </a:bodyPr>
          <a:lstStyle/>
          <a:p>
            <a:pPr algn="l">
              <a:lnSpc>
                <a:spcPct val="120000"/>
              </a:lnSpc>
              <a:spcAft>
                <a:spcPts val="400"/>
              </a:spcAft>
            </a:pPr>
            <a:r>
              <a:rPr sz="1300" b="1" i="0">
                <a:solidFill>
                  <a:srgbClr val="1F5CA8"/>
                </a:solidFill>
                <a:latin typeface="Segoe UI"/>
                <a:ea typeface="Segoe UI"/>
              </a:rPr>
              <a:t>Placeholder: CRAG flow diagram</a:t>
            </a:r>
          </a:p>
          <a:p>
            <a:pPr algn="l">
              <a:lnSpc>
                <a:spcPct val="120000"/>
              </a:lnSpc>
              <a:spcAft>
                <a:spcPts val="0"/>
              </a:spcAft>
            </a:pPr>
            <a:r>
              <a:rPr sz="1150" b="0" i="0">
                <a:solidFill>
                  <a:srgbClr val="7A8696"/>
                </a:solidFill>
                <a:latin typeface="Segoe UI"/>
                <a:ea typeface="Segoe UI"/>
              </a:rPr>
              <a:t>Suggested: query → retriever → evaluator (scoring) → three branches (correct refines, incorrect discards and rewrites, ambiguous fuses) → generator; web search as an alternate knowledge source</a:t>
            </a:r>
          </a:p>
          <a:p>
            <a:pPr algn="l">
              <a:lnSpc>
                <a:spcPct val="120000"/>
              </a:lnSpc>
              <a:spcAft>
                <a:spcPts val="200"/>
              </a:spcAft>
            </a:pPr>
            <a:r>
              <a:rPr sz="1150" b="0" i="0">
                <a:solidFill>
                  <a:srgbClr val="BBC7D6"/>
                </a:solidFill>
                <a:latin typeface="Segoe UI"/>
                <a:ea typeface="Segoe UI"/>
              </a:rPr>
              <a:t>· </a:t>
            </a:r>
          </a:p>
          <a:p>
            <a:pPr algn="l">
              <a:lnSpc>
                <a:spcPct val="120000"/>
              </a:lnSpc>
              <a:spcAft>
                <a:spcPts val="200"/>
              </a:spcAft>
            </a:pPr>
            <a:r>
              <a:rPr sz="1150" b="0" i="0">
                <a:solidFill>
                  <a:srgbClr val="BBC7D6"/>
                </a:solidFill>
                <a:latin typeface="Segoe UI"/>
                <a:ea typeface="Segoe UI"/>
              </a:rPr>
              <a:t>· </a:t>
            </a:r>
          </a:p>
          <a:p>
            <a:pPr algn="l">
              <a:lnSpc>
                <a:spcPct val="120000"/>
              </a:lnSpc>
              <a:spcAft>
                <a:spcPts val="200"/>
              </a:spcAft>
            </a:pPr>
            <a:r>
              <a:rPr sz="1150" b="0" i="0">
                <a:solidFill>
                  <a:srgbClr val="BBC7D6"/>
                </a:solidFill>
                <a:latin typeface="Segoe UI"/>
                <a:ea typeface="Segoe UI"/>
              </a:rPr>
              <a:t>· </a:t>
            </a:r>
          </a:p>
          <a:p>
            <a:pPr algn="l">
              <a:lnSpc>
                <a:spcPct val="120000"/>
              </a:lnSpc>
              <a:spcAft>
                <a:spcPts val="200"/>
              </a:spcAft>
            </a:pPr>
            <a:r>
              <a:rPr sz="1150" b="0" i="0">
                <a:solidFill>
                  <a:srgbClr val="BBC7D6"/>
                </a:solidFill>
                <a:latin typeface="Segoe UI"/>
                <a:ea typeface="Segoe UI"/>
              </a:rPr>
              <a:t>· </a:t>
            </a:r>
          </a:p>
          <a:p>
            <a:pPr algn="l">
              <a:lnSpc>
                <a:spcPct val="120000"/>
              </a:lnSpc>
              <a:spcAft>
                <a:spcPts val="200"/>
              </a:spcAft>
            </a:pPr>
            <a:r>
              <a:rPr sz="1150" b="0" i="0">
                <a:solidFill>
                  <a:srgbClr val="BBC7D6"/>
                </a:solidFill>
                <a:latin typeface="Segoe UI"/>
                <a:ea typeface="Segoe UI"/>
              </a:rPr>
              <a:t>· </a:t>
            </a:r>
          </a:p>
          <a:p>
            <a:pPr algn="l">
              <a:lnSpc>
                <a:spcPct val="120000"/>
              </a:lnSpc>
              <a:spcAft>
                <a:spcPts val="200"/>
              </a:spcAft>
            </a:pPr>
            <a:r>
              <a:rPr sz="1150" b="0" i="0">
                <a:solidFill>
                  <a:srgbClr val="BBC7D6"/>
                </a:solidFill>
                <a:latin typeface="Segoe UI"/>
                <a:ea typeface="Segoe UI"/>
              </a:rPr>
              <a:t>· </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7724"/>
          </a:xfrm>
          <a:prstGeom prst="rect">
            <a:avLst/>
          </a:prstGeom>
          <a:solidFill>
            <a:srgbClr val="1F5CA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TextBox 2"/>
          <p:cNvSpPr txBox="1"/>
          <p:nvPr/>
        </p:nvSpPr>
        <p:spPr>
          <a:xfrm>
            <a:off x="566928" y="310896"/>
            <a:ext cx="8595360" cy="274320"/>
          </a:xfrm>
          <a:prstGeom prst="rect">
            <a:avLst/>
          </a:prstGeom>
          <a:noFill/>
        </p:spPr>
        <p:txBody>
          <a:bodyPr wrap="square" lIns="0" tIns="0" rIns="0" bIns="0">
            <a:spAutoFit/>
          </a:bodyPr>
          <a:lstStyle/>
          <a:p>
            <a:pPr algn="l">
              <a:lnSpc>
                <a:spcPct val="120000"/>
              </a:lnSpc>
              <a:spcAft>
                <a:spcPts val="0"/>
              </a:spcAft>
            </a:pPr>
            <a:r>
              <a:rPr sz="1050" b="1" i="0">
                <a:solidFill>
                  <a:srgbClr val="1F5CA8"/>
                </a:solidFill>
                <a:latin typeface="Segoe UI"/>
                <a:ea typeface="Segoe UI"/>
              </a:rPr>
              <a:t>PART 2 · AGENTIC RAG</a:t>
            </a:r>
          </a:p>
        </p:txBody>
      </p:sp>
      <p:sp>
        <p:nvSpPr>
          <p:cNvPr id="4" name="TextBox 3"/>
          <p:cNvSpPr txBox="1"/>
          <p:nvPr/>
        </p:nvSpPr>
        <p:spPr>
          <a:xfrm>
            <a:off x="10161727" y="310896"/>
            <a:ext cx="1463040" cy="274320"/>
          </a:xfrm>
          <a:prstGeom prst="rect">
            <a:avLst/>
          </a:prstGeom>
          <a:noFill/>
        </p:spPr>
        <p:txBody>
          <a:bodyPr wrap="square" lIns="0" tIns="0" rIns="0" bIns="0">
            <a:spAutoFit/>
          </a:bodyPr>
          <a:lstStyle/>
          <a:p>
            <a:pPr algn="r">
              <a:lnSpc>
                <a:spcPct val="120000"/>
              </a:lnSpc>
              <a:spcAft>
                <a:spcPts val="0"/>
              </a:spcAft>
            </a:pPr>
            <a:r>
              <a:rPr sz="1050" b="0" i="0">
                <a:solidFill>
                  <a:srgbClr val="7A8696"/>
                </a:solidFill>
                <a:latin typeface="Segoe UI"/>
                <a:ea typeface="Segoe UI"/>
              </a:rPr>
              <a:t>30</a:t>
            </a:r>
          </a:p>
        </p:txBody>
      </p:sp>
      <p:sp>
        <p:nvSpPr>
          <p:cNvPr id="5" name="TextBox 4"/>
          <p:cNvSpPr txBox="1"/>
          <p:nvPr/>
        </p:nvSpPr>
        <p:spPr>
          <a:xfrm>
            <a:off x="566928" y="658368"/>
            <a:ext cx="11057839" cy="658368"/>
          </a:xfrm>
          <a:prstGeom prst="rect">
            <a:avLst/>
          </a:prstGeom>
          <a:noFill/>
        </p:spPr>
        <p:txBody>
          <a:bodyPr wrap="square" lIns="0" tIns="0" rIns="0" bIns="0">
            <a:spAutoFit/>
          </a:bodyPr>
          <a:lstStyle/>
          <a:p>
            <a:pPr algn="l">
              <a:lnSpc>
                <a:spcPct val="120000"/>
              </a:lnSpc>
              <a:spcAft>
                <a:spcPts val="0"/>
              </a:spcAft>
            </a:pPr>
            <a:r>
              <a:rPr sz="2700" b="1" i="0">
                <a:solidFill>
                  <a:srgbClr val="1B2533"/>
                </a:solidFill>
                <a:latin typeface="Segoe UI"/>
                <a:ea typeface="Segoe UI"/>
              </a:rPr>
              <a:t>Orchestration frameworks: LangGraph, LlamaIndex and friends</a:t>
            </a:r>
          </a:p>
        </p:txBody>
      </p:sp>
      <p:sp>
        <p:nvSpPr>
          <p:cNvPr id="6" name="Rectangle 5"/>
          <p:cNvSpPr/>
          <p:nvPr/>
        </p:nvSpPr>
        <p:spPr>
          <a:xfrm>
            <a:off x="566928" y="1371600"/>
            <a:ext cx="1051560" cy="50292"/>
          </a:xfrm>
          <a:prstGeom prst="rect">
            <a:avLst/>
          </a:prstGeom>
          <a:solidFill>
            <a:srgbClr val="1F5CA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 name="TextBox 6"/>
          <p:cNvSpPr txBox="1"/>
          <p:nvPr/>
        </p:nvSpPr>
        <p:spPr>
          <a:xfrm>
            <a:off x="566928" y="1517904"/>
            <a:ext cx="11057839" cy="329184"/>
          </a:xfrm>
          <a:prstGeom prst="rect">
            <a:avLst/>
          </a:prstGeom>
          <a:noFill/>
        </p:spPr>
        <p:txBody>
          <a:bodyPr wrap="square" lIns="0" tIns="0" rIns="0" bIns="0">
            <a:spAutoFit/>
          </a:bodyPr>
          <a:lstStyle/>
          <a:p>
            <a:pPr algn="l">
              <a:lnSpc>
                <a:spcPct val="120000"/>
              </a:lnSpc>
              <a:spcAft>
                <a:spcPts val="0"/>
              </a:spcAft>
            </a:pPr>
            <a:r>
              <a:rPr sz="1300" b="0" i="0">
                <a:solidFill>
                  <a:srgbClr val="7A8696"/>
                </a:solidFill>
                <a:latin typeface="Segoe UI"/>
                <a:ea typeface="Segoe UI"/>
              </a:rPr>
              <a:t>“Agentic RAG” in production is mostly a framework choice: who decides the next step, and where state lives</a:t>
            </a:r>
          </a:p>
        </p:txBody>
      </p:sp>
      <p:graphicFrame>
        <p:nvGraphicFramePr>
          <p:cNvPr id="8" name="Table 7"/>
          <p:cNvGraphicFramePr>
            <a:graphicFrameLocks noGrp="1"/>
          </p:cNvGraphicFramePr>
          <p:nvPr/>
        </p:nvGraphicFramePr>
        <p:xfrm>
          <a:off x="566928" y="1956816"/>
          <a:ext cx="11057837" cy="3749040"/>
        </p:xfrm>
        <a:graphic>
          <a:graphicData uri="http://schemas.openxmlformats.org/drawingml/2006/table">
            <a:tbl>
              <a:tblPr firstRow="1" bandRow="1">
                <a:tableStyleId>{5C22544A-7EE6-4342-B048-85BDC9FD1C3A}</a:tableStyleId>
              </a:tblPr>
              <a:tblGrid>
                <a:gridCol w="2029603">
                  <a:extLst>
                    <a:ext uri="{9D8B030D-6E8A-4147-A177-3AD203B41FA5}">
                      <a16:colId xmlns:a16="http://schemas.microsoft.com/office/drawing/2014/main" val="20000"/>
                    </a:ext>
                  </a:extLst>
                </a:gridCol>
                <a:gridCol w="1749658">
                  <a:extLst>
                    <a:ext uri="{9D8B030D-6E8A-4147-A177-3AD203B41FA5}">
                      <a16:colId xmlns:a16="http://schemas.microsoft.com/office/drawing/2014/main" val="20001"/>
                    </a:ext>
                  </a:extLst>
                </a:gridCol>
                <a:gridCol w="3849247">
                  <a:extLst>
                    <a:ext uri="{9D8B030D-6E8A-4147-A177-3AD203B41FA5}">
                      <a16:colId xmlns:a16="http://schemas.microsoft.com/office/drawing/2014/main" val="20002"/>
                    </a:ext>
                  </a:extLst>
                </a:gridCol>
                <a:gridCol w="3429329">
                  <a:extLst>
                    <a:ext uri="{9D8B030D-6E8A-4147-A177-3AD203B41FA5}">
                      <a16:colId xmlns:a16="http://schemas.microsoft.com/office/drawing/2014/main" val="20003"/>
                    </a:ext>
                  </a:extLst>
                </a:gridCol>
              </a:tblGrid>
              <a:tr h="310896">
                <a:tc>
                  <a:txBody>
                    <a:bodyPr/>
                    <a:lstStyle/>
                    <a:p>
                      <a:pPr algn="l">
                        <a:lnSpc>
                          <a:spcPct val="108000"/>
                        </a:lnSpc>
                        <a:spcAft>
                          <a:spcPts val="0"/>
                        </a:spcAft>
                      </a:pPr>
                      <a:r>
                        <a:rPr sz="1000" b="1" i="0">
                          <a:solidFill>
                            <a:srgbClr val="FFFFFF"/>
                          </a:solidFill>
                          <a:latin typeface="Segoe UI"/>
                          <a:ea typeface="Segoe UI"/>
                        </a:rPr>
                        <a:t>Framework</a:t>
                      </a:r>
                    </a:p>
                  </a:txBody>
                  <a:tcPr marL="82296" marR="64008" marT="18288" marB="18288" anchor="ctr">
                    <a:solidFill>
                      <a:srgbClr val="1F5CA8"/>
                    </a:solidFill>
                  </a:tcPr>
                </a:tc>
                <a:tc>
                  <a:txBody>
                    <a:bodyPr/>
                    <a:lstStyle/>
                    <a:p>
                      <a:pPr algn="l">
                        <a:lnSpc>
                          <a:spcPct val="108000"/>
                        </a:lnSpc>
                        <a:spcAft>
                          <a:spcPts val="0"/>
                        </a:spcAft>
                      </a:pPr>
                      <a:r>
                        <a:rPr sz="1000" b="1" i="0">
                          <a:solidFill>
                            <a:srgbClr val="FFFFFF"/>
                          </a:solidFill>
                          <a:latin typeface="Segoe UI"/>
                          <a:ea typeface="Segoe UI"/>
                        </a:rPr>
                        <a:t>Paradigm</a:t>
                      </a:r>
                    </a:p>
                  </a:txBody>
                  <a:tcPr marL="82296" marR="64008" marT="18288" marB="18288" anchor="ctr">
                    <a:solidFill>
                      <a:srgbClr val="1F5CA8"/>
                    </a:solidFill>
                  </a:tcPr>
                </a:tc>
                <a:tc>
                  <a:txBody>
                    <a:bodyPr/>
                    <a:lstStyle/>
                    <a:p>
                      <a:pPr algn="l">
                        <a:lnSpc>
                          <a:spcPct val="108000"/>
                        </a:lnSpc>
                        <a:spcAft>
                          <a:spcPts val="0"/>
                        </a:spcAft>
                      </a:pPr>
                      <a:r>
                        <a:rPr sz="1000" b="1" i="0">
                          <a:solidFill>
                            <a:srgbClr val="FFFFFF"/>
                          </a:solidFill>
                          <a:latin typeface="Segoe UI"/>
                          <a:ea typeface="Segoe UI"/>
                        </a:rPr>
                        <a:t>Core idea</a:t>
                      </a:r>
                    </a:p>
                  </a:txBody>
                  <a:tcPr marL="82296" marR="64008" marT="18288" marB="18288" anchor="ctr">
                    <a:solidFill>
                      <a:srgbClr val="1F5CA8"/>
                    </a:solidFill>
                  </a:tcPr>
                </a:tc>
                <a:tc>
                  <a:txBody>
                    <a:bodyPr/>
                    <a:lstStyle/>
                    <a:p>
                      <a:pPr algn="l">
                        <a:lnSpc>
                          <a:spcPct val="108000"/>
                        </a:lnSpc>
                        <a:spcAft>
                          <a:spcPts val="0"/>
                        </a:spcAft>
                      </a:pPr>
                      <a:r>
                        <a:rPr sz="1000" b="1" i="0">
                          <a:solidFill>
                            <a:srgbClr val="FFFFFF"/>
                          </a:solidFill>
                          <a:latin typeface="Segoe UI"/>
                          <a:ea typeface="Segoe UI"/>
                        </a:rPr>
                        <a:t>Best for</a:t>
                      </a:r>
                    </a:p>
                  </a:txBody>
                  <a:tcPr marL="82296" marR="64008" marT="18288" marB="18288" anchor="ctr">
                    <a:solidFill>
                      <a:srgbClr val="1F5CA8"/>
                    </a:solidFill>
                  </a:tcPr>
                </a:tc>
                <a:extLst>
                  <a:ext uri="{0D108BD9-81ED-4DB2-BD59-A6C34878D82A}">
                    <a16:rowId xmlns:a16="http://schemas.microsoft.com/office/drawing/2014/main" val="10000"/>
                  </a:ext>
                </a:extLst>
              </a:tr>
              <a:tr h="429768">
                <a:tc>
                  <a:txBody>
                    <a:bodyPr/>
                    <a:lstStyle/>
                    <a:p>
                      <a:pPr algn="l">
                        <a:lnSpc>
                          <a:spcPct val="108000"/>
                        </a:lnSpc>
                        <a:spcAft>
                          <a:spcPts val="0"/>
                        </a:spcAft>
                      </a:pPr>
                      <a:r>
                        <a:rPr sz="1000" b="0" i="0">
                          <a:solidFill>
                            <a:srgbClr val="334050"/>
                          </a:solidFill>
                          <a:latin typeface="Segoe UI"/>
                          <a:ea typeface="Segoe UI"/>
                        </a:rPr>
                        <a:t>Plain Python</a:t>
                      </a:r>
                    </a:p>
                  </a:txBody>
                  <a:tcPr marL="82296" marR="64008" marT="18288" marB="18288" anchor="ctr">
                    <a:solidFill>
                      <a:srgbClr val="FFFFFF"/>
                    </a:solidFill>
                  </a:tcPr>
                </a:tc>
                <a:tc>
                  <a:txBody>
                    <a:bodyPr/>
                    <a:lstStyle/>
                    <a:p>
                      <a:pPr algn="l">
                        <a:lnSpc>
                          <a:spcPct val="108000"/>
                        </a:lnSpc>
                        <a:spcAft>
                          <a:spcPts val="0"/>
                        </a:spcAft>
                      </a:pPr>
                      <a:r>
                        <a:rPr sz="1000" b="0" i="0">
                          <a:solidFill>
                            <a:srgbClr val="334050"/>
                          </a:solidFill>
                          <a:latin typeface="Segoe UI"/>
                          <a:ea typeface="Segoe UI"/>
                        </a:rPr>
                        <a:t>Hand-rolled</a:t>
                      </a:r>
                    </a:p>
                  </a:txBody>
                  <a:tcPr marL="82296" marR="64008" marT="18288" marB="18288" anchor="ctr">
                    <a:solidFill>
                      <a:srgbClr val="FFFFFF"/>
                    </a:solidFill>
                  </a:tcPr>
                </a:tc>
                <a:tc>
                  <a:txBody>
                    <a:bodyPr/>
                    <a:lstStyle/>
                    <a:p>
                      <a:pPr algn="l">
                        <a:lnSpc>
                          <a:spcPct val="108000"/>
                        </a:lnSpc>
                        <a:spcAft>
                          <a:spcPts val="0"/>
                        </a:spcAft>
                      </a:pPr>
                      <a:r>
                        <a:rPr sz="1000" b="0" i="0">
                          <a:solidFill>
                            <a:srgbClr val="334050"/>
                          </a:solidFill>
                          <a:latin typeface="Segoe UI"/>
                          <a:ea typeface="Segoe UI"/>
                        </a:rPr>
                        <a:t>A function per step; you own the loop and the state</a:t>
                      </a:r>
                    </a:p>
                  </a:txBody>
                  <a:tcPr marL="82296" marR="64008" marT="18288" marB="18288" anchor="ctr">
                    <a:solidFill>
                      <a:srgbClr val="FFFFFF"/>
                    </a:solidFill>
                  </a:tcPr>
                </a:tc>
                <a:tc>
                  <a:txBody>
                    <a:bodyPr/>
                    <a:lstStyle/>
                    <a:p>
                      <a:pPr algn="l">
                        <a:lnSpc>
                          <a:spcPct val="108000"/>
                        </a:lnSpc>
                        <a:spcAft>
                          <a:spcPts val="0"/>
                        </a:spcAft>
                      </a:pPr>
                      <a:r>
                        <a:rPr sz="1000" b="0" i="0">
                          <a:solidFill>
                            <a:srgbClr val="334050"/>
                          </a:solidFill>
                          <a:latin typeface="Segoe UI"/>
                          <a:ea typeface="Segoe UI"/>
                        </a:rPr>
                        <a:t>Getting an honest baseline before any dependency</a:t>
                      </a:r>
                    </a:p>
                  </a:txBody>
                  <a:tcPr marL="82296" marR="64008" marT="18288" marB="18288" anchor="ctr">
                    <a:solidFill>
                      <a:srgbClr val="FFFFFF"/>
                    </a:solidFill>
                  </a:tcPr>
                </a:tc>
                <a:extLst>
                  <a:ext uri="{0D108BD9-81ED-4DB2-BD59-A6C34878D82A}">
                    <a16:rowId xmlns:a16="http://schemas.microsoft.com/office/drawing/2014/main" val="10001"/>
                  </a:ext>
                </a:extLst>
              </a:tr>
              <a:tr h="429768">
                <a:tc>
                  <a:txBody>
                    <a:bodyPr/>
                    <a:lstStyle/>
                    <a:p>
                      <a:pPr algn="l">
                        <a:lnSpc>
                          <a:spcPct val="108000"/>
                        </a:lnSpc>
                        <a:spcAft>
                          <a:spcPts val="0"/>
                        </a:spcAft>
                      </a:pPr>
                      <a:r>
                        <a:rPr sz="1000" b="0" i="0">
                          <a:solidFill>
                            <a:srgbClr val="334050"/>
                          </a:solidFill>
                          <a:latin typeface="Segoe UI"/>
                          <a:ea typeface="Segoe UI"/>
                        </a:rPr>
                        <a:t>LangGraph</a:t>
                      </a:r>
                    </a:p>
                  </a:txBody>
                  <a:tcPr marL="82296" marR="64008" marT="18288" marB="18288" anchor="ctr">
                    <a:solidFill>
                      <a:srgbClr val="F4F7FB"/>
                    </a:solidFill>
                  </a:tcPr>
                </a:tc>
                <a:tc>
                  <a:txBody>
                    <a:bodyPr/>
                    <a:lstStyle/>
                    <a:p>
                      <a:pPr algn="l">
                        <a:lnSpc>
                          <a:spcPct val="108000"/>
                        </a:lnSpc>
                        <a:spcAft>
                          <a:spcPts val="0"/>
                        </a:spcAft>
                      </a:pPr>
                      <a:r>
                        <a:rPr sz="1000" b="0" i="0">
                          <a:solidFill>
                            <a:srgbClr val="334050"/>
                          </a:solidFill>
                          <a:latin typeface="Segoe UI"/>
                          <a:ea typeface="Segoe UI"/>
                        </a:rPr>
                        <a:t>Graph / state machine</a:t>
                      </a:r>
                    </a:p>
                  </a:txBody>
                  <a:tcPr marL="82296" marR="64008" marT="18288" marB="18288" anchor="ctr">
                    <a:solidFill>
                      <a:srgbClr val="F4F7FB"/>
                    </a:solidFill>
                  </a:tcPr>
                </a:tc>
                <a:tc>
                  <a:txBody>
                    <a:bodyPr/>
                    <a:lstStyle/>
                    <a:p>
                      <a:pPr algn="l">
                        <a:lnSpc>
                          <a:spcPct val="108000"/>
                        </a:lnSpc>
                        <a:spcAft>
                          <a:spcPts val="0"/>
                        </a:spcAft>
                      </a:pPr>
                      <a:r>
                        <a:rPr sz="1000" b="0" i="0">
                          <a:solidFill>
                            <a:srgbClr val="334050"/>
                          </a:solidFill>
                          <a:latin typeface="Segoe UI"/>
                          <a:ea typeface="Segoe UI"/>
                        </a:rPr>
                        <a:t>Nodes + edges + shared typed state; checkpointer persists every step; built-in interrupts for human-in-the-loop</a:t>
                      </a:r>
                    </a:p>
                  </a:txBody>
                  <a:tcPr marL="82296" marR="64008" marT="18288" marB="18288" anchor="ctr">
                    <a:solidFill>
                      <a:srgbClr val="F4F7FB"/>
                    </a:solidFill>
                  </a:tcPr>
                </a:tc>
                <a:tc>
                  <a:txBody>
                    <a:bodyPr/>
                    <a:lstStyle/>
                    <a:p>
                      <a:pPr algn="l">
                        <a:lnSpc>
                          <a:spcPct val="108000"/>
                        </a:lnSpc>
                        <a:spcAft>
                          <a:spcPts val="0"/>
                        </a:spcAft>
                      </a:pPr>
                      <a:r>
                        <a:rPr sz="1000" b="0" i="0">
                          <a:solidFill>
                            <a:srgbClr val="334050"/>
                          </a:solidFill>
                          <a:latin typeface="Segoe UI"/>
                          <a:ea typeface="Segoe UI"/>
                        </a:rPr>
                        <a:t>Explicit, auditable control flow — the default choice for agentic RAG</a:t>
                      </a:r>
                    </a:p>
                  </a:txBody>
                  <a:tcPr marL="82296" marR="64008" marT="18288" marB="18288" anchor="ctr">
                    <a:solidFill>
                      <a:srgbClr val="F4F7FB"/>
                    </a:solidFill>
                  </a:tcPr>
                </a:tc>
                <a:extLst>
                  <a:ext uri="{0D108BD9-81ED-4DB2-BD59-A6C34878D82A}">
                    <a16:rowId xmlns:a16="http://schemas.microsoft.com/office/drawing/2014/main" val="10002"/>
                  </a:ext>
                </a:extLst>
              </a:tr>
              <a:tr h="429768">
                <a:tc>
                  <a:txBody>
                    <a:bodyPr/>
                    <a:lstStyle/>
                    <a:p>
                      <a:pPr algn="l">
                        <a:lnSpc>
                          <a:spcPct val="108000"/>
                        </a:lnSpc>
                        <a:spcAft>
                          <a:spcPts val="0"/>
                        </a:spcAft>
                      </a:pPr>
                      <a:r>
                        <a:rPr sz="1000" b="0" i="0">
                          <a:solidFill>
                            <a:srgbClr val="334050"/>
                          </a:solidFill>
                          <a:latin typeface="Segoe UI"/>
                          <a:ea typeface="Segoe UI"/>
                        </a:rPr>
                        <a:t>LlamaIndex Workflows</a:t>
                      </a:r>
                    </a:p>
                  </a:txBody>
                  <a:tcPr marL="82296" marR="64008" marT="18288" marB="18288" anchor="ctr">
                    <a:solidFill>
                      <a:srgbClr val="FFFFFF"/>
                    </a:solidFill>
                  </a:tcPr>
                </a:tc>
                <a:tc>
                  <a:txBody>
                    <a:bodyPr/>
                    <a:lstStyle/>
                    <a:p>
                      <a:pPr algn="l">
                        <a:lnSpc>
                          <a:spcPct val="108000"/>
                        </a:lnSpc>
                        <a:spcAft>
                          <a:spcPts val="0"/>
                        </a:spcAft>
                      </a:pPr>
                      <a:r>
                        <a:rPr sz="1000" b="0" i="0">
                          <a:solidFill>
                            <a:srgbClr val="334050"/>
                          </a:solidFill>
                          <a:latin typeface="Segoe UI"/>
                          <a:ea typeface="Segoe UI"/>
                        </a:rPr>
                        <a:t>Event-driven steps</a:t>
                      </a:r>
                    </a:p>
                  </a:txBody>
                  <a:tcPr marL="82296" marR="64008" marT="18288" marB="18288" anchor="ctr">
                    <a:solidFill>
                      <a:srgbClr val="FFFFFF"/>
                    </a:solidFill>
                  </a:tcPr>
                </a:tc>
                <a:tc>
                  <a:txBody>
                    <a:bodyPr/>
                    <a:lstStyle/>
                    <a:p>
                      <a:pPr algn="l">
                        <a:lnSpc>
                          <a:spcPct val="108000"/>
                        </a:lnSpc>
                        <a:spcAft>
                          <a:spcPts val="0"/>
                        </a:spcAft>
                      </a:pPr>
                      <a:r>
                        <a:rPr sz="1000" b="0" i="0">
                          <a:solidFill>
                            <a:srgbClr val="334050"/>
                          </a:solidFill>
                          <a:latin typeface="Segoe UI"/>
                          <a:ea typeface="Segoe UI"/>
                        </a:rPr>
                        <a:t>Steps subscribe to and emit events (async); first-class retrievers, indexes, parsers, query engines</a:t>
                      </a:r>
                    </a:p>
                  </a:txBody>
                  <a:tcPr marL="82296" marR="64008" marT="18288" marB="18288" anchor="ctr">
                    <a:solidFill>
                      <a:srgbClr val="FFFFFF"/>
                    </a:solidFill>
                  </a:tcPr>
                </a:tc>
                <a:tc>
                  <a:txBody>
                    <a:bodyPr/>
                    <a:lstStyle/>
                    <a:p>
                      <a:pPr algn="l">
                        <a:lnSpc>
                          <a:spcPct val="108000"/>
                        </a:lnSpc>
                        <a:spcAft>
                          <a:spcPts val="0"/>
                        </a:spcAft>
                      </a:pPr>
                      <a:r>
                        <a:rPr sz="1000" b="0" i="0">
                          <a:solidFill>
                            <a:srgbClr val="334050"/>
                          </a:solidFill>
                          <a:latin typeface="Segoe UI"/>
                          <a:ea typeface="Segoe UI"/>
                        </a:rPr>
                        <a:t>Retrieval- and index-centric pipelines that need custom control</a:t>
                      </a:r>
                    </a:p>
                  </a:txBody>
                  <a:tcPr marL="82296" marR="64008" marT="18288" marB="18288" anchor="ctr">
                    <a:solidFill>
                      <a:srgbClr val="FFFFFF"/>
                    </a:solidFill>
                  </a:tcPr>
                </a:tc>
                <a:extLst>
                  <a:ext uri="{0D108BD9-81ED-4DB2-BD59-A6C34878D82A}">
                    <a16:rowId xmlns:a16="http://schemas.microsoft.com/office/drawing/2014/main" val="10003"/>
                  </a:ext>
                </a:extLst>
              </a:tr>
              <a:tr h="429768">
                <a:tc>
                  <a:txBody>
                    <a:bodyPr/>
                    <a:lstStyle/>
                    <a:p>
                      <a:pPr algn="l">
                        <a:lnSpc>
                          <a:spcPct val="108000"/>
                        </a:lnSpc>
                        <a:spcAft>
                          <a:spcPts val="0"/>
                        </a:spcAft>
                      </a:pPr>
                      <a:r>
                        <a:rPr sz="1000" b="0" i="0">
                          <a:solidFill>
                            <a:srgbClr val="334050"/>
                          </a:solidFill>
                          <a:latin typeface="Segoe UI"/>
                          <a:ea typeface="Segoe UI"/>
                        </a:rPr>
                        <a:t>CrewAI</a:t>
                      </a:r>
                    </a:p>
                  </a:txBody>
                  <a:tcPr marL="82296" marR="64008" marT="18288" marB="18288" anchor="ctr">
                    <a:solidFill>
                      <a:srgbClr val="F4F7FB"/>
                    </a:solidFill>
                  </a:tcPr>
                </a:tc>
                <a:tc>
                  <a:txBody>
                    <a:bodyPr/>
                    <a:lstStyle/>
                    <a:p>
                      <a:pPr algn="l">
                        <a:lnSpc>
                          <a:spcPct val="108000"/>
                        </a:lnSpc>
                        <a:spcAft>
                          <a:spcPts val="0"/>
                        </a:spcAft>
                      </a:pPr>
                      <a:r>
                        <a:rPr sz="1000" b="0" i="0">
                          <a:solidFill>
                            <a:srgbClr val="334050"/>
                          </a:solidFill>
                          <a:latin typeface="Segoe UI"/>
                          <a:ea typeface="Segoe UI"/>
                        </a:rPr>
                        <a:t>Role-based multi-agent</a:t>
                      </a:r>
                    </a:p>
                  </a:txBody>
                  <a:tcPr marL="82296" marR="64008" marT="18288" marB="18288" anchor="ctr">
                    <a:solidFill>
                      <a:srgbClr val="F4F7FB"/>
                    </a:solidFill>
                  </a:tcPr>
                </a:tc>
                <a:tc>
                  <a:txBody>
                    <a:bodyPr/>
                    <a:lstStyle/>
                    <a:p>
                      <a:pPr algn="l">
                        <a:lnSpc>
                          <a:spcPct val="108000"/>
                        </a:lnSpc>
                        <a:spcAft>
                          <a:spcPts val="0"/>
                        </a:spcAft>
                      </a:pPr>
                      <a:r>
                        <a:rPr sz="1000" b="0" i="0">
                          <a:solidFill>
                            <a:srgbClr val="334050"/>
                          </a:solidFill>
                          <a:latin typeface="Segoe UI"/>
                          <a:ea typeface="Segoe UI"/>
                        </a:rPr>
                        <a:t>Agents carry roles, goals and tools; sequential or hierarchical process delegates tasks</a:t>
                      </a:r>
                    </a:p>
                  </a:txBody>
                  <a:tcPr marL="82296" marR="64008" marT="18288" marB="18288" anchor="ctr">
                    <a:solidFill>
                      <a:srgbClr val="F4F7FB"/>
                    </a:solidFill>
                  </a:tcPr>
                </a:tc>
                <a:tc>
                  <a:txBody>
                    <a:bodyPr/>
                    <a:lstStyle/>
                    <a:p>
                      <a:pPr algn="l">
                        <a:lnSpc>
                          <a:spcPct val="108000"/>
                        </a:lnSpc>
                        <a:spcAft>
                          <a:spcPts val="0"/>
                        </a:spcAft>
                      </a:pPr>
                      <a:r>
                        <a:rPr sz="1000" b="0" i="0">
                          <a:solidFill>
                            <a:srgbClr val="334050"/>
                          </a:solidFill>
                          <a:latin typeface="Segoe UI"/>
                          <a:ea typeface="Segoe UI"/>
                        </a:rPr>
                        <a:t>Multi-role workflows (researcher → analyst → writer) fast to prototype</a:t>
                      </a:r>
                    </a:p>
                  </a:txBody>
                  <a:tcPr marL="82296" marR="64008" marT="18288" marB="18288" anchor="ctr">
                    <a:solidFill>
                      <a:srgbClr val="F4F7FB"/>
                    </a:solidFill>
                  </a:tcPr>
                </a:tc>
                <a:extLst>
                  <a:ext uri="{0D108BD9-81ED-4DB2-BD59-A6C34878D82A}">
                    <a16:rowId xmlns:a16="http://schemas.microsoft.com/office/drawing/2014/main" val="10004"/>
                  </a:ext>
                </a:extLst>
              </a:tr>
              <a:tr h="429768">
                <a:tc>
                  <a:txBody>
                    <a:bodyPr/>
                    <a:lstStyle/>
                    <a:p>
                      <a:pPr algn="l">
                        <a:lnSpc>
                          <a:spcPct val="108000"/>
                        </a:lnSpc>
                        <a:spcAft>
                          <a:spcPts val="0"/>
                        </a:spcAft>
                      </a:pPr>
                      <a:r>
                        <a:rPr sz="1000" b="0" i="0">
                          <a:solidFill>
                            <a:srgbClr val="334050"/>
                          </a:solidFill>
                          <a:latin typeface="Segoe UI"/>
                          <a:ea typeface="Segoe UI"/>
                        </a:rPr>
                        <a:t>AutoGen / AG2</a:t>
                      </a:r>
                    </a:p>
                  </a:txBody>
                  <a:tcPr marL="82296" marR="64008" marT="18288" marB="18288" anchor="ctr">
                    <a:solidFill>
                      <a:srgbClr val="FFFFFF"/>
                    </a:solidFill>
                  </a:tcPr>
                </a:tc>
                <a:tc>
                  <a:txBody>
                    <a:bodyPr/>
                    <a:lstStyle/>
                    <a:p>
                      <a:pPr algn="l">
                        <a:lnSpc>
                          <a:spcPct val="108000"/>
                        </a:lnSpc>
                        <a:spcAft>
                          <a:spcPts val="0"/>
                        </a:spcAft>
                      </a:pPr>
                      <a:r>
                        <a:rPr sz="1000" b="0" i="0">
                          <a:solidFill>
                            <a:srgbClr val="334050"/>
                          </a:solidFill>
                          <a:latin typeface="Segoe UI"/>
                          <a:ea typeface="Segoe UI"/>
                        </a:rPr>
                        <a:t>Conversational multi-agent</a:t>
                      </a:r>
                    </a:p>
                  </a:txBody>
                  <a:tcPr marL="82296" marR="64008" marT="18288" marB="18288" anchor="ctr">
                    <a:solidFill>
                      <a:srgbClr val="FFFFFF"/>
                    </a:solidFill>
                  </a:tcPr>
                </a:tc>
                <a:tc>
                  <a:txBody>
                    <a:bodyPr/>
                    <a:lstStyle/>
                    <a:p>
                      <a:pPr algn="l">
                        <a:lnSpc>
                          <a:spcPct val="108000"/>
                        </a:lnSpc>
                        <a:spcAft>
                          <a:spcPts val="0"/>
                        </a:spcAft>
                      </a:pPr>
                      <a:r>
                        <a:rPr sz="1000" b="0" i="0">
                          <a:solidFill>
                            <a:srgbClr val="334050"/>
                          </a:solidFill>
                          <a:latin typeface="Segoe UI"/>
                          <a:ea typeface="Segoe UI"/>
                        </a:rPr>
                        <a:t>Agents converse; group chat with a manager; code execution sandbox</a:t>
                      </a:r>
                    </a:p>
                  </a:txBody>
                  <a:tcPr marL="82296" marR="64008" marT="18288" marB="18288" anchor="ctr">
                    <a:solidFill>
                      <a:srgbClr val="FFFFFF"/>
                    </a:solidFill>
                  </a:tcPr>
                </a:tc>
                <a:tc>
                  <a:txBody>
                    <a:bodyPr/>
                    <a:lstStyle/>
                    <a:p>
                      <a:pPr algn="l">
                        <a:lnSpc>
                          <a:spcPct val="108000"/>
                        </a:lnSpc>
                        <a:spcAft>
                          <a:spcPts val="0"/>
                        </a:spcAft>
                      </a:pPr>
                      <a:r>
                        <a:rPr sz="1000" b="0" i="0">
                          <a:solidFill>
                            <a:srgbClr val="334050"/>
                          </a:solidFill>
                          <a:latin typeface="Segoe UI"/>
                          <a:ea typeface="Segoe UI"/>
                        </a:rPr>
                        <a:t>Research-style multi-agent dialogue and code-execution agents</a:t>
                      </a:r>
                    </a:p>
                  </a:txBody>
                  <a:tcPr marL="82296" marR="64008" marT="18288" marB="18288" anchor="ctr">
                    <a:solidFill>
                      <a:srgbClr val="FFFFFF"/>
                    </a:solidFill>
                  </a:tcPr>
                </a:tc>
                <a:extLst>
                  <a:ext uri="{0D108BD9-81ED-4DB2-BD59-A6C34878D82A}">
                    <a16:rowId xmlns:a16="http://schemas.microsoft.com/office/drawing/2014/main" val="10005"/>
                  </a:ext>
                </a:extLst>
              </a:tr>
              <a:tr h="429768">
                <a:tc>
                  <a:txBody>
                    <a:bodyPr/>
                    <a:lstStyle/>
                    <a:p>
                      <a:pPr algn="l">
                        <a:lnSpc>
                          <a:spcPct val="108000"/>
                        </a:lnSpc>
                        <a:spcAft>
                          <a:spcPts val="0"/>
                        </a:spcAft>
                      </a:pPr>
                      <a:r>
                        <a:rPr sz="1000" b="0" i="0">
                          <a:solidFill>
                            <a:srgbClr val="334050"/>
                          </a:solidFill>
                          <a:latin typeface="Segoe UI"/>
                          <a:ea typeface="Segoe UI"/>
                        </a:rPr>
                        <a:t>Pydantic AI</a:t>
                      </a:r>
                    </a:p>
                  </a:txBody>
                  <a:tcPr marL="82296" marR="64008" marT="18288" marB="18288" anchor="ctr">
                    <a:solidFill>
                      <a:srgbClr val="F4F7FB"/>
                    </a:solidFill>
                  </a:tcPr>
                </a:tc>
                <a:tc>
                  <a:txBody>
                    <a:bodyPr/>
                    <a:lstStyle/>
                    <a:p>
                      <a:pPr algn="l">
                        <a:lnSpc>
                          <a:spcPct val="108000"/>
                        </a:lnSpc>
                        <a:spcAft>
                          <a:spcPts val="0"/>
                        </a:spcAft>
                      </a:pPr>
                      <a:r>
                        <a:rPr sz="1000" b="0" i="0">
                          <a:solidFill>
                            <a:srgbClr val="334050"/>
                          </a:solidFill>
                          <a:latin typeface="Segoe UI"/>
                          <a:ea typeface="Segoe UI"/>
                        </a:rPr>
                        <a:t>Type-safe agents</a:t>
                      </a:r>
                    </a:p>
                  </a:txBody>
                  <a:tcPr marL="82296" marR="64008" marT="18288" marB="18288" anchor="ctr">
                    <a:solidFill>
                      <a:srgbClr val="F4F7FB"/>
                    </a:solidFill>
                  </a:tcPr>
                </a:tc>
                <a:tc>
                  <a:txBody>
                    <a:bodyPr/>
                    <a:lstStyle/>
                    <a:p>
                      <a:pPr algn="l">
                        <a:lnSpc>
                          <a:spcPct val="108000"/>
                        </a:lnSpc>
                        <a:spcAft>
                          <a:spcPts val="0"/>
                        </a:spcAft>
                      </a:pPr>
                      <a:r>
                        <a:rPr sz="1000" b="0" i="0">
                          <a:solidFill>
                            <a:srgbClr val="334050"/>
                          </a:solidFill>
                          <a:latin typeface="Segoe UI"/>
                          <a:ea typeface="Segoe UI"/>
                        </a:rPr>
                        <a:t>Pydantic-validated structured outputs and typed dependencies; works well behind FastAPI</a:t>
                      </a:r>
                    </a:p>
                  </a:txBody>
                  <a:tcPr marL="82296" marR="64008" marT="18288" marB="18288" anchor="ctr">
                    <a:solidFill>
                      <a:srgbClr val="F4F7FB"/>
                    </a:solidFill>
                  </a:tcPr>
                </a:tc>
                <a:tc>
                  <a:txBody>
                    <a:bodyPr/>
                    <a:lstStyle/>
                    <a:p>
                      <a:pPr algn="l">
                        <a:lnSpc>
                          <a:spcPct val="108000"/>
                        </a:lnSpc>
                        <a:spcAft>
                          <a:spcPts val="0"/>
                        </a:spcAft>
                      </a:pPr>
                      <a:r>
                        <a:rPr sz="1000" b="0" i="0">
                          <a:solidFill>
                            <a:srgbClr val="334050"/>
                          </a:solidFill>
                          <a:latin typeface="Segoe UI"/>
                          <a:ea typeface="Segoe UI"/>
                        </a:rPr>
                        <a:t>Teams that want schema guarantees and minimal magic</a:t>
                      </a:r>
                    </a:p>
                  </a:txBody>
                  <a:tcPr marL="82296" marR="64008" marT="18288" marB="18288" anchor="ctr">
                    <a:solidFill>
                      <a:srgbClr val="F4F7FB"/>
                    </a:solidFill>
                  </a:tcPr>
                </a:tc>
                <a:extLst>
                  <a:ext uri="{0D108BD9-81ED-4DB2-BD59-A6C34878D82A}">
                    <a16:rowId xmlns:a16="http://schemas.microsoft.com/office/drawing/2014/main" val="10006"/>
                  </a:ext>
                </a:extLst>
              </a:tr>
              <a:tr h="429768">
                <a:tc>
                  <a:txBody>
                    <a:bodyPr/>
                    <a:lstStyle/>
                    <a:p>
                      <a:pPr algn="l">
                        <a:lnSpc>
                          <a:spcPct val="108000"/>
                        </a:lnSpc>
                        <a:spcAft>
                          <a:spcPts val="0"/>
                        </a:spcAft>
                      </a:pPr>
                      <a:r>
                        <a:rPr sz="1000" b="0" i="0">
                          <a:solidFill>
                            <a:srgbClr val="334050"/>
                          </a:solidFill>
                          <a:latin typeface="Segoe UI"/>
                          <a:ea typeface="Segoe UI"/>
                        </a:rPr>
                        <a:t>Semantic Kernel</a:t>
                      </a:r>
                    </a:p>
                  </a:txBody>
                  <a:tcPr marL="82296" marR="64008" marT="18288" marB="18288" anchor="ctr">
                    <a:solidFill>
                      <a:srgbClr val="FFFFFF"/>
                    </a:solidFill>
                  </a:tcPr>
                </a:tc>
                <a:tc>
                  <a:txBody>
                    <a:bodyPr/>
                    <a:lstStyle/>
                    <a:p>
                      <a:pPr algn="l">
                        <a:lnSpc>
                          <a:spcPct val="108000"/>
                        </a:lnSpc>
                        <a:spcAft>
                          <a:spcPts val="0"/>
                        </a:spcAft>
                      </a:pPr>
                      <a:r>
                        <a:rPr sz="1000" b="0" i="0">
                          <a:solidFill>
                            <a:srgbClr val="334050"/>
                          </a:solidFill>
                          <a:latin typeface="Segoe UI"/>
                          <a:ea typeface="Segoe UI"/>
                        </a:rPr>
                        <a:t>Plugins / planner</a:t>
                      </a:r>
                    </a:p>
                  </a:txBody>
                  <a:tcPr marL="82296" marR="64008" marT="18288" marB="18288" anchor="ctr">
                    <a:solidFill>
                      <a:srgbClr val="FFFFFF"/>
                    </a:solidFill>
                  </a:tcPr>
                </a:tc>
                <a:tc>
                  <a:txBody>
                    <a:bodyPr/>
                    <a:lstStyle/>
                    <a:p>
                      <a:pPr algn="l">
                        <a:lnSpc>
                          <a:spcPct val="108000"/>
                        </a:lnSpc>
                        <a:spcAft>
                          <a:spcPts val="0"/>
                        </a:spcAft>
                      </a:pPr>
                      <a:r>
                        <a:rPr sz="1000" b="0" i="0">
                          <a:solidFill>
                            <a:srgbClr val="334050"/>
                          </a:solidFill>
                          <a:latin typeface="Segoe UI"/>
                          <a:ea typeface="Segoe UI"/>
                        </a:rPr>
                        <a:t>Skills and plugins composed by a planner; strong .NET and enterprise integration</a:t>
                      </a:r>
                    </a:p>
                  </a:txBody>
                  <a:tcPr marL="82296" marR="64008" marT="18288" marB="18288" anchor="ctr">
                    <a:solidFill>
                      <a:srgbClr val="FFFFFF"/>
                    </a:solidFill>
                  </a:tcPr>
                </a:tc>
                <a:tc>
                  <a:txBody>
                    <a:bodyPr/>
                    <a:lstStyle/>
                    <a:p>
                      <a:pPr algn="l">
                        <a:lnSpc>
                          <a:spcPct val="108000"/>
                        </a:lnSpc>
                        <a:spcAft>
                          <a:spcPts val="0"/>
                        </a:spcAft>
                      </a:pPr>
                      <a:r>
                        <a:rPr sz="1000" b="0" i="0">
                          <a:solidFill>
                            <a:srgbClr val="334050"/>
                          </a:solidFill>
                          <a:latin typeface="Segoe UI"/>
                          <a:ea typeface="Segoe UI"/>
                        </a:rPr>
                        <a:t>Enterprise stacks, especially .NET, with existing connectors</a:t>
                      </a:r>
                    </a:p>
                  </a:txBody>
                  <a:tcPr marL="82296" marR="64008" marT="18288" marB="18288" anchor="ctr">
                    <a:solidFill>
                      <a:srgbClr val="FFFFFF"/>
                    </a:solidFill>
                  </a:tcPr>
                </a:tc>
                <a:extLst>
                  <a:ext uri="{0D108BD9-81ED-4DB2-BD59-A6C34878D82A}">
                    <a16:rowId xmlns:a16="http://schemas.microsoft.com/office/drawing/2014/main" val="10007"/>
                  </a:ext>
                </a:extLst>
              </a:tr>
              <a:tr h="429768">
                <a:tc>
                  <a:txBody>
                    <a:bodyPr/>
                    <a:lstStyle/>
                    <a:p>
                      <a:pPr algn="l">
                        <a:lnSpc>
                          <a:spcPct val="108000"/>
                        </a:lnSpc>
                        <a:spcAft>
                          <a:spcPts val="0"/>
                        </a:spcAft>
                      </a:pPr>
                      <a:r>
                        <a:rPr sz="1000" b="0" i="0">
                          <a:solidFill>
                            <a:srgbClr val="334050"/>
                          </a:solidFill>
                          <a:latin typeface="Segoe UI"/>
                          <a:ea typeface="Segoe UI"/>
                        </a:rPr>
                        <a:t>DSPy</a:t>
                      </a:r>
                    </a:p>
                  </a:txBody>
                  <a:tcPr marL="82296" marR="64008" marT="18288" marB="18288" anchor="ctr">
                    <a:solidFill>
                      <a:srgbClr val="F4F7FB"/>
                    </a:solidFill>
                  </a:tcPr>
                </a:tc>
                <a:tc>
                  <a:txBody>
                    <a:bodyPr/>
                    <a:lstStyle/>
                    <a:p>
                      <a:pPr algn="l">
                        <a:lnSpc>
                          <a:spcPct val="108000"/>
                        </a:lnSpc>
                        <a:spcAft>
                          <a:spcPts val="0"/>
                        </a:spcAft>
                      </a:pPr>
                      <a:r>
                        <a:rPr sz="1000" b="0" i="0">
                          <a:solidFill>
                            <a:srgbClr val="334050"/>
                          </a:solidFill>
                          <a:latin typeface="Segoe UI"/>
                          <a:ea typeface="Segoe UI"/>
                        </a:rPr>
                        <a:t>Declarative optimization</a:t>
                      </a:r>
                    </a:p>
                  </a:txBody>
                  <a:tcPr marL="82296" marR="64008" marT="18288" marB="18288" anchor="ctr">
                    <a:solidFill>
                      <a:srgbClr val="F4F7FB"/>
                    </a:solidFill>
                  </a:tcPr>
                </a:tc>
                <a:tc>
                  <a:txBody>
                    <a:bodyPr/>
                    <a:lstStyle/>
                    <a:p>
                      <a:pPr algn="l">
                        <a:lnSpc>
                          <a:spcPct val="108000"/>
                        </a:lnSpc>
                        <a:spcAft>
                          <a:spcPts val="0"/>
                        </a:spcAft>
                      </a:pPr>
                      <a:r>
                        <a:rPr sz="1000" b="0" i="0">
                          <a:solidFill>
                            <a:srgbClr val="334050"/>
                          </a:solidFill>
                          <a:latin typeface="Segoe UI"/>
                          <a:ea typeface="Segoe UI"/>
                        </a:rPr>
                        <a:t>Declare modules and signatures, supply a metric, compile to find prompts — optimizing, not orchestrating</a:t>
                      </a:r>
                    </a:p>
                  </a:txBody>
                  <a:tcPr marL="82296" marR="64008" marT="18288" marB="18288" anchor="ctr">
                    <a:solidFill>
                      <a:srgbClr val="F4F7FB"/>
                    </a:solidFill>
                  </a:tcPr>
                </a:tc>
                <a:tc>
                  <a:txBody>
                    <a:bodyPr/>
                    <a:lstStyle/>
                    <a:p>
                      <a:pPr algn="l">
                        <a:lnSpc>
                          <a:spcPct val="108000"/>
                        </a:lnSpc>
                        <a:spcAft>
                          <a:spcPts val="0"/>
                        </a:spcAft>
                      </a:pPr>
                      <a:r>
                        <a:rPr sz="1000" b="0" i="0">
                          <a:solidFill>
                            <a:srgbClr val="334050"/>
                          </a:solidFill>
                          <a:latin typeface="Segoe UI"/>
                          <a:ea typeface="Segoe UI"/>
                        </a:rPr>
                        <a:t>Tuning prompt/few-shot quality once the flow is stable</a:t>
                      </a:r>
                    </a:p>
                  </a:txBody>
                  <a:tcPr marL="82296" marR="64008" marT="18288" marB="18288" anchor="ctr">
                    <a:solidFill>
                      <a:srgbClr val="F4F7FB"/>
                    </a:solidFill>
                  </a:tcPr>
                </a:tc>
                <a:extLst>
                  <a:ext uri="{0D108BD9-81ED-4DB2-BD59-A6C34878D82A}">
                    <a16:rowId xmlns:a16="http://schemas.microsoft.com/office/drawing/2014/main" val="10008"/>
                  </a:ext>
                </a:extLst>
              </a:tr>
            </a:tbl>
          </a:graphicData>
        </a:graphic>
      </p:graphicFrame>
      <p:sp>
        <p:nvSpPr>
          <p:cNvPr id="9" name="TextBox 8"/>
          <p:cNvSpPr txBox="1"/>
          <p:nvPr/>
        </p:nvSpPr>
        <p:spPr>
          <a:xfrm>
            <a:off x="566928" y="5989320"/>
            <a:ext cx="11057839" cy="640080"/>
          </a:xfrm>
          <a:prstGeom prst="rect">
            <a:avLst/>
          </a:prstGeom>
          <a:noFill/>
        </p:spPr>
        <p:txBody>
          <a:bodyPr wrap="square" lIns="0" tIns="0" rIns="0" bIns="0">
            <a:spAutoFit/>
          </a:bodyPr>
          <a:lstStyle/>
          <a:p>
            <a:pPr algn="l">
              <a:lnSpc>
                <a:spcPct val="118000"/>
              </a:lnSpc>
              <a:spcAft>
                <a:spcPts val="0"/>
              </a:spcAft>
            </a:pPr>
            <a:r>
              <a:rPr sz="1100" b="1" i="0">
                <a:solidFill>
                  <a:srgbClr val="1B2533"/>
                </a:solidFill>
                <a:latin typeface="Segoe UI"/>
                <a:ea typeface="Segoe UI"/>
              </a:rPr>
              <a:t>How to choose: 1) if you only need one retrieval and one LLM call, do not adopt a framework at all. 2) Branching, retries, or human approval → a graph (LangGraph). 3) Retrieval and indexing are the hard part → LlamaIndex. 4) Several distinct roles → CrewAI or AutoGen. 5) Prompt quality is the bottleneck → DSPy. 6) Whatever you pick, insist on tracing, checkpointing and replayable state.</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7724"/>
          </a:xfrm>
          <a:prstGeom prst="rect">
            <a:avLst/>
          </a:prstGeom>
          <a:solidFill>
            <a:srgbClr val="1F5CA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TextBox 2"/>
          <p:cNvSpPr txBox="1"/>
          <p:nvPr/>
        </p:nvSpPr>
        <p:spPr>
          <a:xfrm>
            <a:off x="566928" y="310896"/>
            <a:ext cx="8595360" cy="274320"/>
          </a:xfrm>
          <a:prstGeom prst="rect">
            <a:avLst/>
          </a:prstGeom>
          <a:noFill/>
        </p:spPr>
        <p:txBody>
          <a:bodyPr wrap="square" lIns="0" tIns="0" rIns="0" bIns="0">
            <a:spAutoFit/>
          </a:bodyPr>
          <a:lstStyle/>
          <a:p>
            <a:pPr algn="l">
              <a:lnSpc>
                <a:spcPct val="120000"/>
              </a:lnSpc>
              <a:spcAft>
                <a:spcPts val="0"/>
              </a:spcAft>
            </a:pPr>
            <a:r>
              <a:rPr sz="1050" b="1" i="0">
                <a:solidFill>
                  <a:srgbClr val="1F5CA8"/>
                </a:solidFill>
                <a:latin typeface="Segoe UI"/>
                <a:ea typeface="Segoe UI"/>
              </a:rPr>
              <a:t>WRAP-UP</a:t>
            </a:r>
          </a:p>
        </p:txBody>
      </p:sp>
      <p:sp>
        <p:nvSpPr>
          <p:cNvPr id="4" name="TextBox 3"/>
          <p:cNvSpPr txBox="1"/>
          <p:nvPr/>
        </p:nvSpPr>
        <p:spPr>
          <a:xfrm>
            <a:off x="10161727" y="310896"/>
            <a:ext cx="1463040" cy="274320"/>
          </a:xfrm>
          <a:prstGeom prst="rect">
            <a:avLst/>
          </a:prstGeom>
          <a:noFill/>
        </p:spPr>
        <p:txBody>
          <a:bodyPr wrap="square" lIns="0" tIns="0" rIns="0" bIns="0">
            <a:spAutoFit/>
          </a:bodyPr>
          <a:lstStyle/>
          <a:p>
            <a:pPr algn="r">
              <a:lnSpc>
                <a:spcPct val="120000"/>
              </a:lnSpc>
              <a:spcAft>
                <a:spcPts val="0"/>
              </a:spcAft>
            </a:pPr>
            <a:r>
              <a:rPr sz="1050" b="0" i="0">
                <a:solidFill>
                  <a:srgbClr val="7A8696"/>
                </a:solidFill>
                <a:latin typeface="Segoe UI"/>
                <a:ea typeface="Segoe UI"/>
              </a:rPr>
              <a:t>29</a:t>
            </a:r>
          </a:p>
        </p:txBody>
      </p:sp>
      <p:sp>
        <p:nvSpPr>
          <p:cNvPr id="5" name="TextBox 4"/>
          <p:cNvSpPr txBox="1"/>
          <p:nvPr/>
        </p:nvSpPr>
        <p:spPr>
          <a:xfrm>
            <a:off x="566928" y="658368"/>
            <a:ext cx="11057839" cy="658368"/>
          </a:xfrm>
          <a:prstGeom prst="rect">
            <a:avLst/>
          </a:prstGeom>
          <a:noFill/>
        </p:spPr>
        <p:txBody>
          <a:bodyPr wrap="square" lIns="0" tIns="0" rIns="0" bIns="0">
            <a:spAutoFit/>
          </a:bodyPr>
          <a:lstStyle/>
          <a:p>
            <a:pPr algn="l">
              <a:lnSpc>
                <a:spcPct val="120000"/>
              </a:lnSpc>
              <a:spcAft>
                <a:spcPts val="0"/>
              </a:spcAft>
            </a:pPr>
            <a:r>
              <a:rPr sz="2700" b="1" i="0">
                <a:solidFill>
                  <a:srgbClr val="1B2533"/>
                </a:solidFill>
                <a:latin typeface="Segoe UI"/>
                <a:ea typeface="Segoe UI"/>
              </a:rPr>
              <a:t>Summary and how to apply this</a:t>
            </a:r>
          </a:p>
        </p:txBody>
      </p:sp>
      <p:sp>
        <p:nvSpPr>
          <p:cNvPr id="6" name="Rectangle 5"/>
          <p:cNvSpPr/>
          <p:nvPr/>
        </p:nvSpPr>
        <p:spPr>
          <a:xfrm>
            <a:off x="566928" y="1371600"/>
            <a:ext cx="1051560" cy="50292"/>
          </a:xfrm>
          <a:prstGeom prst="rect">
            <a:avLst/>
          </a:prstGeom>
          <a:solidFill>
            <a:srgbClr val="1F5CA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 name="TextBox 6"/>
          <p:cNvSpPr txBox="1"/>
          <p:nvPr/>
        </p:nvSpPr>
        <p:spPr>
          <a:xfrm>
            <a:off x="566928" y="1517904"/>
            <a:ext cx="11057839" cy="329184"/>
          </a:xfrm>
          <a:prstGeom prst="rect">
            <a:avLst/>
          </a:prstGeom>
          <a:noFill/>
        </p:spPr>
        <p:txBody>
          <a:bodyPr wrap="square" lIns="0" tIns="0" rIns="0" bIns="0">
            <a:spAutoFit/>
          </a:bodyPr>
          <a:lstStyle/>
          <a:p>
            <a:pPr algn="l">
              <a:lnSpc>
                <a:spcPct val="120000"/>
              </a:lnSpc>
              <a:spcAft>
                <a:spcPts val="0"/>
              </a:spcAft>
            </a:pPr>
            <a:r>
              <a:rPr sz="1300" b="0" i="0">
                <a:solidFill>
                  <a:srgbClr val="7A8696"/>
                </a:solidFill>
                <a:latin typeface="Segoe UI"/>
                <a:ea typeface="Segoe UI"/>
              </a:rPr>
              <a:t>From swapping models to adding feedback loops</a:t>
            </a:r>
          </a:p>
        </p:txBody>
      </p:sp>
      <p:sp>
        <p:nvSpPr>
          <p:cNvPr id="8" name="Rounded Rectangle 7"/>
          <p:cNvSpPr/>
          <p:nvPr/>
        </p:nvSpPr>
        <p:spPr>
          <a:xfrm>
            <a:off x="566928" y="1938528"/>
            <a:ext cx="5852160" cy="2395728"/>
          </a:xfrm>
          <a:prstGeom prst="roundRect">
            <a:avLst>
              <a:gd name="adj" fmla="val 3000"/>
            </a:avLst>
          </a:prstGeom>
          <a:noFill/>
          <a:ln w="12700">
            <a:solidFill>
              <a:srgbClr val="D8DEE6"/>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TextBox 8"/>
          <p:cNvSpPr txBox="1"/>
          <p:nvPr/>
        </p:nvSpPr>
        <p:spPr>
          <a:xfrm>
            <a:off x="804672" y="2103120"/>
            <a:ext cx="5394960" cy="2267712"/>
          </a:xfrm>
          <a:prstGeom prst="rect">
            <a:avLst/>
          </a:prstGeom>
          <a:noFill/>
        </p:spPr>
        <p:txBody>
          <a:bodyPr wrap="square" lIns="0" tIns="0" rIns="0" bIns="0">
            <a:spAutoFit/>
          </a:bodyPr>
          <a:lstStyle/>
          <a:p>
            <a:pPr algn="l">
              <a:lnSpc>
                <a:spcPct val="120000"/>
              </a:lnSpc>
              <a:spcAft>
                <a:spcPts val="800"/>
              </a:spcAft>
            </a:pPr>
            <a:r>
              <a:rPr sz="1400" b="1" i="0">
                <a:solidFill>
                  <a:srgbClr val="1F5CA8"/>
                </a:solidFill>
                <a:latin typeface="Segoe UI"/>
                <a:ea typeface="Segoe UI"/>
              </a:rPr>
              <a:t>Part 1 in one sentence</a:t>
            </a:r>
          </a:p>
          <a:p>
            <a:pPr algn="l">
              <a:lnSpc>
                <a:spcPct val="115000"/>
              </a:lnSpc>
              <a:spcAft>
                <a:spcPts val="700"/>
              </a:spcAft>
            </a:pPr>
            <a:r>
              <a:rPr sz="1250" b="0" i="0">
                <a:solidFill>
                  <a:srgbClr val="334050"/>
                </a:solidFill>
                <a:latin typeface="Segoe UI"/>
                <a:ea typeface="Segoe UI"/>
              </a:rPr>
              <a:t>▪  BERT brought bidirectional understanding but had no sentence-level objective, so SBERT added Siamese networks and contrastive learning</a:t>
            </a:r>
          </a:p>
          <a:p>
            <a:pPr algn="l">
              <a:lnSpc>
                <a:spcPct val="115000"/>
              </a:lnSpc>
              <a:spcAft>
                <a:spcPts val="700"/>
              </a:spcAft>
            </a:pPr>
            <a:r>
              <a:rPr sz="1250" b="0" i="0">
                <a:solidFill>
                  <a:srgbClr val="334050"/>
                </a:solidFill>
                <a:latin typeface="Segoe UI"/>
                <a:ea typeface="Segoe UI"/>
              </a:rPr>
              <a:t>▪  MTEB made models comparable, BGE made Chinese practical, and the decoder-only route (NV-Embed, Qwen3) turned LLMs into retrievers directly</a:t>
            </a:r>
          </a:p>
          <a:p>
            <a:pPr algn="l">
              <a:lnSpc>
                <a:spcPct val="115000"/>
              </a:lnSpc>
              <a:spcAft>
                <a:spcPts val="700"/>
              </a:spcAft>
            </a:pPr>
            <a:r>
              <a:rPr sz="1250" b="0" i="0">
                <a:solidFill>
                  <a:srgbClr val="334050"/>
                </a:solidFill>
                <a:latin typeface="Segoe UI"/>
                <a:ea typeface="Segoe UI"/>
              </a:rPr>
              <a:t>▪  Selection order: shortlist from benchmarks, run a small eval on your own data, then weigh dimension, latency and cost</a:t>
            </a:r>
          </a:p>
        </p:txBody>
      </p:sp>
      <p:sp>
        <p:nvSpPr>
          <p:cNvPr id="10" name="Rounded Rectangle 9"/>
          <p:cNvSpPr/>
          <p:nvPr/>
        </p:nvSpPr>
        <p:spPr>
          <a:xfrm>
            <a:off x="6784848" y="1938528"/>
            <a:ext cx="4839919" cy="2395728"/>
          </a:xfrm>
          <a:prstGeom prst="roundRect">
            <a:avLst>
              <a:gd name="adj" fmla="val 3000"/>
            </a:avLst>
          </a:prstGeom>
          <a:noFill/>
          <a:ln w="12700">
            <a:solidFill>
              <a:srgbClr val="D8DEE6"/>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 name="TextBox 10"/>
          <p:cNvSpPr txBox="1"/>
          <p:nvPr/>
        </p:nvSpPr>
        <p:spPr>
          <a:xfrm>
            <a:off x="7022592" y="2103120"/>
            <a:ext cx="4602175" cy="2267712"/>
          </a:xfrm>
          <a:prstGeom prst="rect">
            <a:avLst/>
          </a:prstGeom>
          <a:noFill/>
        </p:spPr>
        <p:txBody>
          <a:bodyPr wrap="square" lIns="0" tIns="0" rIns="0" bIns="0">
            <a:spAutoFit/>
          </a:bodyPr>
          <a:lstStyle/>
          <a:p>
            <a:pPr algn="l">
              <a:lnSpc>
                <a:spcPct val="120000"/>
              </a:lnSpc>
              <a:spcAft>
                <a:spcPts val="800"/>
              </a:spcAft>
            </a:pPr>
            <a:r>
              <a:rPr sz="1400" b="1" i="0">
                <a:solidFill>
                  <a:srgbClr val="C0502A"/>
                </a:solidFill>
                <a:latin typeface="Segoe UI"/>
                <a:ea typeface="Segoe UI"/>
              </a:rPr>
              <a:t>Part 2 in one sentence</a:t>
            </a:r>
          </a:p>
          <a:p>
            <a:pPr algn="l">
              <a:lnSpc>
                <a:spcPct val="115000"/>
              </a:lnSpc>
              <a:spcAft>
                <a:spcPts val="700"/>
              </a:spcAft>
            </a:pPr>
            <a:r>
              <a:rPr sz="1250" b="0" i="0">
                <a:solidFill>
                  <a:srgbClr val="334050"/>
                </a:solidFill>
                <a:latin typeface="Segoe UI"/>
                <a:ea typeface="Segoe UI"/>
              </a:rPr>
              <a:t>▪  Native RAG's bottleneck is the absence of feedback: fixed splitting, single-path retrieval, and hallucination when recall is wrong</a:t>
            </a:r>
          </a:p>
          <a:p>
            <a:pPr algn="l">
              <a:lnSpc>
                <a:spcPct val="115000"/>
              </a:lnSpc>
              <a:spcAft>
                <a:spcPts val="700"/>
              </a:spcAft>
            </a:pPr>
            <a:r>
              <a:rPr sz="1250" b="0" i="0">
                <a:solidFill>
                  <a:srgbClr val="334050"/>
                </a:solidFill>
                <a:latin typeface="Segoe UI"/>
                <a:ea typeface="Segoe UI"/>
              </a:rPr>
              <a:t>▪  Agentic RAG adds decisions and corrections along the pipeline: fix the question, fix the evidence, fix the answer, or change the flow</a:t>
            </a:r>
          </a:p>
          <a:p>
            <a:pPr algn="l">
              <a:lnSpc>
                <a:spcPct val="115000"/>
              </a:lnSpc>
              <a:spcAft>
                <a:spcPts val="700"/>
              </a:spcAft>
            </a:pPr>
            <a:r>
              <a:rPr sz="1250" b="0" i="0">
                <a:solidFill>
                  <a:srgbClr val="334050"/>
                </a:solidFill>
                <a:latin typeface="Segoe UI"/>
                <a:ea typeface="Segoe UI"/>
              </a:rPr>
              <a:t>▪  More techniques is not better — measure where the bottleneck is, then treat that stage</a:t>
            </a:r>
          </a:p>
        </p:txBody>
      </p:sp>
      <p:sp>
        <p:nvSpPr>
          <p:cNvPr id="12" name="Rounded Rectangle 11"/>
          <p:cNvSpPr/>
          <p:nvPr/>
        </p:nvSpPr>
        <p:spPr>
          <a:xfrm>
            <a:off x="566928" y="4453128"/>
            <a:ext cx="11057839" cy="1627632"/>
          </a:xfrm>
          <a:prstGeom prst="roundRect">
            <a:avLst>
              <a:gd name="adj" fmla="val 3000"/>
            </a:avLst>
          </a:prstGeom>
          <a:solidFill>
            <a:srgbClr val="F7F9FC"/>
          </a:solidFill>
          <a:ln w="12700">
            <a:solidFill>
              <a:srgbClr val="BBC7D6"/>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3" name="TextBox 12"/>
          <p:cNvSpPr txBox="1"/>
          <p:nvPr/>
        </p:nvSpPr>
        <p:spPr>
          <a:xfrm>
            <a:off x="804672" y="4626864"/>
            <a:ext cx="10582351" cy="1325880"/>
          </a:xfrm>
          <a:prstGeom prst="rect">
            <a:avLst/>
          </a:prstGeom>
          <a:noFill/>
        </p:spPr>
        <p:txBody>
          <a:bodyPr wrap="square" lIns="0" tIns="0" rIns="0" bIns="0">
            <a:spAutoFit/>
          </a:bodyPr>
          <a:lstStyle/>
          <a:p>
            <a:pPr algn="l">
              <a:lnSpc>
                <a:spcPct val="120000"/>
              </a:lnSpc>
              <a:spcAft>
                <a:spcPts val="600"/>
              </a:spcAft>
            </a:pPr>
            <a:r>
              <a:rPr sz="1300" b="1" i="0">
                <a:solidFill>
                  <a:srgbClr val="1F5CA8"/>
                </a:solidFill>
                <a:latin typeface="Segoe UI"/>
                <a:ea typeface="Segoe UI"/>
              </a:rPr>
              <a:t>Q&amp;A / discussion placeholder</a:t>
            </a:r>
          </a:p>
          <a:p>
            <a:pPr algn="l">
              <a:lnSpc>
                <a:spcPct val="120000"/>
              </a:lnSpc>
              <a:spcAft>
                <a:spcPts val="300"/>
              </a:spcAft>
            </a:pPr>
            <a:r>
              <a:rPr sz="1150" b="0" i="0">
                <a:solidFill>
                  <a:srgbClr val="334050"/>
                </a:solidFill>
                <a:latin typeface="Segoe UI"/>
                <a:ea typeface="Segoe UI"/>
              </a:rPr>
              <a:t>· Which technique should we try first in our own use case, and why?</a:t>
            </a:r>
          </a:p>
          <a:p>
            <a:pPr algn="l">
              <a:lnSpc>
                <a:spcPct val="120000"/>
              </a:lnSpc>
              <a:spcAft>
                <a:spcPts val="300"/>
              </a:spcAft>
            </a:pPr>
            <a:r>
              <a:rPr sz="1150" b="0" i="0">
                <a:solidFill>
                  <a:srgbClr val="334050"/>
                </a:solidFill>
                <a:latin typeface="Segoe UI"/>
                <a:ea typeface="Segoe UI"/>
              </a:rPr>
              <a:t>· If you could only pick one: a better embedding model, or a reranker? Why?</a:t>
            </a:r>
          </a:p>
          <a:p>
            <a:pPr algn="l">
              <a:lnSpc>
                <a:spcPct val="120000"/>
              </a:lnSpc>
              <a:spcAft>
                <a:spcPts val="0"/>
              </a:spcAft>
            </a:pPr>
            <a:r>
              <a:rPr sz="1150" b="0" i="0">
                <a:solidFill>
                  <a:srgbClr val="334050"/>
                </a:solidFill>
                <a:latin typeface="Segoe UI"/>
                <a:ea typeface="Segoe UI"/>
              </a:rPr>
              <a:t>· Discussion: is GraphRAG's indexing cost acceptable at our data volume?</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22242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TextBox 2"/>
          <p:cNvSpPr txBox="1"/>
          <p:nvPr/>
        </p:nvSpPr>
        <p:spPr>
          <a:xfrm>
            <a:off x="749808" y="2834640"/>
            <a:ext cx="11057839" cy="1188720"/>
          </a:xfrm>
          <a:prstGeom prst="rect">
            <a:avLst/>
          </a:prstGeom>
          <a:noFill/>
        </p:spPr>
        <p:txBody>
          <a:bodyPr wrap="square" lIns="0" tIns="0" rIns="0" bIns="0">
            <a:spAutoFit/>
          </a:bodyPr>
          <a:lstStyle/>
          <a:p>
            <a:pPr algn="l">
              <a:lnSpc>
                <a:spcPct val="120000"/>
              </a:lnSpc>
              <a:spcAft>
                <a:spcPts val="800"/>
              </a:spcAft>
            </a:pPr>
            <a:r>
              <a:rPr sz="1500" b="1" i="0">
                <a:solidFill>
                  <a:srgbClr val="9AA4B2"/>
                </a:solidFill>
                <a:latin typeface="Segoe UI"/>
                <a:ea typeface="Segoe UI"/>
              </a:rPr>
              <a:t>BACKUP</a:t>
            </a:r>
          </a:p>
          <a:p>
            <a:pPr algn="l">
              <a:lnSpc>
                <a:spcPct val="120000"/>
              </a:lnSpc>
              <a:spcAft>
                <a:spcPts val="800"/>
              </a:spcAft>
            </a:pPr>
            <a:r>
              <a:rPr sz="3600" b="1" i="0">
                <a:solidFill>
                  <a:srgbClr val="FFFFFF"/>
                </a:solidFill>
                <a:latin typeface="Segoe UI"/>
                <a:ea typeface="Segoe UI"/>
              </a:rPr>
              <a:t>Backup: FLARE and SELF-RAG</a:t>
            </a:r>
          </a:p>
          <a:p>
            <a:pPr algn="l">
              <a:lnSpc>
                <a:spcPct val="120000"/>
              </a:lnSpc>
              <a:spcAft>
                <a:spcPts val="0"/>
              </a:spcAft>
            </a:pPr>
            <a:r>
              <a:rPr sz="1300" b="0" i="0">
                <a:solidFill>
                  <a:srgbClr val="B8BEC8"/>
                </a:solidFill>
                <a:latin typeface="Segoe UI"/>
                <a:ea typeface="Segoe UI"/>
              </a:rPr>
              <a:t>Use these if we have time left, or if someone asks how retrieval timing is decided</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7724"/>
          </a:xfrm>
          <a:prstGeom prst="rect">
            <a:avLst/>
          </a:prstGeom>
          <a:solidFill>
            <a:srgbClr val="1F5CA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TextBox 2"/>
          <p:cNvSpPr txBox="1"/>
          <p:nvPr/>
        </p:nvSpPr>
        <p:spPr>
          <a:xfrm>
            <a:off x="566928" y="310896"/>
            <a:ext cx="8595360" cy="274320"/>
          </a:xfrm>
          <a:prstGeom prst="rect">
            <a:avLst/>
          </a:prstGeom>
          <a:noFill/>
        </p:spPr>
        <p:txBody>
          <a:bodyPr wrap="square" lIns="0" tIns="0" rIns="0" bIns="0">
            <a:spAutoFit/>
          </a:bodyPr>
          <a:lstStyle/>
          <a:p>
            <a:pPr algn="l">
              <a:lnSpc>
                <a:spcPct val="120000"/>
              </a:lnSpc>
              <a:spcAft>
                <a:spcPts val="0"/>
              </a:spcAft>
            </a:pPr>
            <a:r>
              <a:rPr sz="1050" b="1" i="0">
                <a:solidFill>
                  <a:srgbClr val="1F5CA8"/>
                </a:solidFill>
                <a:latin typeface="Segoe UI"/>
                <a:ea typeface="Segoe UI"/>
              </a:rPr>
              <a:t>BACKUP</a:t>
            </a:r>
          </a:p>
        </p:txBody>
      </p:sp>
      <p:sp>
        <p:nvSpPr>
          <p:cNvPr id="4" name="TextBox 3"/>
          <p:cNvSpPr txBox="1"/>
          <p:nvPr/>
        </p:nvSpPr>
        <p:spPr>
          <a:xfrm>
            <a:off x="10161727" y="310896"/>
            <a:ext cx="1463040" cy="274320"/>
          </a:xfrm>
          <a:prstGeom prst="rect">
            <a:avLst/>
          </a:prstGeom>
          <a:noFill/>
        </p:spPr>
        <p:txBody>
          <a:bodyPr wrap="square" lIns="0" tIns="0" rIns="0" bIns="0">
            <a:spAutoFit/>
          </a:bodyPr>
          <a:lstStyle/>
          <a:p>
            <a:pPr algn="r">
              <a:lnSpc>
                <a:spcPct val="120000"/>
              </a:lnSpc>
              <a:spcAft>
                <a:spcPts val="0"/>
              </a:spcAft>
            </a:pPr>
            <a:r>
              <a:rPr sz="1050" b="0" i="0">
                <a:solidFill>
                  <a:srgbClr val="7A8696"/>
                </a:solidFill>
                <a:latin typeface="Segoe UI"/>
                <a:ea typeface="Segoe UI"/>
              </a:rPr>
              <a:t>31</a:t>
            </a:r>
          </a:p>
        </p:txBody>
      </p:sp>
      <p:sp>
        <p:nvSpPr>
          <p:cNvPr id="5" name="TextBox 4"/>
          <p:cNvSpPr txBox="1"/>
          <p:nvPr/>
        </p:nvSpPr>
        <p:spPr>
          <a:xfrm>
            <a:off x="566928" y="658368"/>
            <a:ext cx="11057839" cy="658368"/>
          </a:xfrm>
          <a:prstGeom prst="rect">
            <a:avLst/>
          </a:prstGeom>
          <a:noFill/>
        </p:spPr>
        <p:txBody>
          <a:bodyPr wrap="square" lIns="0" tIns="0" rIns="0" bIns="0">
            <a:spAutoFit/>
          </a:bodyPr>
          <a:lstStyle/>
          <a:p>
            <a:pPr algn="l">
              <a:lnSpc>
                <a:spcPct val="120000"/>
              </a:lnSpc>
              <a:spcAft>
                <a:spcPts val="0"/>
              </a:spcAft>
            </a:pPr>
            <a:r>
              <a:rPr sz="2700" b="1" i="0">
                <a:solidFill>
                  <a:srgbClr val="1B2533"/>
                </a:solidFill>
                <a:latin typeface="Segoe UI"/>
                <a:ea typeface="Segoe UI"/>
              </a:rPr>
              <a:t>FLARE: let the LLM's own confidence trigger retrieval</a:t>
            </a:r>
          </a:p>
        </p:txBody>
      </p:sp>
      <p:sp>
        <p:nvSpPr>
          <p:cNvPr id="6" name="Rectangle 5"/>
          <p:cNvSpPr/>
          <p:nvPr/>
        </p:nvSpPr>
        <p:spPr>
          <a:xfrm>
            <a:off x="566928" y="1371600"/>
            <a:ext cx="1051560" cy="50292"/>
          </a:xfrm>
          <a:prstGeom prst="rect">
            <a:avLst/>
          </a:prstGeom>
          <a:solidFill>
            <a:srgbClr val="1F5CA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 name="TextBox 6"/>
          <p:cNvSpPr txBox="1"/>
          <p:nvPr/>
        </p:nvSpPr>
        <p:spPr>
          <a:xfrm>
            <a:off x="566928" y="1517904"/>
            <a:ext cx="11057839" cy="329184"/>
          </a:xfrm>
          <a:prstGeom prst="rect">
            <a:avLst/>
          </a:prstGeom>
          <a:noFill/>
        </p:spPr>
        <p:txBody>
          <a:bodyPr wrap="square" lIns="0" tIns="0" rIns="0" bIns="0">
            <a:spAutoFit/>
          </a:bodyPr>
          <a:lstStyle/>
          <a:p>
            <a:pPr algn="l">
              <a:lnSpc>
                <a:spcPct val="120000"/>
              </a:lnSpc>
              <a:spcAft>
                <a:spcPts val="0"/>
              </a:spcAft>
            </a:pPr>
            <a:r>
              <a:rPr sz="1300" b="0" i="0">
                <a:solidFill>
                  <a:srgbClr val="7A8696"/>
                </a:solidFill>
                <a:latin typeface="Segoe UI"/>
                <a:ea typeface="Segoe UI"/>
              </a:rPr>
              <a:t>Forward-Looking Active REtrieval</a:t>
            </a:r>
          </a:p>
        </p:txBody>
      </p:sp>
      <p:sp>
        <p:nvSpPr>
          <p:cNvPr id="8" name="Rounded Rectangle 7"/>
          <p:cNvSpPr/>
          <p:nvPr/>
        </p:nvSpPr>
        <p:spPr>
          <a:xfrm>
            <a:off x="566928" y="1938528"/>
            <a:ext cx="5760720" cy="2148840"/>
          </a:xfrm>
          <a:prstGeom prst="roundRect">
            <a:avLst>
              <a:gd name="adj" fmla="val 3000"/>
            </a:avLst>
          </a:prstGeom>
          <a:noFill/>
          <a:ln w="12700">
            <a:solidFill>
              <a:srgbClr val="D8DEE6"/>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TextBox 8"/>
          <p:cNvSpPr txBox="1"/>
          <p:nvPr/>
        </p:nvSpPr>
        <p:spPr>
          <a:xfrm>
            <a:off x="804672" y="2121408"/>
            <a:ext cx="5303520" cy="1828800"/>
          </a:xfrm>
          <a:prstGeom prst="rect">
            <a:avLst/>
          </a:prstGeom>
          <a:noFill/>
        </p:spPr>
        <p:txBody>
          <a:bodyPr wrap="square" lIns="0" tIns="0" rIns="0" bIns="0">
            <a:spAutoFit/>
          </a:bodyPr>
          <a:lstStyle/>
          <a:p>
            <a:pPr algn="l">
              <a:lnSpc>
                <a:spcPct val="120000"/>
              </a:lnSpc>
              <a:spcAft>
                <a:spcPts val="800"/>
              </a:spcAft>
            </a:pPr>
            <a:r>
              <a:rPr sz="1400" b="1" i="0">
                <a:solidFill>
                  <a:srgbClr val="1F5CA8"/>
                </a:solidFill>
                <a:latin typeface="Segoe UI"/>
                <a:ea typeface="Segoe UI"/>
              </a:rPr>
              <a:t>Core idea</a:t>
            </a:r>
          </a:p>
          <a:p>
            <a:pPr algn="l">
              <a:lnSpc>
                <a:spcPct val="115000"/>
              </a:lnSpc>
              <a:spcAft>
                <a:spcPts val="700"/>
              </a:spcAft>
            </a:pPr>
            <a:r>
              <a:rPr sz="1250" b="0" i="0">
                <a:solidFill>
                  <a:srgbClr val="334050"/>
                </a:solidFill>
                <a:latin typeface="Segoe UI"/>
                <a:ea typeface="Segoe UI"/>
              </a:rPr>
              <a:t>▪  Instead of generating a full answer and checking afterwards, generate and judge as you go</a:t>
            </a:r>
          </a:p>
          <a:p>
            <a:pPr algn="l">
              <a:lnSpc>
                <a:spcPct val="115000"/>
              </a:lnSpc>
              <a:spcAft>
                <a:spcPts val="700"/>
              </a:spcAft>
            </a:pPr>
            <a:r>
              <a:rPr sz="1250" b="0" i="0">
                <a:solidFill>
                  <a:srgbClr val="334050"/>
                </a:solidFill>
                <a:latin typeface="Segoe UI"/>
                <a:ea typeface="Segoe UI"/>
              </a:rPr>
              <a:t>▪  When the model is unsure about what comes next (low confidence), it triggers a retrieval</a:t>
            </a:r>
          </a:p>
          <a:p>
            <a:pPr algn="l">
              <a:lnSpc>
                <a:spcPct val="115000"/>
              </a:lnSpc>
              <a:spcAft>
                <a:spcPts val="700"/>
              </a:spcAft>
            </a:pPr>
            <a:r>
              <a:rPr sz="1250" b="0" i="0">
                <a:solidFill>
                  <a:srgbClr val="334050"/>
                </a:solidFill>
                <a:latin typeface="Segoe UI"/>
                <a:ea typeface="Segoe UI"/>
              </a:rPr>
              <a:t>▪  Generation then resumes with the new evidence — timing is driven by model uncertainty rather than a fixed pipeline</a:t>
            </a:r>
          </a:p>
        </p:txBody>
      </p:sp>
      <p:sp>
        <p:nvSpPr>
          <p:cNvPr id="10" name="Rounded Rectangle 9"/>
          <p:cNvSpPr/>
          <p:nvPr/>
        </p:nvSpPr>
        <p:spPr>
          <a:xfrm>
            <a:off x="566928" y="4206240"/>
            <a:ext cx="5760720" cy="1691640"/>
          </a:xfrm>
          <a:prstGeom prst="roundRect">
            <a:avLst>
              <a:gd name="adj" fmla="val 3000"/>
            </a:avLst>
          </a:prstGeom>
          <a:solidFill>
            <a:srgbClr val="F7F9FC"/>
          </a:solidFill>
          <a:ln w="12700">
            <a:solidFill>
              <a:srgbClr val="BBC7D6"/>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 name="TextBox 10"/>
          <p:cNvSpPr txBox="1"/>
          <p:nvPr/>
        </p:nvSpPr>
        <p:spPr>
          <a:xfrm>
            <a:off x="786384" y="4370832"/>
            <a:ext cx="5303520" cy="1371600"/>
          </a:xfrm>
          <a:prstGeom prst="rect">
            <a:avLst/>
          </a:prstGeom>
          <a:noFill/>
        </p:spPr>
        <p:txBody>
          <a:bodyPr wrap="square" lIns="0" tIns="0" rIns="0" bIns="0">
            <a:spAutoFit/>
          </a:bodyPr>
          <a:lstStyle/>
          <a:p>
            <a:pPr algn="l">
              <a:lnSpc>
                <a:spcPct val="120000"/>
              </a:lnSpc>
              <a:spcAft>
                <a:spcPts val="600"/>
              </a:spcAft>
            </a:pPr>
            <a:r>
              <a:rPr sz="1300" b="1" i="0">
                <a:solidFill>
                  <a:srgbClr val="1F5CA8"/>
                </a:solidFill>
                <a:latin typeface="Segoe UI"/>
                <a:ea typeface="Segoe UI"/>
              </a:rPr>
              <a:t>Two ways to trigger</a:t>
            </a:r>
          </a:p>
          <a:p>
            <a:pPr algn="l">
              <a:lnSpc>
                <a:spcPct val="118000"/>
              </a:lnSpc>
              <a:spcAft>
                <a:spcPts val="500"/>
              </a:spcAft>
            </a:pPr>
            <a:r>
              <a:rPr sz="1150" b="1" i="0">
                <a:solidFill>
                  <a:srgbClr val="1B2533"/>
                </a:solidFill>
                <a:latin typeface="Segoe UI"/>
                <a:ea typeface="Segoe UI"/>
              </a:rPr>
              <a:t>Direct: </a:t>
            </a:r>
            <a:r>
              <a:rPr sz="1150" b="0" i="0">
                <a:solidFill>
                  <a:srgbClr val="334050"/>
                </a:solidFill>
                <a:latin typeface="Segoe UI"/>
                <a:ea typeface="Segoe UI"/>
              </a:rPr>
              <a:t>before generating the next sentence, look at its confidence score (probability). If it is low, search with that sentence itself as the query.</a:t>
            </a:r>
          </a:p>
          <a:p>
            <a:pPr algn="l">
              <a:lnSpc>
                <a:spcPct val="118000"/>
              </a:lnSpc>
              <a:spcAft>
                <a:spcPts val="0"/>
              </a:spcAft>
            </a:pPr>
            <a:r>
              <a:rPr sz="1150" b="1" i="0">
                <a:solidFill>
                  <a:srgbClr val="1B2533"/>
                </a:solidFill>
                <a:latin typeface="Segoe UI"/>
                <a:ea typeface="Segoe UI"/>
              </a:rPr>
              <a:t>Instruct: </a:t>
            </a:r>
            <a:r>
              <a:rPr sz="1150" b="0" i="0">
                <a:solidFill>
                  <a:srgbClr val="334050"/>
                </a:solidFill>
                <a:latin typeface="Segoe UI"/>
                <a:ea typeface="Segoe UI"/>
              </a:rPr>
              <a:t>use the sentences generated so far to have a separate LLM produce a search query, retrieve with it, and merge the results back before continuing.</a:t>
            </a:r>
          </a:p>
        </p:txBody>
      </p:sp>
      <p:sp>
        <p:nvSpPr>
          <p:cNvPr id="12" name="Rounded Rectangle 11"/>
          <p:cNvSpPr/>
          <p:nvPr/>
        </p:nvSpPr>
        <p:spPr>
          <a:xfrm>
            <a:off x="6693408" y="1938528"/>
            <a:ext cx="4931359" cy="4754880"/>
          </a:xfrm>
          <a:prstGeom prst="roundRect">
            <a:avLst>
              <a:gd name="adj" fmla="val 3000"/>
            </a:avLst>
          </a:prstGeom>
          <a:solidFill>
            <a:srgbClr val="F7F9FC"/>
          </a:solidFill>
          <a:ln w="12700">
            <a:solidFill>
              <a:srgbClr val="BBC7D6"/>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3" name="TextBox 12"/>
          <p:cNvSpPr txBox="1"/>
          <p:nvPr/>
        </p:nvSpPr>
        <p:spPr>
          <a:xfrm>
            <a:off x="6894576" y="2103120"/>
            <a:ext cx="4529023" cy="4425696"/>
          </a:xfrm>
          <a:prstGeom prst="rect">
            <a:avLst/>
          </a:prstGeom>
          <a:noFill/>
        </p:spPr>
        <p:txBody>
          <a:bodyPr wrap="square" lIns="0" tIns="0" rIns="0" bIns="0">
            <a:spAutoFit/>
          </a:bodyPr>
          <a:lstStyle/>
          <a:p>
            <a:pPr algn="l">
              <a:lnSpc>
                <a:spcPct val="120000"/>
              </a:lnSpc>
              <a:spcAft>
                <a:spcPts val="400"/>
              </a:spcAft>
            </a:pPr>
            <a:r>
              <a:rPr sz="1300" b="1" i="0">
                <a:solidFill>
                  <a:srgbClr val="1F5CA8"/>
                </a:solidFill>
                <a:latin typeface="Segoe UI"/>
                <a:ea typeface="Segoe UI"/>
              </a:rPr>
              <a:t>Placeholder: interleaved generate-retrieve flow</a:t>
            </a:r>
          </a:p>
          <a:p>
            <a:pPr algn="l">
              <a:lnSpc>
                <a:spcPct val="120000"/>
              </a:lnSpc>
              <a:spcAft>
                <a:spcPts val="0"/>
              </a:spcAft>
            </a:pPr>
            <a:r>
              <a:rPr sz="1150" b="0" i="0">
                <a:solidFill>
                  <a:srgbClr val="7A8696"/>
                </a:solidFill>
                <a:latin typeface="Segoe UI"/>
                <a:ea typeface="Segoe UI"/>
              </a:rPr>
              <a:t>Suggested: generate ... → low confidence → build query → retrieve → merge context → continue generating; show the Direct and Instruct branches</a:t>
            </a:r>
          </a:p>
          <a:p>
            <a:pPr algn="l">
              <a:lnSpc>
                <a:spcPct val="120000"/>
              </a:lnSpc>
              <a:spcAft>
                <a:spcPts val="200"/>
              </a:spcAft>
            </a:pPr>
            <a:r>
              <a:rPr sz="1150" b="0" i="0">
                <a:solidFill>
                  <a:srgbClr val="BBC7D6"/>
                </a:solidFill>
                <a:latin typeface="Segoe UI"/>
                <a:ea typeface="Segoe UI"/>
              </a:rPr>
              <a:t>· </a:t>
            </a:r>
          </a:p>
          <a:p>
            <a:pPr algn="l">
              <a:lnSpc>
                <a:spcPct val="120000"/>
              </a:lnSpc>
              <a:spcAft>
                <a:spcPts val="200"/>
              </a:spcAft>
            </a:pPr>
            <a:r>
              <a:rPr sz="1150" b="0" i="0">
                <a:solidFill>
                  <a:srgbClr val="BBC7D6"/>
                </a:solidFill>
                <a:latin typeface="Segoe UI"/>
                <a:ea typeface="Segoe UI"/>
              </a:rPr>
              <a:t>· </a:t>
            </a:r>
          </a:p>
          <a:p>
            <a:pPr algn="l">
              <a:lnSpc>
                <a:spcPct val="120000"/>
              </a:lnSpc>
              <a:spcAft>
                <a:spcPts val="200"/>
              </a:spcAft>
            </a:pPr>
            <a:r>
              <a:rPr sz="1150" b="0" i="0">
                <a:solidFill>
                  <a:srgbClr val="BBC7D6"/>
                </a:solidFill>
                <a:latin typeface="Segoe UI"/>
                <a:ea typeface="Segoe UI"/>
              </a:rPr>
              <a:t>· </a:t>
            </a:r>
          </a:p>
          <a:p>
            <a:pPr algn="l">
              <a:lnSpc>
                <a:spcPct val="120000"/>
              </a:lnSpc>
              <a:spcAft>
                <a:spcPts val="200"/>
              </a:spcAft>
            </a:pPr>
            <a:r>
              <a:rPr sz="1150" b="0" i="0">
                <a:solidFill>
                  <a:srgbClr val="BBC7D6"/>
                </a:solidFill>
                <a:latin typeface="Segoe UI"/>
                <a:ea typeface="Segoe UI"/>
              </a:rPr>
              <a:t>· </a:t>
            </a:r>
          </a:p>
          <a:p>
            <a:pPr algn="l">
              <a:lnSpc>
                <a:spcPct val="120000"/>
              </a:lnSpc>
              <a:spcAft>
                <a:spcPts val="200"/>
              </a:spcAft>
            </a:pPr>
            <a:r>
              <a:rPr sz="1150" b="0" i="0">
                <a:solidFill>
                  <a:srgbClr val="BBC7D6"/>
                </a:solidFill>
                <a:latin typeface="Segoe UI"/>
                <a:ea typeface="Segoe UI"/>
              </a:rPr>
              <a:t>· </a:t>
            </a:r>
          </a:p>
          <a:p>
            <a:pPr algn="l">
              <a:lnSpc>
                <a:spcPct val="120000"/>
              </a:lnSpc>
              <a:spcAft>
                <a:spcPts val="200"/>
              </a:spcAft>
            </a:pPr>
            <a:r>
              <a:rPr sz="1150" b="0" i="0">
                <a:solidFill>
                  <a:srgbClr val="BBC7D6"/>
                </a:solidFill>
                <a:latin typeface="Segoe UI"/>
                <a:ea typeface="Segoe UI"/>
              </a:rPr>
              <a:t>· </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7724"/>
          </a:xfrm>
          <a:prstGeom prst="rect">
            <a:avLst/>
          </a:prstGeom>
          <a:solidFill>
            <a:srgbClr val="1F5CA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TextBox 2"/>
          <p:cNvSpPr txBox="1"/>
          <p:nvPr/>
        </p:nvSpPr>
        <p:spPr>
          <a:xfrm>
            <a:off x="566928" y="310896"/>
            <a:ext cx="8595360" cy="274320"/>
          </a:xfrm>
          <a:prstGeom prst="rect">
            <a:avLst/>
          </a:prstGeom>
          <a:noFill/>
        </p:spPr>
        <p:txBody>
          <a:bodyPr wrap="square" lIns="0" tIns="0" rIns="0" bIns="0">
            <a:spAutoFit/>
          </a:bodyPr>
          <a:lstStyle/>
          <a:p>
            <a:pPr algn="l">
              <a:lnSpc>
                <a:spcPct val="120000"/>
              </a:lnSpc>
              <a:spcAft>
                <a:spcPts val="0"/>
              </a:spcAft>
            </a:pPr>
            <a:r>
              <a:rPr sz="1050" b="1" i="0">
                <a:solidFill>
                  <a:srgbClr val="1F5CA8"/>
                </a:solidFill>
                <a:latin typeface="Segoe UI"/>
                <a:ea typeface="Segoe UI"/>
              </a:rPr>
              <a:t>BACKUP</a:t>
            </a:r>
          </a:p>
        </p:txBody>
      </p:sp>
      <p:sp>
        <p:nvSpPr>
          <p:cNvPr id="4" name="TextBox 3"/>
          <p:cNvSpPr txBox="1"/>
          <p:nvPr/>
        </p:nvSpPr>
        <p:spPr>
          <a:xfrm>
            <a:off x="10161727" y="310896"/>
            <a:ext cx="1463040" cy="274320"/>
          </a:xfrm>
          <a:prstGeom prst="rect">
            <a:avLst/>
          </a:prstGeom>
          <a:noFill/>
        </p:spPr>
        <p:txBody>
          <a:bodyPr wrap="square" lIns="0" tIns="0" rIns="0" bIns="0">
            <a:spAutoFit/>
          </a:bodyPr>
          <a:lstStyle/>
          <a:p>
            <a:pPr algn="r">
              <a:lnSpc>
                <a:spcPct val="120000"/>
              </a:lnSpc>
              <a:spcAft>
                <a:spcPts val="0"/>
              </a:spcAft>
            </a:pPr>
            <a:r>
              <a:rPr sz="1050" b="0" i="0">
                <a:solidFill>
                  <a:srgbClr val="7A8696"/>
                </a:solidFill>
                <a:latin typeface="Segoe UI"/>
                <a:ea typeface="Segoe UI"/>
              </a:rPr>
              <a:t>32</a:t>
            </a:r>
          </a:p>
        </p:txBody>
      </p:sp>
      <p:sp>
        <p:nvSpPr>
          <p:cNvPr id="5" name="TextBox 4"/>
          <p:cNvSpPr txBox="1"/>
          <p:nvPr/>
        </p:nvSpPr>
        <p:spPr>
          <a:xfrm>
            <a:off x="566928" y="658368"/>
            <a:ext cx="11057839" cy="658368"/>
          </a:xfrm>
          <a:prstGeom prst="rect">
            <a:avLst/>
          </a:prstGeom>
          <a:noFill/>
        </p:spPr>
        <p:txBody>
          <a:bodyPr wrap="square" lIns="0" tIns="0" rIns="0" bIns="0">
            <a:spAutoFit/>
          </a:bodyPr>
          <a:lstStyle/>
          <a:p>
            <a:pPr algn="l">
              <a:lnSpc>
                <a:spcPct val="120000"/>
              </a:lnSpc>
              <a:spcAft>
                <a:spcPts val="0"/>
              </a:spcAft>
            </a:pPr>
            <a:r>
              <a:rPr sz="2700" b="1" i="0">
                <a:solidFill>
                  <a:srgbClr val="1B2533"/>
                </a:solidFill>
                <a:latin typeface="Segoe UI"/>
                <a:ea typeface="Segoe UI"/>
              </a:rPr>
              <a:t>SELF-RAG: train the model to critique itself</a:t>
            </a:r>
          </a:p>
        </p:txBody>
      </p:sp>
      <p:sp>
        <p:nvSpPr>
          <p:cNvPr id="6" name="Rectangle 5"/>
          <p:cNvSpPr/>
          <p:nvPr/>
        </p:nvSpPr>
        <p:spPr>
          <a:xfrm>
            <a:off x="566928" y="1371600"/>
            <a:ext cx="1051560" cy="50292"/>
          </a:xfrm>
          <a:prstGeom prst="rect">
            <a:avLst/>
          </a:prstGeom>
          <a:solidFill>
            <a:srgbClr val="1F5CA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 name="TextBox 6"/>
          <p:cNvSpPr txBox="1"/>
          <p:nvPr/>
        </p:nvSpPr>
        <p:spPr>
          <a:xfrm>
            <a:off x="566928" y="1517904"/>
            <a:ext cx="11057839" cy="329184"/>
          </a:xfrm>
          <a:prstGeom prst="rect">
            <a:avLst/>
          </a:prstGeom>
          <a:noFill/>
        </p:spPr>
        <p:txBody>
          <a:bodyPr wrap="square" lIns="0" tIns="0" rIns="0" bIns="0">
            <a:spAutoFit/>
          </a:bodyPr>
          <a:lstStyle/>
          <a:p>
            <a:pPr algn="l">
              <a:lnSpc>
                <a:spcPct val="120000"/>
              </a:lnSpc>
              <a:spcAft>
                <a:spcPts val="0"/>
              </a:spcAft>
            </a:pPr>
            <a:r>
              <a:rPr sz="1300" b="0" i="0">
                <a:solidFill>
                  <a:srgbClr val="7A8696"/>
                </a:solidFill>
                <a:latin typeface="Segoe UI"/>
                <a:ea typeface="Segoe UI"/>
              </a:rPr>
              <a:t>Self-Reflective Retrieval-Augmented Generation</a:t>
            </a:r>
          </a:p>
        </p:txBody>
      </p:sp>
      <p:sp>
        <p:nvSpPr>
          <p:cNvPr id="8" name="Rounded Rectangle 7"/>
          <p:cNvSpPr/>
          <p:nvPr/>
        </p:nvSpPr>
        <p:spPr>
          <a:xfrm>
            <a:off x="566928" y="1938528"/>
            <a:ext cx="5760720" cy="4754880"/>
          </a:xfrm>
          <a:prstGeom prst="roundRect">
            <a:avLst>
              <a:gd name="adj" fmla="val 3000"/>
            </a:avLst>
          </a:prstGeom>
          <a:noFill/>
          <a:ln w="12700">
            <a:solidFill>
              <a:srgbClr val="D8DEE6"/>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TextBox 8"/>
          <p:cNvSpPr txBox="1"/>
          <p:nvPr/>
        </p:nvSpPr>
        <p:spPr>
          <a:xfrm>
            <a:off x="804672" y="2103120"/>
            <a:ext cx="5303520" cy="4297680"/>
          </a:xfrm>
          <a:prstGeom prst="rect">
            <a:avLst/>
          </a:prstGeom>
          <a:noFill/>
        </p:spPr>
        <p:txBody>
          <a:bodyPr wrap="square" lIns="0" tIns="0" rIns="0" bIns="0">
            <a:spAutoFit/>
          </a:bodyPr>
          <a:lstStyle/>
          <a:p>
            <a:pPr algn="l">
              <a:lnSpc>
                <a:spcPct val="120000"/>
              </a:lnSpc>
              <a:spcAft>
                <a:spcPts val="800"/>
              </a:spcAft>
            </a:pPr>
            <a:r>
              <a:rPr sz="1400" b="1" i="0">
                <a:solidFill>
                  <a:srgbClr val="1F5CA8"/>
                </a:solidFill>
                <a:latin typeface="Segoe UI"/>
                <a:ea typeface="Segoe UI"/>
              </a:rPr>
              <a:t>How it differs from FLARE and CRAG</a:t>
            </a:r>
          </a:p>
          <a:p>
            <a:pPr algn="l">
              <a:lnSpc>
                <a:spcPct val="115000"/>
              </a:lnSpc>
              <a:spcAft>
                <a:spcPts val="700"/>
              </a:spcAft>
            </a:pPr>
            <a:r>
              <a:rPr sz="1250" b="0" i="0">
                <a:solidFill>
                  <a:srgbClr val="334050"/>
                </a:solidFill>
                <a:latin typeface="Segoe UI"/>
                <a:ea typeface="Segoe UI"/>
              </a:rPr>
              <a:t>▪  FLARE uses the model's output probabilities to trigger retrieval; CRAG bolts on an external evaluator</a:t>
            </a:r>
          </a:p>
          <a:p>
            <a:pPr algn="l">
              <a:lnSpc>
                <a:spcPct val="115000"/>
              </a:lnSpc>
              <a:spcAft>
                <a:spcPts val="700"/>
              </a:spcAft>
            </a:pPr>
            <a:r>
              <a:rPr sz="1250" b="0" i="0">
                <a:solidFill>
                  <a:srgbClr val="334050"/>
                </a:solidFill>
                <a:latin typeface="Segoe UI"/>
                <a:ea typeface="Segoe UI"/>
              </a:rPr>
              <a:t>▪  SELF-RAG takes a third route: train a model that emits reflection tokens as part of its own generation</a:t>
            </a:r>
          </a:p>
          <a:p>
            <a:pPr algn="l">
              <a:lnSpc>
                <a:spcPct val="120000"/>
              </a:lnSpc>
              <a:spcAft>
                <a:spcPts val="700"/>
              </a:spcAft>
            </a:pPr>
            <a:r>
              <a:rPr sz="1400" b="1" i="0">
                <a:solidFill>
                  <a:srgbClr val="1F5CA8"/>
                </a:solidFill>
                <a:latin typeface="Segoe UI"/>
                <a:ea typeface="Segoe UI"/>
              </a:rPr>
              <a:t>Four kinds of reflection token</a:t>
            </a:r>
          </a:p>
          <a:p>
            <a:pPr algn="l">
              <a:lnSpc>
                <a:spcPct val="115000"/>
              </a:lnSpc>
              <a:spcAft>
                <a:spcPts val="700"/>
              </a:spcAft>
            </a:pPr>
            <a:r>
              <a:rPr sz="1250" b="0" i="0">
                <a:solidFill>
                  <a:srgbClr val="334050"/>
                </a:solidFill>
                <a:latin typeface="Segoe UI"/>
                <a:ea typeface="Segoe UI"/>
              </a:rPr>
              <a:t>▪  Retrieve: does this step need retrieval at all (the retrieval trigger)</a:t>
            </a:r>
          </a:p>
          <a:p>
            <a:pPr algn="l">
              <a:lnSpc>
                <a:spcPct val="115000"/>
              </a:lnSpc>
              <a:spcAft>
                <a:spcPts val="700"/>
              </a:spcAft>
            </a:pPr>
            <a:r>
              <a:rPr sz="1250" b="0" i="0">
                <a:solidFill>
                  <a:srgbClr val="334050"/>
                </a:solidFill>
                <a:latin typeface="Segoe UI"/>
                <a:ea typeface="Segoe UI"/>
              </a:rPr>
              <a:t>▪  IsRel: is the retrieved passage relevant</a:t>
            </a:r>
          </a:p>
          <a:p>
            <a:pPr algn="l">
              <a:lnSpc>
                <a:spcPct val="115000"/>
              </a:lnSpc>
              <a:spcAft>
                <a:spcPts val="700"/>
              </a:spcAft>
            </a:pPr>
            <a:r>
              <a:rPr sz="1250" b="0" i="0">
                <a:solidFill>
                  <a:srgbClr val="334050"/>
                </a:solidFill>
                <a:latin typeface="Segoe UI"/>
                <a:ea typeface="Segoe UI"/>
              </a:rPr>
              <a:t>▪  IsSup: is the generated sentence supported by the evidence</a:t>
            </a:r>
          </a:p>
          <a:p>
            <a:pPr algn="l">
              <a:lnSpc>
                <a:spcPct val="115000"/>
              </a:lnSpc>
              <a:spcAft>
                <a:spcPts val="700"/>
              </a:spcAft>
            </a:pPr>
            <a:r>
              <a:rPr sz="1250" b="0" i="0">
                <a:solidFill>
                  <a:srgbClr val="334050"/>
                </a:solidFill>
                <a:latin typeface="Segoe UI"/>
                <a:ea typeface="Segoe UI"/>
              </a:rPr>
              <a:t>▪  IsUse: is the overall response useful to the user</a:t>
            </a:r>
          </a:p>
          <a:p>
            <a:pPr algn="l">
              <a:lnSpc>
                <a:spcPct val="120000"/>
              </a:lnSpc>
              <a:spcAft>
                <a:spcPts val="600"/>
              </a:spcAft>
            </a:pPr>
            <a:r>
              <a:rPr sz="1400" b="1" i="0">
                <a:solidFill>
                  <a:srgbClr val="1F5CA8"/>
                </a:solidFill>
                <a:latin typeface="Segoe UI"/>
                <a:ea typeface="Segoe UI"/>
              </a:rPr>
              <a:t>How it is trained</a:t>
            </a:r>
          </a:p>
          <a:p>
            <a:pPr algn="l">
              <a:lnSpc>
                <a:spcPct val="115000"/>
              </a:lnSpc>
              <a:spcAft>
                <a:spcPts val="700"/>
              </a:spcAft>
            </a:pPr>
            <a:r>
              <a:rPr sz="1250" b="0" i="0">
                <a:solidFill>
                  <a:srgbClr val="334050"/>
                </a:solidFill>
                <a:latin typeface="Segoe UI"/>
                <a:ea typeface="Segoe UI"/>
              </a:rPr>
              <a:t>▪  A strong model (GPT-4 class) annotates the corpus with reflection tokens, then the target model is supervised-fine-tuned</a:t>
            </a:r>
          </a:p>
          <a:p>
            <a:pPr algn="l">
              <a:lnSpc>
                <a:spcPct val="115000"/>
              </a:lnSpc>
              <a:spcAft>
                <a:spcPts val="700"/>
              </a:spcAft>
            </a:pPr>
            <a:r>
              <a:rPr sz="1250" b="0" i="0">
                <a:solidFill>
                  <a:srgbClr val="334050"/>
                </a:solidFill>
                <a:latin typeface="Segoe UI"/>
                <a:ea typeface="Segoe UI"/>
              </a:rPr>
              <a:t>▪  At inference, those token weights can drive weighted decoding that favors candidates with evidence support</a:t>
            </a:r>
          </a:p>
        </p:txBody>
      </p:sp>
      <p:sp>
        <p:nvSpPr>
          <p:cNvPr id="10" name="Rounded Rectangle 9"/>
          <p:cNvSpPr/>
          <p:nvPr/>
        </p:nvSpPr>
        <p:spPr>
          <a:xfrm>
            <a:off x="6693408" y="1938528"/>
            <a:ext cx="4931359" cy="4754880"/>
          </a:xfrm>
          <a:prstGeom prst="roundRect">
            <a:avLst>
              <a:gd name="adj" fmla="val 3000"/>
            </a:avLst>
          </a:prstGeom>
          <a:solidFill>
            <a:srgbClr val="F7F9FC"/>
          </a:solidFill>
          <a:ln w="12700">
            <a:solidFill>
              <a:srgbClr val="BBC7D6"/>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 name="TextBox 10"/>
          <p:cNvSpPr txBox="1"/>
          <p:nvPr/>
        </p:nvSpPr>
        <p:spPr>
          <a:xfrm>
            <a:off x="6894576" y="2103120"/>
            <a:ext cx="4529023" cy="4425696"/>
          </a:xfrm>
          <a:prstGeom prst="rect">
            <a:avLst/>
          </a:prstGeom>
          <a:noFill/>
        </p:spPr>
        <p:txBody>
          <a:bodyPr wrap="square" lIns="0" tIns="0" rIns="0" bIns="0">
            <a:spAutoFit/>
          </a:bodyPr>
          <a:lstStyle/>
          <a:p>
            <a:pPr algn="l">
              <a:lnSpc>
                <a:spcPct val="120000"/>
              </a:lnSpc>
              <a:spcAft>
                <a:spcPts val="400"/>
              </a:spcAft>
            </a:pPr>
            <a:r>
              <a:rPr sz="1300" b="1" i="0">
                <a:solidFill>
                  <a:srgbClr val="1F5CA8"/>
                </a:solidFill>
                <a:latin typeface="Segoe UI"/>
                <a:ea typeface="Segoe UI"/>
              </a:rPr>
              <a:t>Placeholder: reflection token placement</a:t>
            </a:r>
          </a:p>
          <a:p>
            <a:pPr algn="l">
              <a:lnSpc>
                <a:spcPct val="120000"/>
              </a:lnSpc>
              <a:spcAft>
                <a:spcPts val="0"/>
              </a:spcAft>
            </a:pPr>
            <a:r>
              <a:rPr sz="1150" b="0" i="0">
                <a:solidFill>
                  <a:srgbClr val="7A8696"/>
                </a:solidFill>
                <a:latin typeface="Segoe UI"/>
                <a:ea typeface="Segoe UI"/>
              </a:rPr>
              <a:t>Suggested: a generation sequence alternating tokens and content, e.g. [Retrieve] / passage / [IsRel] / sentence / [IsSup] / [IsUse]; compare output with retrieval on and off</a:t>
            </a:r>
          </a:p>
          <a:p>
            <a:pPr algn="l">
              <a:lnSpc>
                <a:spcPct val="120000"/>
              </a:lnSpc>
              <a:spcAft>
                <a:spcPts val="200"/>
              </a:spcAft>
            </a:pPr>
            <a:r>
              <a:rPr sz="1150" b="0" i="0">
                <a:solidFill>
                  <a:srgbClr val="BBC7D6"/>
                </a:solidFill>
                <a:latin typeface="Segoe UI"/>
                <a:ea typeface="Segoe UI"/>
              </a:rPr>
              <a:t>· </a:t>
            </a:r>
          </a:p>
          <a:p>
            <a:pPr algn="l">
              <a:lnSpc>
                <a:spcPct val="120000"/>
              </a:lnSpc>
              <a:spcAft>
                <a:spcPts val="200"/>
              </a:spcAft>
            </a:pPr>
            <a:r>
              <a:rPr sz="1150" b="0" i="0">
                <a:solidFill>
                  <a:srgbClr val="BBC7D6"/>
                </a:solidFill>
                <a:latin typeface="Segoe UI"/>
                <a:ea typeface="Segoe UI"/>
              </a:rPr>
              <a:t>· </a:t>
            </a:r>
          </a:p>
          <a:p>
            <a:pPr algn="l">
              <a:lnSpc>
                <a:spcPct val="120000"/>
              </a:lnSpc>
              <a:spcAft>
                <a:spcPts val="200"/>
              </a:spcAft>
            </a:pPr>
            <a:r>
              <a:rPr sz="1150" b="0" i="0">
                <a:solidFill>
                  <a:srgbClr val="BBC7D6"/>
                </a:solidFill>
                <a:latin typeface="Segoe UI"/>
                <a:ea typeface="Segoe UI"/>
              </a:rPr>
              <a:t>· </a:t>
            </a:r>
          </a:p>
          <a:p>
            <a:pPr algn="l">
              <a:lnSpc>
                <a:spcPct val="120000"/>
              </a:lnSpc>
              <a:spcAft>
                <a:spcPts val="200"/>
              </a:spcAft>
            </a:pPr>
            <a:r>
              <a:rPr sz="1150" b="0" i="0">
                <a:solidFill>
                  <a:srgbClr val="BBC7D6"/>
                </a:solidFill>
                <a:latin typeface="Segoe UI"/>
                <a:ea typeface="Segoe UI"/>
              </a:rPr>
              <a:t>· </a:t>
            </a:r>
          </a:p>
          <a:p>
            <a:pPr algn="l">
              <a:lnSpc>
                <a:spcPct val="120000"/>
              </a:lnSpc>
              <a:spcAft>
                <a:spcPts val="200"/>
              </a:spcAft>
            </a:pPr>
            <a:r>
              <a:rPr sz="1150" b="0" i="0">
                <a:solidFill>
                  <a:srgbClr val="BBC7D6"/>
                </a:solidFill>
                <a:latin typeface="Segoe UI"/>
                <a:ea typeface="Segoe UI"/>
              </a:rPr>
              <a:t>· </a:t>
            </a:r>
          </a:p>
          <a:p>
            <a:pPr algn="l">
              <a:lnSpc>
                <a:spcPct val="120000"/>
              </a:lnSpc>
              <a:spcAft>
                <a:spcPts val="200"/>
              </a:spcAft>
            </a:pPr>
            <a:r>
              <a:rPr sz="1150" b="0" i="0">
                <a:solidFill>
                  <a:srgbClr val="BBC7D6"/>
                </a:solidFill>
                <a:latin typeface="Segoe UI"/>
                <a:ea typeface="Segoe UI"/>
              </a:rPr>
              <a:t>· </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22A4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TextBox 2"/>
          <p:cNvSpPr txBox="1"/>
          <p:nvPr/>
        </p:nvSpPr>
        <p:spPr>
          <a:xfrm>
            <a:off x="749808" y="2606040"/>
            <a:ext cx="11057839" cy="1645920"/>
          </a:xfrm>
          <a:prstGeom prst="rect">
            <a:avLst/>
          </a:prstGeom>
          <a:noFill/>
        </p:spPr>
        <p:txBody>
          <a:bodyPr wrap="square" lIns="0" tIns="0" rIns="0" bIns="0">
            <a:spAutoFit/>
          </a:bodyPr>
          <a:lstStyle/>
          <a:p>
            <a:pPr algn="l">
              <a:lnSpc>
                <a:spcPct val="120000"/>
              </a:lnSpc>
              <a:spcAft>
                <a:spcPts val="1000"/>
              </a:spcAft>
            </a:pPr>
            <a:r>
              <a:rPr sz="4000" b="1" i="0">
                <a:solidFill>
                  <a:srgbClr val="FFFFFF"/>
                </a:solidFill>
                <a:latin typeface="Segoe UI"/>
                <a:ea typeface="Segoe UI"/>
              </a:rPr>
              <a:t>Thanks &amp; Q&amp;A</a:t>
            </a:r>
          </a:p>
          <a:p>
            <a:pPr algn="l">
              <a:lnSpc>
                <a:spcPct val="130000"/>
              </a:lnSpc>
              <a:spcAft>
                <a:spcPts val="0"/>
              </a:spcAft>
            </a:pPr>
            <a:r>
              <a:rPr sz="1150" b="0" i="0">
                <a:solidFill>
                  <a:srgbClr val="9FB8D4"/>
                </a:solidFill>
                <a:latin typeface="Segoe UI"/>
                <a:ea typeface="Segoe UI"/>
              </a:rPr>
              <a:t>References: SBERT (Reimers &amp; Gurevych, 2019) · MTEB (Muennighoff et al.) · BGE / C-MTEB (BAAI) · NV-Embed (NVIDIA) · Qwen3-Embedding (Alibaba) · RAPTOR · GraphRAG (Microsoft) · CRAG · FLARE · SELF-RAG</a:t>
            </a:r>
          </a:p>
        </p:txBody>
      </p:sp>
      <p:sp>
        <p:nvSpPr>
          <p:cNvPr id="4" name="Rounded Rectangle 3"/>
          <p:cNvSpPr/>
          <p:nvPr/>
        </p:nvSpPr>
        <p:spPr>
          <a:xfrm>
            <a:off x="749808" y="4617720"/>
            <a:ext cx="10692079" cy="914400"/>
          </a:xfrm>
          <a:prstGeom prst="roundRect">
            <a:avLst>
              <a:gd name="adj" fmla="val 5000"/>
            </a:avLst>
          </a:prstGeom>
          <a:solidFill>
            <a:srgbClr val="1B3A5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 name="TextBox 4"/>
          <p:cNvSpPr txBox="1"/>
          <p:nvPr/>
        </p:nvSpPr>
        <p:spPr>
          <a:xfrm>
            <a:off x="978408" y="4800600"/>
            <a:ext cx="10234879" cy="640080"/>
          </a:xfrm>
          <a:prstGeom prst="rect">
            <a:avLst/>
          </a:prstGeom>
          <a:noFill/>
        </p:spPr>
        <p:txBody>
          <a:bodyPr wrap="square" lIns="0" tIns="0" rIns="0" bIns="0">
            <a:spAutoFit/>
          </a:bodyPr>
          <a:lstStyle/>
          <a:p>
            <a:pPr algn="l">
              <a:lnSpc>
                <a:spcPct val="120000"/>
              </a:lnSpc>
              <a:spcAft>
                <a:spcPts val="0"/>
              </a:spcAft>
            </a:pPr>
            <a:r>
              <a:rPr sz="1200" b="1" i="0">
                <a:solidFill>
                  <a:srgbClr val="FFFFFF"/>
                </a:solidFill>
                <a:latin typeface="Segoe UI"/>
                <a:ea typeface="Segoe UI"/>
              </a:rPr>
              <a:t>Placeholder: contact info / internal links / repo URL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7652</Words>
  <Application>Microsoft Office PowerPoint</Application>
  <PresentationFormat>Widescreen</PresentationFormat>
  <Paragraphs>722</Paragraphs>
  <Slides>34</Slides>
  <Notes>34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34</vt:i4>
      </vt:variant>
    </vt:vector>
  </HeadingPairs>
  <TitlesOfParts>
    <vt:vector size="39" baseType="lpstr">
      <vt:lpstr>Arial</vt:lpstr>
      <vt:lpstr>Calibri</vt:lpstr>
      <vt:lpstr>Consolas</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Hao Ren</cp:lastModifiedBy>
  <cp:revision>2</cp:revision>
  <dcterms:created xsi:type="dcterms:W3CDTF">2013-01-27T09:14:16Z</dcterms:created>
  <dcterms:modified xsi:type="dcterms:W3CDTF">2026-09-25T05:27:34Z</dcterms:modified>
  <cp:category/>
</cp:coreProperties>
</file>